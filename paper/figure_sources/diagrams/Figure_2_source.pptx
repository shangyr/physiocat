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501100" cy="1107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501100" cy="1107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228600" y="228600"/>
            <a:ext cx="2222500" cy="3175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062B68"/>
                </a:solidFill>
                <a:latin typeface="Arial"/>
              </a:rPr>
              <a:t>1) Inputs + SQI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850900"/>
            <a:ext cx="2298700" cy="1892300"/>
          </a:xfrm>
          <a:prstGeom prst="roundRect">
            <a:avLst>
              <a:gd name="adj" fmla="val 8000"/>
            </a:avLst>
          </a:prstGeom>
          <a:solidFill>
            <a:srgbClr val="EDF8EA"/>
          </a:solidFill>
          <a:ln w="13970">
            <a:solidFill>
              <a:srgbClr val="2E8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01700" y="965200"/>
            <a:ext cx="990600" cy="2540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76A2D"/>
                </a:solidFill>
                <a:latin typeface="Arial"/>
              </a:rPr>
              <a:t>ECG (xₑ)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700" y="1295400"/>
            <a:ext cx="1955800" cy="863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B8D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7" name="Connector 6"/>
          <p:cNvCxnSpPr/>
          <p:nvPr/>
        </p:nvCxnSpPr>
        <p:spPr>
          <a:xfrm>
            <a:off x="406400" y="1447800"/>
            <a:ext cx="0" cy="558800"/>
          </a:xfrm>
          <a:prstGeom prst="line">
            <a:avLst/>
          </a:prstGeom>
          <a:ln w="4445">
            <a:solidFill>
              <a:srgbClr val="D7E4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85825" y="1447800"/>
            <a:ext cx="0" cy="558800"/>
          </a:xfrm>
          <a:prstGeom prst="line">
            <a:avLst/>
          </a:prstGeom>
          <a:ln w="4445">
            <a:solidFill>
              <a:srgbClr val="D7E4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65250" y="1447800"/>
            <a:ext cx="0" cy="558800"/>
          </a:xfrm>
          <a:prstGeom prst="line">
            <a:avLst/>
          </a:prstGeom>
          <a:ln w="4445">
            <a:solidFill>
              <a:srgbClr val="D7E4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44675" y="1447800"/>
            <a:ext cx="0" cy="558800"/>
          </a:xfrm>
          <a:prstGeom prst="line">
            <a:avLst/>
          </a:prstGeom>
          <a:ln w="4445">
            <a:solidFill>
              <a:srgbClr val="D7E4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24100" y="1447800"/>
            <a:ext cx="0" cy="558800"/>
          </a:xfrm>
          <a:prstGeom prst="line">
            <a:avLst/>
          </a:prstGeom>
          <a:ln w="4445">
            <a:solidFill>
              <a:srgbClr val="D7E4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06400" y="1447800"/>
            <a:ext cx="1917700" cy="0"/>
          </a:xfrm>
          <a:prstGeom prst="line">
            <a:avLst/>
          </a:prstGeom>
          <a:ln w="4445">
            <a:solidFill>
              <a:srgbClr val="D7E4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06400" y="1634066"/>
            <a:ext cx="1917700" cy="0"/>
          </a:xfrm>
          <a:prstGeom prst="line">
            <a:avLst/>
          </a:prstGeom>
          <a:ln w="4445">
            <a:solidFill>
              <a:srgbClr val="D7E4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06400" y="1820333"/>
            <a:ext cx="1917700" cy="0"/>
          </a:xfrm>
          <a:prstGeom prst="line">
            <a:avLst/>
          </a:prstGeom>
          <a:ln w="4445">
            <a:solidFill>
              <a:srgbClr val="D7E4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06400" y="2006600"/>
            <a:ext cx="1917700" cy="0"/>
          </a:xfrm>
          <a:prstGeom prst="line">
            <a:avLst/>
          </a:prstGeom>
          <a:ln w="4445">
            <a:solidFill>
              <a:srgbClr val="D7E4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Freeform 15"/>
          <p:cNvSpPr/>
          <p:nvPr/>
        </p:nvSpPr>
        <p:spPr>
          <a:xfrm>
            <a:off x="406400" y="1536700"/>
            <a:ext cx="1917700" cy="342900"/>
          </a:xfrm>
          <a:custGeom>
            <a:avLst/>
            <a:gdLst/>
            <a:ahLst/>
            <a:cxnLst/>
            <a:rect l="l" t="t" r="r" b="b"/>
            <a:pathLst>
              <a:path w="151" h="27">
                <a:moveTo>
                  <a:pt x="0" y="19"/>
                </a:moveTo>
                <a:lnTo>
                  <a:pt x="3" y="19"/>
                </a:lnTo>
                <a:lnTo>
                  <a:pt x="4" y="17"/>
                </a:lnTo>
                <a:lnTo>
                  <a:pt x="5" y="19"/>
                </a:lnTo>
                <a:lnTo>
                  <a:pt x="7" y="19"/>
                </a:lnTo>
                <a:lnTo>
                  <a:pt x="8" y="23"/>
                </a:lnTo>
                <a:lnTo>
                  <a:pt x="9" y="0"/>
                </a:lnTo>
                <a:lnTo>
                  <a:pt x="10" y="27"/>
                </a:lnTo>
                <a:lnTo>
                  <a:pt x="12" y="19"/>
                </a:lnTo>
                <a:lnTo>
                  <a:pt x="16" y="16"/>
                </a:lnTo>
                <a:lnTo>
                  <a:pt x="18" y="15"/>
                </a:lnTo>
                <a:lnTo>
                  <a:pt x="22" y="19"/>
                </a:lnTo>
                <a:lnTo>
                  <a:pt x="22" y="19"/>
                </a:lnTo>
                <a:lnTo>
                  <a:pt x="24" y="19"/>
                </a:lnTo>
                <a:lnTo>
                  <a:pt x="25" y="17"/>
                </a:lnTo>
                <a:lnTo>
                  <a:pt x="27" y="19"/>
                </a:lnTo>
                <a:lnTo>
                  <a:pt x="28" y="19"/>
                </a:lnTo>
                <a:lnTo>
                  <a:pt x="30" y="23"/>
                </a:lnTo>
                <a:lnTo>
                  <a:pt x="31" y="0"/>
                </a:lnTo>
                <a:lnTo>
                  <a:pt x="31" y="27"/>
                </a:lnTo>
                <a:lnTo>
                  <a:pt x="33" y="19"/>
                </a:lnTo>
                <a:lnTo>
                  <a:pt x="37" y="16"/>
                </a:lnTo>
                <a:lnTo>
                  <a:pt x="40" y="15"/>
                </a:lnTo>
                <a:lnTo>
                  <a:pt x="43" y="19"/>
                </a:lnTo>
                <a:lnTo>
                  <a:pt x="43" y="19"/>
                </a:lnTo>
                <a:lnTo>
                  <a:pt x="46" y="19"/>
                </a:lnTo>
                <a:lnTo>
                  <a:pt x="47" y="17"/>
                </a:lnTo>
                <a:lnTo>
                  <a:pt x="48" y="19"/>
                </a:lnTo>
                <a:lnTo>
                  <a:pt x="50" y="19"/>
                </a:lnTo>
                <a:lnTo>
                  <a:pt x="51" y="23"/>
                </a:lnTo>
                <a:lnTo>
                  <a:pt x="52" y="0"/>
                </a:lnTo>
                <a:lnTo>
                  <a:pt x="53" y="27"/>
                </a:lnTo>
                <a:lnTo>
                  <a:pt x="55" y="19"/>
                </a:lnTo>
                <a:lnTo>
                  <a:pt x="59" y="16"/>
                </a:lnTo>
                <a:lnTo>
                  <a:pt x="61" y="15"/>
                </a:lnTo>
                <a:lnTo>
                  <a:pt x="65" y="19"/>
                </a:lnTo>
                <a:lnTo>
                  <a:pt x="65" y="19"/>
                </a:lnTo>
                <a:lnTo>
                  <a:pt x="67" y="19"/>
                </a:lnTo>
                <a:lnTo>
                  <a:pt x="69" y="17"/>
                </a:lnTo>
                <a:lnTo>
                  <a:pt x="70" y="19"/>
                </a:lnTo>
                <a:lnTo>
                  <a:pt x="72" y="19"/>
                </a:lnTo>
                <a:lnTo>
                  <a:pt x="73" y="23"/>
                </a:lnTo>
                <a:lnTo>
                  <a:pt x="74" y="0"/>
                </a:lnTo>
                <a:lnTo>
                  <a:pt x="75" y="27"/>
                </a:lnTo>
                <a:lnTo>
                  <a:pt x="77" y="19"/>
                </a:lnTo>
                <a:lnTo>
                  <a:pt x="80" y="16"/>
                </a:lnTo>
                <a:lnTo>
                  <a:pt x="83" y="15"/>
                </a:lnTo>
                <a:lnTo>
                  <a:pt x="86" y="19"/>
                </a:lnTo>
                <a:lnTo>
                  <a:pt x="86" y="19"/>
                </a:lnTo>
                <a:lnTo>
                  <a:pt x="89" y="19"/>
                </a:lnTo>
                <a:lnTo>
                  <a:pt x="90" y="17"/>
                </a:lnTo>
                <a:lnTo>
                  <a:pt x="91" y="19"/>
                </a:lnTo>
                <a:lnTo>
                  <a:pt x="93" y="19"/>
                </a:lnTo>
                <a:lnTo>
                  <a:pt x="94" y="23"/>
                </a:lnTo>
                <a:lnTo>
                  <a:pt x="95" y="0"/>
                </a:lnTo>
                <a:lnTo>
                  <a:pt x="96" y="27"/>
                </a:lnTo>
                <a:lnTo>
                  <a:pt x="98" y="19"/>
                </a:lnTo>
                <a:lnTo>
                  <a:pt x="102" y="16"/>
                </a:lnTo>
                <a:lnTo>
                  <a:pt x="105" y="15"/>
                </a:lnTo>
                <a:lnTo>
                  <a:pt x="108" y="19"/>
                </a:lnTo>
                <a:lnTo>
                  <a:pt x="108" y="19"/>
                </a:lnTo>
                <a:lnTo>
                  <a:pt x="110" y="19"/>
                </a:lnTo>
                <a:lnTo>
                  <a:pt x="112" y="17"/>
                </a:lnTo>
                <a:lnTo>
                  <a:pt x="113" y="19"/>
                </a:lnTo>
                <a:lnTo>
                  <a:pt x="115" y="19"/>
                </a:lnTo>
                <a:lnTo>
                  <a:pt x="116" y="23"/>
                </a:lnTo>
                <a:lnTo>
                  <a:pt x="117" y="0"/>
                </a:lnTo>
                <a:lnTo>
                  <a:pt x="118" y="27"/>
                </a:lnTo>
                <a:lnTo>
                  <a:pt x="120" y="19"/>
                </a:lnTo>
                <a:lnTo>
                  <a:pt x="123" y="16"/>
                </a:lnTo>
                <a:lnTo>
                  <a:pt x="126" y="15"/>
                </a:lnTo>
                <a:lnTo>
                  <a:pt x="129" y="19"/>
                </a:lnTo>
                <a:lnTo>
                  <a:pt x="129" y="19"/>
                </a:lnTo>
                <a:lnTo>
                  <a:pt x="132" y="19"/>
                </a:lnTo>
                <a:lnTo>
                  <a:pt x="133" y="17"/>
                </a:lnTo>
                <a:lnTo>
                  <a:pt x="134" y="19"/>
                </a:lnTo>
                <a:lnTo>
                  <a:pt x="136" y="19"/>
                </a:lnTo>
                <a:lnTo>
                  <a:pt x="137" y="23"/>
                </a:lnTo>
                <a:lnTo>
                  <a:pt x="138" y="0"/>
                </a:lnTo>
                <a:lnTo>
                  <a:pt x="139" y="27"/>
                </a:lnTo>
                <a:lnTo>
                  <a:pt x="141" y="19"/>
                </a:lnTo>
                <a:lnTo>
                  <a:pt x="145" y="16"/>
                </a:lnTo>
                <a:lnTo>
                  <a:pt x="148" y="15"/>
                </a:lnTo>
                <a:lnTo>
                  <a:pt x="151" y="19"/>
                </a:lnTo>
              </a:path>
            </a:pathLst>
          </a:custGeom>
          <a:noFill/>
          <a:ln w="15240">
            <a:solidFill>
              <a:srgbClr val="2E8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11200" y="2336800"/>
            <a:ext cx="1346200" cy="2286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01010"/>
                </a:solidFill>
                <a:latin typeface="Arial"/>
              </a:rPr>
              <a:t>8 s (2000 samples)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3352800"/>
            <a:ext cx="2298700" cy="1892300"/>
          </a:xfrm>
          <a:prstGeom prst="roundRect">
            <a:avLst>
              <a:gd name="adj" fmla="val 8000"/>
            </a:avLst>
          </a:prstGeom>
          <a:solidFill>
            <a:srgbClr val="FFF0EE"/>
          </a:solidFill>
          <a:ln w="13970">
            <a:solidFill>
              <a:srgbClr val="E33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01700" y="3467100"/>
            <a:ext cx="990600" cy="2540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B51F19"/>
                </a:solidFill>
                <a:latin typeface="Arial"/>
              </a:rPr>
              <a:t>PPG (xₚ)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700" y="3797300"/>
            <a:ext cx="1955800" cy="863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8B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21" name="Connector 20"/>
          <p:cNvCxnSpPr/>
          <p:nvPr/>
        </p:nvCxnSpPr>
        <p:spPr>
          <a:xfrm>
            <a:off x="406400" y="3937000"/>
            <a:ext cx="0" cy="609600"/>
          </a:xfrm>
          <a:prstGeom prst="line">
            <a:avLst/>
          </a:prstGeom>
          <a:ln w="4445">
            <a:solidFill>
              <a:srgbClr val="D7E4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85825" y="3937000"/>
            <a:ext cx="0" cy="609600"/>
          </a:xfrm>
          <a:prstGeom prst="line">
            <a:avLst/>
          </a:prstGeom>
          <a:ln w="4445">
            <a:solidFill>
              <a:srgbClr val="D7E4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365250" y="3937000"/>
            <a:ext cx="0" cy="609600"/>
          </a:xfrm>
          <a:prstGeom prst="line">
            <a:avLst/>
          </a:prstGeom>
          <a:ln w="4445">
            <a:solidFill>
              <a:srgbClr val="D7E4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44675" y="3937000"/>
            <a:ext cx="0" cy="609600"/>
          </a:xfrm>
          <a:prstGeom prst="line">
            <a:avLst/>
          </a:prstGeom>
          <a:ln w="4445">
            <a:solidFill>
              <a:srgbClr val="D7E4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324100" y="3937000"/>
            <a:ext cx="0" cy="609600"/>
          </a:xfrm>
          <a:prstGeom prst="line">
            <a:avLst/>
          </a:prstGeom>
          <a:ln w="4445">
            <a:solidFill>
              <a:srgbClr val="D7E4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6400" y="3937000"/>
            <a:ext cx="1917700" cy="0"/>
          </a:xfrm>
          <a:prstGeom prst="line">
            <a:avLst/>
          </a:prstGeom>
          <a:ln w="4445">
            <a:solidFill>
              <a:srgbClr val="D7E4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06400" y="4140200"/>
            <a:ext cx="1917700" cy="0"/>
          </a:xfrm>
          <a:prstGeom prst="line">
            <a:avLst/>
          </a:prstGeom>
          <a:ln w="4445">
            <a:solidFill>
              <a:srgbClr val="D7E4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06400" y="4343400"/>
            <a:ext cx="1917700" cy="0"/>
          </a:xfrm>
          <a:prstGeom prst="line">
            <a:avLst/>
          </a:prstGeom>
          <a:ln w="4445">
            <a:solidFill>
              <a:srgbClr val="D7E4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06400" y="4546600"/>
            <a:ext cx="1917700" cy="0"/>
          </a:xfrm>
          <a:prstGeom prst="line">
            <a:avLst/>
          </a:prstGeom>
          <a:ln w="4445">
            <a:solidFill>
              <a:srgbClr val="D7E4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reeform 29"/>
          <p:cNvSpPr/>
          <p:nvPr/>
        </p:nvSpPr>
        <p:spPr>
          <a:xfrm>
            <a:off x="406400" y="4051300"/>
            <a:ext cx="1917700" cy="342900"/>
          </a:xfrm>
          <a:custGeom>
            <a:avLst/>
            <a:gdLst/>
            <a:ahLst/>
            <a:cxnLst/>
            <a:rect l="l" t="t" r="r" b="b"/>
            <a:pathLst>
              <a:path w="151" h="27">
                <a:moveTo>
                  <a:pt x="0" y="22"/>
                </a:moveTo>
                <a:lnTo>
                  <a:pt x="2" y="20"/>
                </a:lnTo>
                <a:lnTo>
                  <a:pt x="3" y="0"/>
                </a:lnTo>
                <a:lnTo>
                  <a:pt x="5" y="14"/>
                </a:lnTo>
                <a:lnTo>
                  <a:pt x="8" y="22"/>
                </a:lnTo>
                <a:lnTo>
                  <a:pt x="11" y="27"/>
                </a:lnTo>
                <a:lnTo>
                  <a:pt x="13" y="21"/>
                </a:lnTo>
                <a:lnTo>
                  <a:pt x="14" y="24"/>
                </a:lnTo>
                <a:lnTo>
                  <a:pt x="19" y="24"/>
                </a:lnTo>
                <a:lnTo>
                  <a:pt x="19" y="22"/>
                </a:lnTo>
                <a:lnTo>
                  <a:pt x="21" y="20"/>
                </a:lnTo>
                <a:lnTo>
                  <a:pt x="22" y="0"/>
                </a:lnTo>
                <a:lnTo>
                  <a:pt x="24" y="14"/>
                </a:lnTo>
                <a:lnTo>
                  <a:pt x="27" y="22"/>
                </a:lnTo>
                <a:lnTo>
                  <a:pt x="29" y="27"/>
                </a:lnTo>
                <a:lnTo>
                  <a:pt x="32" y="21"/>
                </a:lnTo>
                <a:lnTo>
                  <a:pt x="33" y="24"/>
                </a:lnTo>
                <a:lnTo>
                  <a:pt x="38" y="24"/>
                </a:lnTo>
                <a:lnTo>
                  <a:pt x="38" y="22"/>
                </a:lnTo>
                <a:lnTo>
                  <a:pt x="39" y="20"/>
                </a:lnTo>
                <a:lnTo>
                  <a:pt x="41" y="0"/>
                </a:lnTo>
                <a:lnTo>
                  <a:pt x="43" y="14"/>
                </a:lnTo>
                <a:lnTo>
                  <a:pt x="46" y="22"/>
                </a:lnTo>
                <a:lnTo>
                  <a:pt x="48" y="27"/>
                </a:lnTo>
                <a:lnTo>
                  <a:pt x="51" y="21"/>
                </a:lnTo>
                <a:lnTo>
                  <a:pt x="52" y="24"/>
                </a:lnTo>
                <a:lnTo>
                  <a:pt x="57" y="24"/>
                </a:lnTo>
                <a:lnTo>
                  <a:pt x="57" y="22"/>
                </a:lnTo>
                <a:lnTo>
                  <a:pt x="58" y="20"/>
                </a:lnTo>
                <a:lnTo>
                  <a:pt x="60" y="0"/>
                </a:lnTo>
                <a:lnTo>
                  <a:pt x="62" y="14"/>
                </a:lnTo>
                <a:lnTo>
                  <a:pt x="65" y="22"/>
                </a:lnTo>
                <a:lnTo>
                  <a:pt x="67" y="27"/>
                </a:lnTo>
                <a:lnTo>
                  <a:pt x="69" y="21"/>
                </a:lnTo>
                <a:lnTo>
                  <a:pt x="71" y="24"/>
                </a:lnTo>
                <a:lnTo>
                  <a:pt x="76" y="24"/>
                </a:lnTo>
                <a:lnTo>
                  <a:pt x="76" y="22"/>
                </a:lnTo>
                <a:lnTo>
                  <a:pt x="77" y="20"/>
                </a:lnTo>
                <a:lnTo>
                  <a:pt x="79" y="0"/>
                </a:lnTo>
                <a:lnTo>
                  <a:pt x="81" y="14"/>
                </a:lnTo>
                <a:lnTo>
                  <a:pt x="83" y="22"/>
                </a:lnTo>
                <a:lnTo>
                  <a:pt x="86" y="27"/>
                </a:lnTo>
                <a:lnTo>
                  <a:pt x="88" y="21"/>
                </a:lnTo>
                <a:lnTo>
                  <a:pt x="90" y="24"/>
                </a:lnTo>
                <a:lnTo>
                  <a:pt x="94" y="24"/>
                </a:lnTo>
                <a:lnTo>
                  <a:pt x="94" y="22"/>
                </a:lnTo>
                <a:lnTo>
                  <a:pt x="96" y="20"/>
                </a:lnTo>
                <a:lnTo>
                  <a:pt x="98" y="0"/>
                </a:lnTo>
                <a:lnTo>
                  <a:pt x="100" y="14"/>
                </a:lnTo>
                <a:lnTo>
                  <a:pt x="102" y="22"/>
                </a:lnTo>
                <a:lnTo>
                  <a:pt x="105" y="27"/>
                </a:lnTo>
                <a:lnTo>
                  <a:pt x="107" y="21"/>
                </a:lnTo>
                <a:lnTo>
                  <a:pt x="109" y="24"/>
                </a:lnTo>
                <a:lnTo>
                  <a:pt x="113" y="24"/>
                </a:lnTo>
                <a:lnTo>
                  <a:pt x="113" y="22"/>
                </a:lnTo>
                <a:lnTo>
                  <a:pt x="115" y="20"/>
                </a:lnTo>
                <a:lnTo>
                  <a:pt x="116" y="0"/>
                </a:lnTo>
                <a:lnTo>
                  <a:pt x="119" y="14"/>
                </a:lnTo>
                <a:lnTo>
                  <a:pt x="121" y="22"/>
                </a:lnTo>
                <a:lnTo>
                  <a:pt x="124" y="27"/>
                </a:lnTo>
                <a:lnTo>
                  <a:pt x="126" y="21"/>
                </a:lnTo>
                <a:lnTo>
                  <a:pt x="128" y="24"/>
                </a:lnTo>
                <a:lnTo>
                  <a:pt x="132" y="24"/>
                </a:lnTo>
                <a:lnTo>
                  <a:pt x="132" y="22"/>
                </a:lnTo>
                <a:lnTo>
                  <a:pt x="134" y="20"/>
                </a:lnTo>
                <a:lnTo>
                  <a:pt x="135" y="0"/>
                </a:lnTo>
                <a:lnTo>
                  <a:pt x="137" y="14"/>
                </a:lnTo>
                <a:lnTo>
                  <a:pt x="140" y="22"/>
                </a:lnTo>
                <a:lnTo>
                  <a:pt x="143" y="27"/>
                </a:lnTo>
                <a:lnTo>
                  <a:pt x="145" y="21"/>
                </a:lnTo>
                <a:lnTo>
                  <a:pt x="146" y="24"/>
                </a:lnTo>
                <a:lnTo>
                  <a:pt x="151" y="24"/>
                </a:lnTo>
              </a:path>
            </a:pathLst>
          </a:custGeom>
          <a:noFill/>
          <a:ln w="16510">
            <a:solidFill>
              <a:srgbClr val="E33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711200" y="4838700"/>
            <a:ext cx="1346200" cy="2286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01010"/>
                </a:solidFill>
                <a:latin typeface="Arial"/>
              </a:rPr>
              <a:t>8 s (2000 samples)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0500" y="5575300"/>
            <a:ext cx="2387600" cy="1854200"/>
          </a:xfrm>
          <a:prstGeom prst="roundRect">
            <a:avLst>
              <a:gd name="adj" fmla="val 8000"/>
            </a:avLst>
          </a:prstGeom>
          <a:solidFill>
            <a:srgbClr val="FBFEFF"/>
          </a:solidFill>
          <a:ln w="12700">
            <a:solidFill>
              <a:srgbClr val="1D5E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647700" y="5702300"/>
            <a:ext cx="1460500" cy="4318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062B68"/>
                </a:solidFill>
                <a:latin typeface="Arial"/>
              </a:rPr>
              <a:t>SQI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80" b="1" i="0">
                <a:solidFill>
                  <a:srgbClr val="062B68"/>
                </a:solidFill>
                <a:latin typeface="Arial"/>
              </a:rPr>
              <a:t>tokens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4800" y="6273800"/>
            <a:ext cx="736600" cy="3556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6A2D"/>
                </a:solidFill>
                <a:latin typeface="Arial"/>
              </a:rPr>
              <a:t>ECG SQI</a:t>
            </a:r>
          </a:p>
        </p:txBody>
      </p:sp>
      <p:sp>
        <p:nvSpPr>
          <p:cNvPr id="35" name="Freeform 34"/>
          <p:cNvSpPr/>
          <p:nvPr/>
        </p:nvSpPr>
        <p:spPr>
          <a:xfrm>
            <a:off x="1117600" y="6350000"/>
            <a:ext cx="965200" cy="114300"/>
          </a:xfrm>
          <a:custGeom>
            <a:avLst/>
            <a:gdLst/>
            <a:ahLst/>
            <a:cxnLst/>
            <a:rect l="l" t="t" r="r" b="b"/>
            <a:pathLst>
              <a:path w="76" h="9">
                <a:moveTo>
                  <a:pt x="0" y="4"/>
                </a:moveTo>
                <a:lnTo>
                  <a:pt x="4" y="9"/>
                </a:lnTo>
                <a:lnTo>
                  <a:pt x="8" y="6"/>
                </a:lnTo>
                <a:lnTo>
                  <a:pt x="11" y="6"/>
                </a:lnTo>
                <a:lnTo>
                  <a:pt x="15" y="4"/>
                </a:lnTo>
                <a:lnTo>
                  <a:pt x="19" y="0"/>
                </a:lnTo>
                <a:lnTo>
                  <a:pt x="23" y="3"/>
                </a:lnTo>
                <a:lnTo>
                  <a:pt x="27" y="7"/>
                </a:lnTo>
                <a:lnTo>
                  <a:pt x="30" y="6"/>
                </a:lnTo>
                <a:lnTo>
                  <a:pt x="34" y="7"/>
                </a:lnTo>
                <a:lnTo>
                  <a:pt x="38" y="6"/>
                </a:lnTo>
                <a:lnTo>
                  <a:pt x="42" y="0"/>
                </a:lnTo>
                <a:lnTo>
                  <a:pt x="46" y="1"/>
                </a:lnTo>
                <a:lnTo>
                  <a:pt x="49" y="5"/>
                </a:lnTo>
                <a:lnTo>
                  <a:pt x="53" y="5"/>
                </a:lnTo>
                <a:lnTo>
                  <a:pt x="57" y="8"/>
                </a:lnTo>
                <a:lnTo>
                  <a:pt x="61" y="8"/>
                </a:lnTo>
                <a:lnTo>
                  <a:pt x="65" y="2"/>
                </a:lnTo>
                <a:lnTo>
                  <a:pt x="68" y="1"/>
                </a:lnTo>
                <a:lnTo>
                  <a:pt x="72" y="3"/>
                </a:lnTo>
                <a:lnTo>
                  <a:pt x="76" y="4"/>
                </a:lnTo>
              </a:path>
            </a:pathLst>
          </a:custGeom>
          <a:noFill/>
          <a:ln w="12700">
            <a:solidFill>
              <a:srgbClr val="2E8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2247900" y="6235700"/>
            <a:ext cx="152400" cy="1524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" b="1" i="0">
                <a:solidFill>
                  <a:srgbClr val="101010"/>
                </a:solidFill>
                <a:latin typeface="Arial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4800" y="6896100"/>
            <a:ext cx="736600" cy="3556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51F19"/>
                </a:solidFill>
                <a:latin typeface="Arial"/>
              </a:rPr>
              <a:t>PPG SQI</a:t>
            </a:r>
          </a:p>
        </p:txBody>
      </p:sp>
      <p:sp>
        <p:nvSpPr>
          <p:cNvPr id="38" name="Freeform 37"/>
          <p:cNvSpPr/>
          <p:nvPr/>
        </p:nvSpPr>
        <p:spPr>
          <a:xfrm>
            <a:off x="1117600" y="6972300"/>
            <a:ext cx="965200" cy="114300"/>
          </a:xfrm>
          <a:custGeom>
            <a:avLst/>
            <a:gdLst/>
            <a:ahLst/>
            <a:cxnLst/>
            <a:rect l="l" t="t" r="r" b="b"/>
            <a:pathLst>
              <a:path w="76" h="9">
                <a:moveTo>
                  <a:pt x="0" y="5"/>
                </a:moveTo>
                <a:lnTo>
                  <a:pt x="4" y="9"/>
                </a:lnTo>
                <a:lnTo>
                  <a:pt x="8" y="6"/>
                </a:lnTo>
                <a:lnTo>
                  <a:pt x="11" y="6"/>
                </a:lnTo>
                <a:lnTo>
                  <a:pt x="15" y="4"/>
                </a:lnTo>
                <a:lnTo>
                  <a:pt x="19" y="0"/>
                </a:lnTo>
                <a:lnTo>
                  <a:pt x="23" y="3"/>
                </a:lnTo>
                <a:lnTo>
                  <a:pt x="27" y="7"/>
                </a:lnTo>
                <a:lnTo>
                  <a:pt x="30" y="6"/>
                </a:lnTo>
                <a:lnTo>
                  <a:pt x="34" y="7"/>
                </a:lnTo>
                <a:lnTo>
                  <a:pt x="38" y="6"/>
                </a:lnTo>
                <a:lnTo>
                  <a:pt x="42" y="0"/>
                </a:lnTo>
                <a:lnTo>
                  <a:pt x="46" y="1"/>
                </a:lnTo>
                <a:lnTo>
                  <a:pt x="49" y="5"/>
                </a:lnTo>
                <a:lnTo>
                  <a:pt x="53" y="5"/>
                </a:lnTo>
                <a:lnTo>
                  <a:pt x="57" y="8"/>
                </a:lnTo>
                <a:lnTo>
                  <a:pt x="61" y="8"/>
                </a:lnTo>
                <a:lnTo>
                  <a:pt x="65" y="2"/>
                </a:lnTo>
                <a:lnTo>
                  <a:pt x="68" y="1"/>
                </a:lnTo>
                <a:lnTo>
                  <a:pt x="72" y="3"/>
                </a:lnTo>
                <a:lnTo>
                  <a:pt x="76" y="4"/>
                </a:lnTo>
              </a:path>
            </a:pathLst>
          </a:custGeom>
          <a:noFill/>
          <a:ln w="12700">
            <a:solidFill>
              <a:srgbClr val="E33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2247900" y="6858000"/>
            <a:ext cx="152400" cy="1524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" b="1" i="0">
                <a:solidFill>
                  <a:srgbClr val="101010"/>
                </a:solidFill>
                <a:latin typeface="Arial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6100" y="7073900"/>
            <a:ext cx="1651000" cy="3429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62B68"/>
                </a:solidFill>
                <a:latin typeface="Arial"/>
              </a:rPr>
              <a:t>qₑ, qₚ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94000" y="228600"/>
            <a:ext cx="2921000" cy="3175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062B68"/>
                </a:solidFill>
                <a:latin typeface="Arial"/>
              </a:rPr>
              <a:t>2) Embedding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895600" y="1244600"/>
            <a:ext cx="1409700" cy="1092200"/>
          </a:xfrm>
          <a:prstGeom prst="roundRect">
            <a:avLst>
              <a:gd name="adj" fmla="val 8000"/>
            </a:avLst>
          </a:prstGeom>
          <a:solidFill>
            <a:srgbClr val="F3FBF0"/>
          </a:solidFill>
          <a:ln w="13970">
            <a:solidFill>
              <a:srgbClr val="2E8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2984500" y="1358900"/>
            <a:ext cx="1231900" cy="406400"/>
          </a:xfrm>
          <a:prstGeom prst="rect">
            <a:avLst/>
          </a:prstGeom>
          <a:noFill/>
          <a:effectLst/>
        </p:spPr>
        <p:txBody>
          <a:bodyPr wrap="none" lIns="10160" rIns="10160" tIns="10160" bIns="1016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1010"/>
                </a:solidFill>
                <a:latin typeface="Arial"/>
              </a:rPr>
              <a:t>Patch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01010"/>
                </a:solidFill>
                <a:latin typeface="Arial"/>
              </a:rPr>
              <a:t>projection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175000" y="1905000"/>
            <a:ext cx="113876" cy="71966"/>
          </a:xfrm>
          <a:prstGeom prst="roundRect">
            <a:avLst>
              <a:gd name="adj" fmla="val 8000"/>
            </a:avLst>
          </a:prstGeom>
          <a:solidFill>
            <a:srgbClr val="E8F5E5"/>
          </a:solidFill>
          <a:ln w="4445">
            <a:solidFill>
              <a:srgbClr val="78A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5" name="Freeform 44"/>
          <p:cNvSpPr/>
          <p:nvPr/>
        </p:nvSpPr>
        <p:spPr>
          <a:xfrm>
            <a:off x="3200400" y="1943100"/>
            <a:ext cx="63500" cy="0"/>
          </a:xfrm>
          <a:custGeom>
            <a:avLst/>
            <a:gdLst/>
            <a:ahLst/>
            <a:cxnLst/>
            <a:rect l="l" t="t" r="r" b="b"/>
            <a:pathLst>
              <a:path w="5" h="0">
                <a:moveTo>
                  <a:pt x="0" y="0"/>
                </a:moveTo>
                <a:lnTo>
                  <a:pt x="1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0"/>
                </a:lnTo>
              </a:path>
            </a:pathLst>
          </a:custGeom>
          <a:noFill/>
          <a:ln w="8890">
            <a:solidFill>
              <a:srgbClr val="2E8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6" name="Rounded Rectangle 45"/>
          <p:cNvSpPr/>
          <p:nvPr/>
        </p:nvSpPr>
        <p:spPr>
          <a:xfrm>
            <a:off x="3316816" y="1905000"/>
            <a:ext cx="113876" cy="71966"/>
          </a:xfrm>
          <a:prstGeom prst="roundRect">
            <a:avLst>
              <a:gd name="adj" fmla="val 8000"/>
            </a:avLst>
          </a:prstGeom>
          <a:solidFill>
            <a:srgbClr val="E8F5E5"/>
          </a:solidFill>
          <a:ln w="4445">
            <a:solidFill>
              <a:srgbClr val="78A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7" name="Freeform 46"/>
          <p:cNvSpPr/>
          <p:nvPr/>
        </p:nvSpPr>
        <p:spPr>
          <a:xfrm>
            <a:off x="3340100" y="1943100"/>
            <a:ext cx="63500" cy="0"/>
          </a:xfrm>
          <a:custGeom>
            <a:avLst/>
            <a:gdLst/>
            <a:ahLst/>
            <a:cxnLst/>
            <a:rect l="l" t="t" r="r" b="b"/>
            <a:pathLst>
              <a:path w="5" h="0">
                <a:moveTo>
                  <a:pt x="0" y="0"/>
                </a:moveTo>
                <a:lnTo>
                  <a:pt x="1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0"/>
                </a:lnTo>
              </a:path>
            </a:pathLst>
          </a:custGeom>
          <a:noFill/>
          <a:ln w="8890">
            <a:solidFill>
              <a:srgbClr val="2E8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8" name="Rounded Rectangle 47"/>
          <p:cNvSpPr/>
          <p:nvPr/>
        </p:nvSpPr>
        <p:spPr>
          <a:xfrm>
            <a:off x="3458633" y="1905000"/>
            <a:ext cx="113876" cy="71966"/>
          </a:xfrm>
          <a:prstGeom prst="roundRect">
            <a:avLst>
              <a:gd name="adj" fmla="val 8000"/>
            </a:avLst>
          </a:prstGeom>
          <a:solidFill>
            <a:srgbClr val="E8F5E5"/>
          </a:solidFill>
          <a:ln w="4445">
            <a:solidFill>
              <a:srgbClr val="78A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9" name="Freeform 48"/>
          <p:cNvSpPr/>
          <p:nvPr/>
        </p:nvSpPr>
        <p:spPr>
          <a:xfrm>
            <a:off x="3479800" y="19431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0" y="0"/>
                </a:moveTo>
                <a:lnTo>
                  <a:pt x="1" y="0"/>
                </a:lnTo>
                <a:lnTo>
                  <a:pt x="2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</a:path>
            </a:pathLst>
          </a:custGeom>
          <a:noFill/>
          <a:ln w="8890">
            <a:solidFill>
              <a:srgbClr val="2E8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0" name="Rounded Rectangle 49"/>
          <p:cNvSpPr/>
          <p:nvPr/>
        </p:nvSpPr>
        <p:spPr>
          <a:xfrm>
            <a:off x="3600450" y="1905000"/>
            <a:ext cx="113876" cy="71966"/>
          </a:xfrm>
          <a:prstGeom prst="roundRect">
            <a:avLst>
              <a:gd name="adj" fmla="val 8000"/>
            </a:avLst>
          </a:prstGeom>
          <a:solidFill>
            <a:srgbClr val="E8F5E5"/>
          </a:solidFill>
          <a:ln w="4445">
            <a:solidFill>
              <a:srgbClr val="78A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1" name="Freeform 50"/>
          <p:cNvSpPr/>
          <p:nvPr/>
        </p:nvSpPr>
        <p:spPr>
          <a:xfrm>
            <a:off x="3632200" y="1943100"/>
            <a:ext cx="63500" cy="0"/>
          </a:xfrm>
          <a:custGeom>
            <a:avLst/>
            <a:gdLst/>
            <a:ahLst/>
            <a:cxnLst/>
            <a:rect l="l" t="t" r="r" b="b"/>
            <a:pathLst>
              <a:path w="5" h="0">
                <a:moveTo>
                  <a:pt x="0" y="0"/>
                </a:moveTo>
                <a:lnTo>
                  <a:pt x="0" y="0"/>
                </a:lnTo>
                <a:lnTo>
                  <a:pt x="1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noFill/>
          <a:ln w="8890">
            <a:solidFill>
              <a:srgbClr val="2E8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2" name="Rounded Rectangle 51"/>
          <p:cNvSpPr/>
          <p:nvPr/>
        </p:nvSpPr>
        <p:spPr>
          <a:xfrm>
            <a:off x="3742266" y="1905000"/>
            <a:ext cx="113876" cy="71966"/>
          </a:xfrm>
          <a:prstGeom prst="roundRect">
            <a:avLst>
              <a:gd name="adj" fmla="val 8000"/>
            </a:avLst>
          </a:prstGeom>
          <a:solidFill>
            <a:srgbClr val="E8F5E5"/>
          </a:solidFill>
          <a:ln w="4445">
            <a:solidFill>
              <a:srgbClr val="78A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3" name="Freeform 52"/>
          <p:cNvSpPr/>
          <p:nvPr/>
        </p:nvSpPr>
        <p:spPr>
          <a:xfrm>
            <a:off x="3771900" y="1943100"/>
            <a:ext cx="63500" cy="0"/>
          </a:xfrm>
          <a:custGeom>
            <a:avLst/>
            <a:gdLst/>
            <a:ahLst/>
            <a:cxnLst/>
            <a:rect l="l" t="t" r="r" b="b"/>
            <a:pathLst>
              <a:path w="5" h="0">
                <a:moveTo>
                  <a:pt x="0" y="0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noFill/>
          <a:ln w="8890">
            <a:solidFill>
              <a:srgbClr val="2E8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4" name="Rounded Rectangle 53"/>
          <p:cNvSpPr/>
          <p:nvPr/>
        </p:nvSpPr>
        <p:spPr>
          <a:xfrm>
            <a:off x="3884083" y="1905000"/>
            <a:ext cx="113876" cy="71966"/>
          </a:xfrm>
          <a:prstGeom prst="roundRect">
            <a:avLst>
              <a:gd name="adj" fmla="val 8000"/>
            </a:avLst>
          </a:prstGeom>
          <a:solidFill>
            <a:srgbClr val="E8F5E5"/>
          </a:solidFill>
          <a:ln w="4445">
            <a:solidFill>
              <a:srgbClr val="78A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5" name="Freeform 54"/>
          <p:cNvSpPr/>
          <p:nvPr/>
        </p:nvSpPr>
        <p:spPr>
          <a:xfrm>
            <a:off x="3911600" y="19431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0" y="0"/>
                </a:move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5" y="0"/>
                </a:lnTo>
              </a:path>
            </a:pathLst>
          </a:custGeom>
          <a:noFill/>
          <a:ln w="8890">
            <a:solidFill>
              <a:srgbClr val="2E8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6" name="Rounded Rectangle 55"/>
          <p:cNvSpPr/>
          <p:nvPr/>
        </p:nvSpPr>
        <p:spPr>
          <a:xfrm>
            <a:off x="3175000" y="2027766"/>
            <a:ext cx="113876" cy="71966"/>
          </a:xfrm>
          <a:prstGeom prst="roundRect">
            <a:avLst>
              <a:gd name="adj" fmla="val 8000"/>
            </a:avLst>
          </a:prstGeom>
          <a:solidFill>
            <a:srgbClr val="E8F5E5"/>
          </a:solidFill>
          <a:ln w="4445">
            <a:solidFill>
              <a:srgbClr val="78A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7" name="Freeform 56"/>
          <p:cNvSpPr/>
          <p:nvPr/>
        </p:nvSpPr>
        <p:spPr>
          <a:xfrm>
            <a:off x="3200400" y="2070100"/>
            <a:ext cx="63500" cy="0"/>
          </a:xfrm>
          <a:custGeom>
            <a:avLst/>
            <a:gdLst/>
            <a:ahLst/>
            <a:cxnLst/>
            <a:rect l="l" t="t" r="r" b="b"/>
            <a:pathLst>
              <a:path w="5" h="0">
                <a:moveTo>
                  <a:pt x="0" y="0"/>
                </a:moveTo>
                <a:lnTo>
                  <a:pt x="1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0"/>
                </a:lnTo>
              </a:path>
            </a:pathLst>
          </a:custGeom>
          <a:noFill/>
          <a:ln w="8890">
            <a:solidFill>
              <a:srgbClr val="2E8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8" name="Rounded Rectangle 57"/>
          <p:cNvSpPr/>
          <p:nvPr/>
        </p:nvSpPr>
        <p:spPr>
          <a:xfrm>
            <a:off x="3316816" y="2027766"/>
            <a:ext cx="113876" cy="71966"/>
          </a:xfrm>
          <a:prstGeom prst="roundRect">
            <a:avLst>
              <a:gd name="adj" fmla="val 8000"/>
            </a:avLst>
          </a:prstGeom>
          <a:solidFill>
            <a:srgbClr val="E8F5E5"/>
          </a:solidFill>
          <a:ln w="4445">
            <a:solidFill>
              <a:srgbClr val="78A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9" name="Freeform 58"/>
          <p:cNvSpPr/>
          <p:nvPr/>
        </p:nvSpPr>
        <p:spPr>
          <a:xfrm>
            <a:off x="3340100" y="2070100"/>
            <a:ext cx="63500" cy="0"/>
          </a:xfrm>
          <a:custGeom>
            <a:avLst/>
            <a:gdLst/>
            <a:ahLst/>
            <a:cxnLst/>
            <a:rect l="l" t="t" r="r" b="b"/>
            <a:pathLst>
              <a:path w="5" h="0">
                <a:moveTo>
                  <a:pt x="0" y="0"/>
                </a:moveTo>
                <a:lnTo>
                  <a:pt x="1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0"/>
                </a:lnTo>
              </a:path>
            </a:pathLst>
          </a:custGeom>
          <a:noFill/>
          <a:ln w="8890">
            <a:solidFill>
              <a:srgbClr val="2E8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60" name="Rounded Rectangle 59"/>
          <p:cNvSpPr/>
          <p:nvPr/>
        </p:nvSpPr>
        <p:spPr>
          <a:xfrm>
            <a:off x="3458633" y="2027766"/>
            <a:ext cx="113876" cy="71966"/>
          </a:xfrm>
          <a:prstGeom prst="roundRect">
            <a:avLst>
              <a:gd name="adj" fmla="val 8000"/>
            </a:avLst>
          </a:prstGeom>
          <a:solidFill>
            <a:srgbClr val="E8F5E5"/>
          </a:solidFill>
          <a:ln w="4445">
            <a:solidFill>
              <a:srgbClr val="78A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61" name="Freeform 60"/>
          <p:cNvSpPr/>
          <p:nvPr/>
        </p:nvSpPr>
        <p:spPr>
          <a:xfrm>
            <a:off x="3479800" y="2070100"/>
            <a:ext cx="76200" cy="0"/>
          </a:xfrm>
          <a:custGeom>
            <a:avLst/>
            <a:gdLst/>
            <a:ahLst/>
            <a:cxnLst/>
            <a:rect l="l" t="t" r="r" b="b"/>
            <a:pathLst>
              <a:path w="6" h="0">
                <a:moveTo>
                  <a:pt x="0" y="0"/>
                </a:moveTo>
                <a:lnTo>
                  <a:pt x="1" y="0"/>
                </a:lnTo>
                <a:lnTo>
                  <a:pt x="2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</a:path>
            </a:pathLst>
          </a:custGeom>
          <a:noFill/>
          <a:ln w="8890">
            <a:solidFill>
              <a:srgbClr val="2E8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62" name="Rounded Rectangle 61"/>
          <p:cNvSpPr/>
          <p:nvPr/>
        </p:nvSpPr>
        <p:spPr>
          <a:xfrm>
            <a:off x="3600450" y="2027766"/>
            <a:ext cx="113876" cy="71966"/>
          </a:xfrm>
          <a:prstGeom prst="roundRect">
            <a:avLst>
              <a:gd name="adj" fmla="val 8000"/>
            </a:avLst>
          </a:prstGeom>
          <a:solidFill>
            <a:srgbClr val="E8F5E5"/>
          </a:solidFill>
          <a:ln w="4445">
            <a:solidFill>
              <a:srgbClr val="78A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63" name="Freeform 62"/>
          <p:cNvSpPr/>
          <p:nvPr/>
        </p:nvSpPr>
        <p:spPr>
          <a:xfrm>
            <a:off x="3632200" y="2070100"/>
            <a:ext cx="63500" cy="0"/>
          </a:xfrm>
          <a:custGeom>
            <a:avLst/>
            <a:gdLst/>
            <a:ahLst/>
            <a:cxnLst/>
            <a:rect l="l" t="t" r="r" b="b"/>
            <a:pathLst>
              <a:path w="5" h="0">
                <a:moveTo>
                  <a:pt x="0" y="0"/>
                </a:moveTo>
                <a:lnTo>
                  <a:pt x="0" y="0"/>
                </a:lnTo>
                <a:lnTo>
                  <a:pt x="1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noFill/>
          <a:ln w="8890">
            <a:solidFill>
              <a:srgbClr val="2E8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64" name="Rounded Rectangle 63"/>
          <p:cNvSpPr/>
          <p:nvPr/>
        </p:nvSpPr>
        <p:spPr>
          <a:xfrm>
            <a:off x="3742266" y="2027766"/>
            <a:ext cx="113876" cy="71966"/>
          </a:xfrm>
          <a:prstGeom prst="roundRect">
            <a:avLst>
              <a:gd name="adj" fmla="val 8000"/>
            </a:avLst>
          </a:prstGeom>
          <a:solidFill>
            <a:srgbClr val="E8F5E5"/>
          </a:solidFill>
          <a:ln w="4445">
            <a:solidFill>
              <a:srgbClr val="78A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65" name="Freeform 64"/>
          <p:cNvSpPr/>
          <p:nvPr/>
        </p:nvSpPr>
        <p:spPr>
          <a:xfrm>
            <a:off x="3771900" y="2070100"/>
            <a:ext cx="63500" cy="0"/>
          </a:xfrm>
          <a:custGeom>
            <a:avLst/>
            <a:gdLst/>
            <a:ahLst/>
            <a:cxnLst/>
            <a:rect l="l" t="t" r="r" b="b"/>
            <a:pathLst>
              <a:path w="5" h="0">
                <a:moveTo>
                  <a:pt x="0" y="0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noFill/>
          <a:ln w="8890">
            <a:solidFill>
              <a:srgbClr val="2E8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66" name="Rounded Rectangle 65"/>
          <p:cNvSpPr/>
          <p:nvPr/>
        </p:nvSpPr>
        <p:spPr>
          <a:xfrm>
            <a:off x="3884083" y="2027766"/>
            <a:ext cx="113876" cy="71966"/>
          </a:xfrm>
          <a:prstGeom prst="roundRect">
            <a:avLst>
              <a:gd name="adj" fmla="val 8000"/>
            </a:avLst>
          </a:prstGeom>
          <a:solidFill>
            <a:srgbClr val="E8F5E5"/>
          </a:solidFill>
          <a:ln w="4445">
            <a:solidFill>
              <a:srgbClr val="78A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67" name="Freeform 66"/>
          <p:cNvSpPr/>
          <p:nvPr/>
        </p:nvSpPr>
        <p:spPr>
          <a:xfrm>
            <a:off x="3911600" y="2070100"/>
            <a:ext cx="63500" cy="0"/>
          </a:xfrm>
          <a:custGeom>
            <a:avLst/>
            <a:gdLst/>
            <a:ahLst/>
            <a:cxnLst/>
            <a:rect l="l" t="t" r="r" b="b"/>
            <a:pathLst>
              <a:path w="5" h="0">
                <a:moveTo>
                  <a:pt x="0" y="0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noFill/>
          <a:ln w="8890">
            <a:solidFill>
              <a:srgbClr val="2E8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68" name="Rounded Rectangle 67"/>
          <p:cNvSpPr/>
          <p:nvPr/>
        </p:nvSpPr>
        <p:spPr>
          <a:xfrm>
            <a:off x="3175000" y="2150533"/>
            <a:ext cx="113876" cy="71966"/>
          </a:xfrm>
          <a:prstGeom prst="roundRect">
            <a:avLst>
              <a:gd name="adj" fmla="val 8000"/>
            </a:avLst>
          </a:prstGeom>
          <a:solidFill>
            <a:srgbClr val="E8F5E5"/>
          </a:solidFill>
          <a:ln w="4445">
            <a:solidFill>
              <a:srgbClr val="78A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69" name="Freeform 68"/>
          <p:cNvSpPr/>
          <p:nvPr/>
        </p:nvSpPr>
        <p:spPr>
          <a:xfrm>
            <a:off x="3200400" y="21844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3" y="1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</a:path>
            </a:pathLst>
          </a:custGeom>
          <a:noFill/>
          <a:ln w="8890">
            <a:solidFill>
              <a:srgbClr val="2E8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70" name="Rounded Rectangle 69"/>
          <p:cNvSpPr/>
          <p:nvPr/>
        </p:nvSpPr>
        <p:spPr>
          <a:xfrm>
            <a:off x="3316816" y="2150533"/>
            <a:ext cx="113876" cy="71966"/>
          </a:xfrm>
          <a:prstGeom prst="roundRect">
            <a:avLst>
              <a:gd name="adj" fmla="val 8000"/>
            </a:avLst>
          </a:prstGeom>
          <a:solidFill>
            <a:srgbClr val="E8F5E5"/>
          </a:solidFill>
          <a:ln w="4445">
            <a:solidFill>
              <a:srgbClr val="78A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71" name="Freeform 70"/>
          <p:cNvSpPr/>
          <p:nvPr/>
        </p:nvSpPr>
        <p:spPr>
          <a:xfrm>
            <a:off x="3340100" y="2197100"/>
            <a:ext cx="63500" cy="0"/>
          </a:xfrm>
          <a:custGeom>
            <a:avLst/>
            <a:gdLst/>
            <a:ahLst/>
            <a:cxnLst/>
            <a:rect l="l" t="t" r="r" b="b"/>
            <a:pathLst>
              <a:path w="5" h="0">
                <a:moveTo>
                  <a:pt x="0" y="0"/>
                </a:moveTo>
                <a:lnTo>
                  <a:pt x="1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0"/>
                </a:lnTo>
              </a:path>
            </a:pathLst>
          </a:custGeom>
          <a:noFill/>
          <a:ln w="8890">
            <a:solidFill>
              <a:srgbClr val="2E8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72" name="Rounded Rectangle 71"/>
          <p:cNvSpPr/>
          <p:nvPr/>
        </p:nvSpPr>
        <p:spPr>
          <a:xfrm>
            <a:off x="3458633" y="2150533"/>
            <a:ext cx="113876" cy="71966"/>
          </a:xfrm>
          <a:prstGeom prst="roundRect">
            <a:avLst>
              <a:gd name="adj" fmla="val 8000"/>
            </a:avLst>
          </a:prstGeom>
          <a:solidFill>
            <a:srgbClr val="E8F5E5"/>
          </a:solidFill>
          <a:ln w="4445">
            <a:solidFill>
              <a:srgbClr val="78A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73" name="Freeform 72"/>
          <p:cNvSpPr/>
          <p:nvPr/>
        </p:nvSpPr>
        <p:spPr>
          <a:xfrm>
            <a:off x="3479800" y="21844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0" y="0"/>
                </a:moveTo>
                <a:lnTo>
                  <a:pt x="1" y="1"/>
                </a:lnTo>
                <a:lnTo>
                  <a:pt x="2" y="1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5" y="1"/>
                </a:lnTo>
                <a:lnTo>
                  <a:pt x="6" y="1"/>
                </a:lnTo>
              </a:path>
            </a:pathLst>
          </a:custGeom>
          <a:noFill/>
          <a:ln w="8890">
            <a:solidFill>
              <a:srgbClr val="2E8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74" name="Rounded Rectangle 73"/>
          <p:cNvSpPr/>
          <p:nvPr/>
        </p:nvSpPr>
        <p:spPr>
          <a:xfrm>
            <a:off x="3600450" y="2150533"/>
            <a:ext cx="113876" cy="71966"/>
          </a:xfrm>
          <a:prstGeom prst="roundRect">
            <a:avLst>
              <a:gd name="adj" fmla="val 8000"/>
            </a:avLst>
          </a:prstGeom>
          <a:solidFill>
            <a:srgbClr val="E8F5E5"/>
          </a:solidFill>
          <a:ln w="4445">
            <a:solidFill>
              <a:srgbClr val="78A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75" name="Freeform 74"/>
          <p:cNvSpPr/>
          <p:nvPr/>
        </p:nvSpPr>
        <p:spPr>
          <a:xfrm>
            <a:off x="3632200" y="21844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0" y="1"/>
                </a:moveTo>
                <a:lnTo>
                  <a:pt x="0" y="1"/>
                </a:lnTo>
                <a:lnTo>
                  <a:pt x="1" y="1"/>
                </a:lnTo>
                <a:lnTo>
                  <a:pt x="1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</a:path>
            </a:pathLst>
          </a:custGeom>
          <a:noFill/>
          <a:ln w="8890">
            <a:solidFill>
              <a:srgbClr val="2E8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76" name="Rounded Rectangle 75"/>
          <p:cNvSpPr/>
          <p:nvPr/>
        </p:nvSpPr>
        <p:spPr>
          <a:xfrm>
            <a:off x="3742266" y="2150533"/>
            <a:ext cx="113876" cy="71966"/>
          </a:xfrm>
          <a:prstGeom prst="roundRect">
            <a:avLst>
              <a:gd name="adj" fmla="val 8000"/>
            </a:avLst>
          </a:prstGeom>
          <a:solidFill>
            <a:srgbClr val="E8F5E5"/>
          </a:solidFill>
          <a:ln w="4445">
            <a:solidFill>
              <a:srgbClr val="78A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77" name="Freeform 76"/>
          <p:cNvSpPr/>
          <p:nvPr/>
        </p:nvSpPr>
        <p:spPr>
          <a:xfrm>
            <a:off x="3771900" y="2197100"/>
            <a:ext cx="63500" cy="0"/>
          </a:xfrm>
          <a:custGeom>
            <a:avLst/>
            <a:gdLst/>
            <a:ahLst/>
            <a:cxnLst/>
            <a:rect l="l" t="t" r="r" b="b"/>
            <a:pathLst>
              <a:path w="5" h="0">
                <a:moveTo>
                  <a:pt x="0" y="0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noFill/>
          <a:ln w="8890">
            <a:solidFill>
              <a:srgbClr val="2E8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78" name="Rounded Rectangle 77"/>
          <p:cNvSpPr/>
          <p:nvPr/>
        </p:nvSpPr>
        <p:spPr>
          <a:xfrm>
            <a:off x="3884083" y="2150533"/>
            <a:ext cx="113876" cy="71966"/>
          </a:xfrm>
          <a:prstGeom prst="roundRect">
            <a:avLst>
              <a:gd name="adj" fmla="val 8000"/>
            </a:avLst>
          </a:prstGeom>
          <a:solidFill>
            <a:srgbClr val="E8F5E5"/>
          </a:solidFill>
          <a:ln w="4445">
            <a:solidFill>
              <a:srgbClr val="78A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79" name="Freeform 78"/>
          <p:cNvSpPr/>
          <p:nvPr/>
        </p:nvSpPr>
        <p:spPr>
          <a:xfrm>
            <a:off x="3911600" y="21844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0" y="1"/>
                </a:moveTo>
                <a:lnTo>
                  <a:pt x="0" y="1"/>
                </a:lnTo>
                <a:lnTo>
                  <a:pt x="1" y="0"/>
                </a:lnTo>
                <a:lnTo>
                  <a:pt x="2" y="1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4" y="1"/>
                </a:lnTo>
                <a:lnTo>
                  <a:pt x="5" y="0"/>
                </a:lnTo>
              </a:path>
            </a:pathLst>
          </a:custGeom>
          <a:noFill/>
          <a:ln w="8890">
            <a:solidFill>
              <a:srgbClr val="2E8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80" name="Connector 79"/>
          <p:cNvCxnSpPr/>
          <p:nvPr/>
        </p:nvCxnSpPr>
        <p:spPr>
          <a:xfrm flipV="1">
            <a:off x="3213100" y="2057400"/>
            <a:ext cx="0" cy="152400"/>
          </a:xfrm>
          <a:prstGeom prst="line">
            <a:avLst/>
          </a:prstGeom>
          <a:ln w="6985">
            <a:solidFill>
              <a:srgbClr val="2E8B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3314700" y="2032000"/>
            <a:ext cx="0" cy="177800"/>
          </a:xfrm>
          <a:prstGeom prst="line">
            <a:avLst/>
          </a:prstGeom>
          <a:ln w="6985">
            <a:solidFill>
              <a:srgbClr val="2E8B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3416300" y="2006600"/>
            <a:ext cx="0" cy="203200"/>
          </a:xfrm>
          <a:prstGeom prst="line">
            <a:avLst/>
          </a:prstGeom>
          <a:ln w="6985">
            <a:solidFill>
              <a:srgbClr val="2E8B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3517900" y="1981200"/>
            <a:ext cx="0" cy="228600"/>
          </a:xfrm>
          <a:prstGeom prst="line">
            <a:avLst/>
          </a:prstGeom>
          <a:ln w="6985">
            <a:solidFill>
              <a:srgbClr val="2E8B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4572000" y="1689100"/>
            <a:ext cx="228600" cy="228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85" name="Connector 84"/>
          <p:cNvCxnSpPr/>
          <p:nvPr/>
        </p:nvCxnSpPr>
        <p:spPr>
          <a:xfrm>
            <a:off x="4622800" y="1803400"/>
            <a:ext cx="127000" cy="0"/>
          </a:xfrm>
          <a:prstGeom prst="line">
            <a:avLst/>
          </a:prstGeom>
          <a:ln w="1524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686300" y="1739900"/>
            <a:ext cx="0" cy="127000"/>
          </a:xfrm>
          <a:prstGeom prst="line">
            <a:avLst/>
          </a:prstGeom>
          <a:ln w="1524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4991100" y="1638300"/>
            <a:ext cx="177800" cy="2286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88" name="Rectangle 87"/>
          <p:cNvSpPr/>
          <p:nvPr/>
        </p:nvSpPr>
        <p:spPr>
          <a:xfrm>
            <a:off x="5194300" y="1638300"/>
            <a:ext cx="177800" cy="2286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89" name="Rectangle 88"/>
          <p:cNvSpPr/>
          <p:nvPr/>
        </p:nvSpPr>
        <p:spPr>
          <a:xfrm>
            <a:off x="5397500" y="1638300"/>
            <a:ext cx="177800" cy="2286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90" name="Rectangle 89"/>
          <p:cNvSpPr/>
          <p:nvPr/>
        </p:nvSpPr>
        <p:spPr>
          <a:xfrm>
            <a:off x="5600700" y="1638300"/>
            <a:ext cx="177800" cy="2286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91" name="Rectangle 90"/>
          <p:cNvSpPr/>
          <p:nvPr/>
        </p:nvSpPr>
        <p:spPr>
          <a:xfrm>
            <a:off x="5803900" y="1638300"/>
            <a:ext cx="177800" cy="2286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92" name="TextBox 91"/>
          <p:cNvSpPr txBox="1"/>
          <p:nvPr/>
        </p:nvSpPr>
        <p:spPr>
          <a:xfrm>
            <a:off x="4851400" y="1244600"/>
            <a:ext cx="1219200" cy="2794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01010"/>
                </a:solidFill>
                <a:latin typeface="Arial"/>
              </a:rPr>
              <a:t>Zₑ ∈ ℝᵀˣᵈ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330700" y="2413000"/>
            <a:ext cx="1765300" cy="850900"/>
          </a:xfrm>
          <a:prstGeom prst="roundRect">
            <a:avLst>
              <a:gd name="adj" fmla="val 8000"/>
            </a:avLst>
          </a:prstGeom>
          <a:solidFill>
            <a:srgbClr val="EDF8EA"/>
          </a:solidFill>
          <a:ln w="12700">
            <a:solidFill>
              <a:srgbClr val="2E8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94" name="TextBox 93"/>
          <p:cNvSpPr txBox="1"/>
          <p:nvPr/>
        </p:nvSpPr>
        <p:spPr>
          <a:xfrm>
            <a:off x="4495800" y="2514600"/>
            <a:ext cx="1435100" cy="647700"/>
          </a:xfrm>
          <a:prstGeom prst="rect">
            <a:avLst/>
          </a:prstGeom>
          <a:noFill/>
          <a:effectLst/>
        </p:spPr>
        <p:txBody>
          <a:bodyPr wrap="none" lIns="10160" rIns="10160" tIns="10160" bIns="1016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01010"/>
                </a:solidFill>
                <a:latin typeface="Arial"/>
              </a:rPr>
              <a:t>position +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60" b="1" i="0">
                <a:solidFill>
                  <a:srgbClr val="101010"/>
                </a:solidFill>
                <a:latin typeface="Arial"/>
              </a:rPr>
              <a:t>modality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2527300" y="1701800"/>
            <a:ext cx="266700" cy="0"/>
          </a:xfrm>
          <a:prstGeom prst="line">
            <a:avLst/>
          </a:prstGeom>
          <a:ln w="1778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Freeform 95"/>
          <p:cNvSpPr/>
          <p:nvPr/>
        </p:nvSpPr>
        <p:spPr>
          <a:xfrm>
            <a:off x="2794000" y="16510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97" name="Connector 96"/>
          <p:cNvCxnSpPr/>
          <p:nvPr/>
        </p:nvCxnSpPr>
        <p:spPr>
          <a:xfrm>
            <a:off x="4305300" y="1790700"/>
            <a:ext cx="165100" cy="0"/>
          </a:xfrm>
          <a:prstGeom prst="line">
            <a:avLst/>
          </a:prstGeom>
          <a:ln w="1651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Freeform 97"/>
          <p:cNvSpPr/>
          <p:nvPr/>
        </p:nvSpPr>
        <p:spPr>
          <a:xfrm>
            <a:off x="4470400" y="17526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99" name="Connector 98"/>
          <p:cNvCxnSpPr/>
          <p:nvPr/>
        </p:nvCxnSpPr>
        <p:spPr>
          <a:xfrm>
            <a:off x="4800600" y="1803400"/>
            <a:ext cx="101600" cy="0"/>
          </a:xfrm>
          <a:prstGeom prst="line">
            <a:avLst/>
          </a:prstGeom>
          <a:ln w="1651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Freeform 99"/>
          <p:cNvSpPr/>
          <p:nvPr/>
        </p:nvSpPr>
        <p:spPr>
          <a:xfrm>
            <a:off x="4902200" y="17653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101" name="Connector 100"/>
          <p:cNvCxnSpPr/>
          <p:nvPr/>
        </p:nvCxnSpPr>
        <p:spPr>
          <a:xfrm flipV="1">
            <a:off x="5346700" y="2032000"/>
            <a:ext cx="0" cy="381000"/>
          </a:xfrm>
          <a:prstGeom prst="line">
            <a:avLst/>
          </a:prstGeom>
          <a:ln w="1524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Freeform 101"/>
          <p:cNvSpPr/>
          <p:nvPr/>
        </p:nvSpPr>
        <p:spPr>
          <a:xfrm>
            <a:off x="5308600" y="19431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3" y="0"/>
                </a:moveTo>
                <a:lnTo>
                  <a:pt x="6" y="7"/>
                </a:lnTo>
                <a:lnTo>
                  <a:pt x="0" y="7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103" name="Connector 102"/>
          <p:cNvCxnSpPr/>
          <p:nvPr/>
        </p:nvCxnSpPr>
        <p:spPr>
          <a:xfrm flipV="1">
            <a:off x="4686300" y="2019300"/>
            <a:ext cx="0" cy="393700"/>
          </a:xfrm>
          <a:prstGeom prst="line">
            <a:avLst/>
          </a:prstGeom>
          <a:ln w="12700">
            <a:solidFill>
              <a:srgbClr val="10101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Freeform 103"/>
          <p:cNvSpPr/>
          <p:nvPr/>
        </p:nvSpPr>
        <p:spPr>
          <a:xfrm>
            <a:off x="4648200" y="19431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3" y="0"/>
                </a:moveTo>
                <a:lnTo>
                  <a:pt x="6" y="6"/>
                </a:lnTo>
                <a:lnTo>
                  <a:pt x="0" y="6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05" name="Rounded Rectangle 104"/>
          <p:cNvSpPr/>
          <p:nvPr/>
        </p:nvSpPr>
        <p:spPr>
          <a:xfrm>
            <a:off x="2895600" y="3746500"/>
            <a:ext cx="1409700" cy="1092200"/>
          </a:xfrm>
          <a:prstGeom prst="roundRect">
            <a:avLst>
              <a:gd name="adj" fmla="val 8000"/>
            </a:avLst>
          </a:prstGeom>
          <a:solidFill>
            <a:srgbClr val="FFF2F0"/>
          </a:solidFill>
          <a:ln w="13970">
            <a:solidFill>
              <a:srgbClr val="E33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06" name="TextBox 105"/>
          <p:cNvSpPr txBox="1"/>
          <p:nvPr/>
        </p:nvSpPr>
        <p:spPr>
          <a:xfrm>
            <a:off x="2984500" y="3860800"/>
            <a:ext cx="1231900" cy="406400"/>
          </a:xfrm>
          <a:prstGeom prst="rect">
            <a:avLst/>
          </a:prstGeom>
          <a:noFill/>
          <a:effectLst/>
        </p:spPr>
        <p:txBody>
          <a:bodyPr wrap="none" lIns="10160" rIns="10160" tIns="10160" bIns="1016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1010"/>
                </a:solidFill>
                <a:latin typeface="Arial"/>
              </a:rPr>
              <a:t>Patch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01010"/>
                </a:solidFill>
                <a:latin typeface="Arial"/>
              </a:rPr>
              <a:t>projection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3175000" y="4406900"/>
            <a:ext cx="113876" cy="71966"/>
          </a:xfrm>
          <a:prstGeom prst="roundRect">
            <a:avLst>
              <a:gd name="adj" fmla="val 8000"/>
            </a:avLst>
          </a:prstGeom>
          <a:solidFill>
            <a:srgbClr val="FFE2E1"/>
          </a:solidFill>
          <a:ln w="4445">
            <a:solidFill>
              <a:srgbClr val="E8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08" name="Freeform 107"/>
          <p:cNvSpPr/>
          <p:nvPr/>
        </p:nvSpPr>
        <p:spPr>
          <a:xfrm>
            <a:off x="3200400" y="4445000"/>
            <a:ext cx="63500" cy="0"/>
          </a:xfrm>
          <a:custGeom>
            <a:avLst/>
            <a:gdLst/>
            <a:ahLst/>
            <a:cxnLst/>
            <a:rect l="l" t="t" r="r" b="b"/>
            <a:pathLst>
              <a:path w="5" h="0">
                <a:moveTo>
                  <a:pt x="0" y="0"/>
                </a:moveTo>
                <a:lnTo>
                  <a:pt x="1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0"/>
                </a:lnTo>
              </a:path>
            </a:pathLst>
          </a:custGeom>
          <a:noFill/>
          <a:ln w="8890">
            <a:solidFill>
              <a:srgbClr val="E33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09" name="Rounded Rectangle 108"/>
          <p:cNvSpPr/>
          <p:nvPr/>
        </p:nvSpPr>
        <p:spPr>
          <a:xfrm>
            <a:off x="3316816" y="4406900"/>
            <a:ext cx="113876" cy="71966"/>
          </a:xfrm>
          <a:prstGeom prst="roundRect">
            <a:avLst>
              <a:gd name="adj" fmla="val 8000"/>
            </a:avLst>
          </a:prstGeom>
          <a:solidFill>
            <a:srgbClr val="FFE2E1"/>
          </a:solidFill>
          <a:ln w="4445">
            <a:solidFill>
              <a:srgbClr val="E8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10" name="Freeform 109"/>
          <p:cNvSpPr/>
          <p:nvPr/>
        </p:nvSpPr>
        <p:spPr>
          <a:xfrm>
            <a:off x="3340100" y="4445000"/>
            <a:ext cx="63500" cy="0"/>
          </a:xfrm>
          <a:custGeom>
            <a:avLst/>
            <a:gdLst/>
            <a:ahLst/>
            <a:cxnLst/>
            <a:rect l="l" t="t" r="r" b="b"/>
            <a:pathLst>
              <a:path w="5" h="0">
                <a:moveTo>
                  <a:pt x="0" y="0"/>
                </a:moveTo>
                <a:lnTo>
                  <a:pt x="1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0"/>
                </a:lnTo>
              </a:path>
            </a:pathLst>
          </a:custGeom>
          <a:noFill/>
          <a:ln w="8890">
            <a:solidFill>
              <a:srgbClr val="E33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11" name="Rounded Rectangle 110"/>
          <p:cNvSpPr/>
          <p:nvPr/>
        </p:nvSpPr>
        <p:spPr>
          <a:xfrm>
            <a:off x="3458633" y="4406900"/>
            <a:ext cx="113876" cy="71966"/>
          </a:xfrm>
          <a:prstGeom prst="roundRect">
            <a:avLst>
              <a:gd name="adj" fmla="val 8000"/>
            </a:avLst>
          </a:prstGeom>
          <a:solidFill>
            <a:srgbClr val="FFE2E1"/>
          </a:solidFill>
          <a:ln w="4445">
            <a:solidFill>
              <a:srgbClr val="E8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12" name="Freeform 111"/>
          <p:cNvSpPr/>
          <p:nvPr/>
        </p:nvSpPr>
        <p:spPr>
          <a:xfrm>
            <a:off x="3479800" y="44450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0" y="0"/>
                </a:moveTo>
                <a:lnTo>
                  <a:pt x="1" y="0"/>
                </a:lnTo>
                <a:lnTo>
                  <a:pt x="2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</a:path>
            </a:pathLst>
          </a:custGeom>
          <a:noFill/>
          <a:ln w="8890">
            <a:solidFill>
              <a:srgbClr val="E33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13" name="Rounded Rectangle 112"/>
          <p:cNvSpPr/>
          <p:nvPr/>
        </p:nvSpPr>
        <p:spPr>
          <a:xfrm>
            <a:off x="3600450" y="4406900"/>
            <a:ext cx="113876" cy="71966"/>
          </a:xfrm>
          <a:prstGeom prst="roundRect">
            <a:avLst>
              <a:gd name="adj" fmla="val 8000"/>
            </a:avLst>
          </a:prstGeom>
          <a:solidFill>
            <a:srgbClr val="FFE2E1"/>
          </a:solidFill>
          <a:ln w="4445">
            <a:solidFill>
              <a:srgbClr val="E8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14" name="Freeform 113"/>
          <p:cNvSpPr/>
          <p:nvPr/>
        </p:nvSpPr>
        <p:spPr>
          <a:xfrm>
            <a:off x="3632200" y="4445000"/>
            <a:ext cx="63500" cy="0"/>
          </a:xfrm>
          <a:custGeom>
            <a:avLst/>
            <a:gdLst/>
            <a:ahLst/>
            <a:cxnLst/>
            <a:rect l="l" t="t" r="r" b="b"/>
            <a:pathLst>
              <a:path w="5" h="0">
                <a:moveTo>
                  <a:pt x="0" y="0"/>
                </a:moveTo>
                <a:lnTo>
                  <a:pt x="0" y="0"/>
                </a:lnTo>
                <a:lnTo>
                  <a:pt x="1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noFill/>
          <a:ln w="8890">
            <a:solidFill>
              <a:srgbClr val="E33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15" name="Rounded Rectangle 114"/>
          <p:cNvSpPr/>
          <p:nvPr/>
        </p:nvSpPr>
        <p:spPr>
          <a:xfrm>
            <a:off x="3742266" y="4406900"/>
            <a:ext cx="113876" cy="71966"/>
          </a:xfrm>
          <a:prstGeom prst="roundRect">
            <a:avLst>
              <a:gd name="adj" fmla="val 8000"/>
            </a:avLst>
          </a:prstGeom>
          <a:solidFill>
            <a:srgbClr val="FFE2E1"/>
          </a:solidFill>
          <a:ln w="4445">
            <a:solidFill>
              <a:srgbClr val="E8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16" name="Freeform 115"/>
          <p:cNvSpPr/>
          <p:nvPr/>
        </p:nvSpPr>
        <p:spPr>
          <a:xfrm>
            <a:off x="3771900" y="4445000"/>
            <a:ext cx="63500" cy="0"/>
          </a:xfrm>
          <a:custGeom>
            <a:avLst/>
            <a:gdLst/>
            <a:ahLst/>
            <a:cxnLst/>
            <a:rect l="l" t="t" r="r" b="b"/>
            <a:pathLst>
              <a:path w="5" h="0">
                <a:moveTo>
                  <a:pt x="0" y="0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noFill/>
          <a:ln w="8890">
            <a:solidFill>
              <a:srgbClr val="E33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17" name="Rounded Rectangle 116"/>
          <p:cNvSpPr/>
          <p:nvPr/>
        </p:nvSpPr>
        <p:spPr>
          <a:xfrm>
            <a:off x="3884083" y="4406900"/>
            <a:ext cx="113876" cy="71966"/>
          </a:xfrm>
          <a:prstGeom prst="roundRect">
            <a:avLst>
              <a:gd name="adj" fmla="val 8000"/>
            </a:avLst>
          </a:prstGeom>
          <a:solidFill>
            <a:srgbClr val="FFE2E1"/>
          </a:solidFill>
          <a:ln w="4445">
            <a:solidFill>
              <a:srgbClr val="E8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18" name="Freeform 117"/>
          <p:cNvSpPr/>
          <p:nvPr/>
        </p:nvSpPr>
        <p:spPr>
          <a:xfrm>
            <a:off x="3911600" y="44450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0" y="0"/>
                </a:move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5" y="0"/>
                </a:lnTo>
              </a:path>
            </a:pathLst>
          </a:custGeom>
          <a:noFill/>
          <a:ln w="8890">
            <a:solidFill>
              <a:srgbClr val="E33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19" name="Rounded Rectangle 118"/>
          <p:cNvSpPr/>
          <p:nvPr/>
        </p:nvSpPr>
        <p:spPr>
          <a:xfrm>
            <a:off x="3175000" y="4529666"/>
            <a:ext cx="113876" cy="71966"/>
          </a:xfrm>
          <a:prstGeom prst="roundRect">
            <a:avLst>
              <a:gd name="adj" fmla="val 8000"/>
            </a:avLst>
          </a:prstGeom>
          <a:solidFill>
            <a:srgbClr val="FFE2E1"/>
          </a:solidFill>
          <a:ln w="4445">
            <a:solidFill>
              <a:srgbClr val="E8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20" name="Freeform 119"/>
          <p:cNvSpPr/>
          <p:nvPr/>
        </p:nvSpPr>
        <p:spPr>
          <a:xfrm>
            <a:off x="3200400" y="4572000"/>
            <a:ext cx="63500" cy="0"/>
          </a:xfrm>
          <a:custGeom>
            <a:avLst/>
            <a:gdLst/>
            <a:ahLst/>
            <a:cxnLst/>
            <a:rect l="l" t="t" r="r" b="b"/>
            <a:pathLst>
              <a:path w="5" h="0">
                <a:moveTo>
                  <a:pt x="0" y="0"/>
                </a:moveTo>
                <a:lnTo>
                  <a:pt x="1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0"/>
                </a:lnTo>
              </a:path>
            </a:pathLst>
          </a:custGeom>
          <a:noFill/>
          <a:ln w="8890">
            <a:solidFill>
              <a:srgbClr val="E33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21" name="Rounded Rectangle 120"/>
          <p:cNvSpPr/>
          <p:nvPr/>
        </p:nvSpPr>
        <p:spPr>
          <a:xfrm>
            <a:off x="3316816" y="4529666"/>
            <a:ext cx="113876" cy="71966"/>
          </a:xfrm>
          <a:prstGeom prst="roundRect">
            <a:avLst>
              <a:gd name="adj" fmla="val 8000"/>
            </a:avLst>
          </a:prstGeom>
          <a:solidFill>
            <a:srgbClr val="FFE2E1"/>
          </a:solidFill>
          <a:ln w="4445">
            <a:solidFill>
              <a:srgbClr val="E8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22" name="Freeform 121"/>
          <p:cNvSpPr/>
          <p:nvPr/>
        </p:nvSpPr>
        <p:spPr>
          <a:xfrm>
            <a:off x="3340100" y="4572000"/>
            <a:ext cx="63500" cy="0"/>
          </a:xfrm>
          <a:custGeom>
            <a:avLst/>
            <a:gdLst/>
            <a:ahLst/>
            <a:cxnLst/>
            <a:rect l="l" t="t" r="r" b="b"/>
            <a:pathLst>
              <a:path w="5" h="0">
                <a:moveTo>
                  <a:pt x="0" y="0"/>
                </a:moveTo>
                <a:lnTo>
                  <a:pt x="1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0"/>
                </a:lnTo>
              </a:path>
            </a:pathLst>
          </a:custGeom>
          <a:noFill/>
          <a:ln w="8890">
            <a:solidFill>
              <a:srgbClr val="E33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23" name="Rounded Rectangle 122"/>
          <p:cNvSpPr/>
          <p:nvPr/>
        </p:nvSpPr>
        <p:spPr>
          <a:xfrm>
            <a:off x="3458633" y="4529666"/>
            <a:ext cx="113876" cy="71966"/>
          </a:xfrm>
          <a:prstGeom prst="roundRect">
            <a:avLst>
              <a:gd name="adj" fmla="val 8000"/>
            </a:avLst>
          </a:prstGeom>
          <a:solidFill>
            <a:srgbClr val="FFE2E1"/>
          </a:solidFill>
          <a:ln w="4445">
            <a:solidFill>
              <a:srgbClr val="E8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24" name="Freeform 123"/>
          <p:cNvSpPr/>
          <p:nvPr/>
        </p:nvSpPr>
        <p:spPr>
          <a:xfrm>
            <a:off x="3479800" y="4572000"/>
            <a:ext cx="76200" cy="0"/>
          </a:xfrm>
          <a:custGeom>
            <a:avLst/>
            <a:gdLst/>
            <a:ahLst/>
            <a:cxnLst/>
            <a:rect l="l" t="t" r="r" b="b"/>
            <a:pathLst>
              <a:path w="6" h="0">
                <a:moveTo>
                  <a:pt x="0" y="0"/>
                </a:moveTo>
                <a:lnTo>
                  <a:pt x="1" y="0"/>
                </a:lnTo>
                <a:lnTo>
                  <a:pt x="2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</a:path>
            </a:pathLst>
          </a:custGeom>
          <a:noFill/>
          <a:ln w="8890">
            <a:solidFill>
              <a:srgbClr val="E33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25" name="Rounded Rectangle 124"/>
          <p:cNvSpPr/>
          <p:nvPr/>
        </p:nvSpPr>
        <p:spPr>
          <a:xfrm>
            <a:off x="3600450" y="4529666"/>
            <a:ext cx="113876" cy="71966"/>
          </a:xfrm>
          <a:prstGeom prst="roundRect">
            <a:avLst>
              <a:gd name="adj" fmla="val 8000"/>
            </a:avLst>
          </a:prstGeom>
          <a:solidFill>
            <a:srgbClr val="FFE2E1"/>
          </a:solidFill>
          <a:ln w="4445">
            <a:solidFill>
              <a:srgbClr val="E8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26" name="Freeform 125"/>
          <p:cNvSpPr/>
          <p:nvPr/>
        </p:nvSpPr>
        <p:spPr>
          <a:xfrm>
            <a:off x="3632200" y="4572000"/>
            <a:ext cx="63500" cy="0"/>
          </a:xfrm>
          <a:custGeom>
            <a:avLst/>
            <a:gdLst/>
            <a:ahLst/>
            <a:cxnLst/>
            <a:rect l="l" t="t" r="r" b="b"/>
            <a:pathLst>
              <a:path w="5" h="0">
                <a:moveTo>
                  <a:pt x="0" y="0"/>
                </a:moveTo>
                <a:lnTo>
                  <a:pt x="0" y="0"/>
                </a:lnTo>
                <a:lnTo>
                  <a:pt x="1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noFill/>
          <a:ln w="8890">
            <a:solidFill>
              <a:srgbClr val="E33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27" name="Rounded Rectangle 126"/>
          <p:cNvSpPr/>
          <p:nvPr/>
        </p:nvSpPr>
        <p:spPr>
          <a:xfrm>
            <a:off x="3742266" y="4529666"/>
            <a:ext cx="113876" cy="71966"/>
          </a:xfrm>
          <a:prstGeom prst="roundRect">
            <a:avLst>
              <a:gd name="adj" fmla="val 8000"/>
            </a:avLst>
          </a:prstGeom>
          <a:solidFill>
            <a:srgbClr val="FFE2E1"/>
          </a:solidFill>
          <a:ln w="4445">
            <a:solidFill>
              <a:srgbClr val="E8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28" name="Freeform 127"/>
          <p:cNvSpPr/>
          <p:nvPr/>
        </p:nvSpPr>
        <p:spPr>
          <a:xfrm>
            <a:off x="3771900" y="4572000"/>
            <a:ext cx="63500" cy="0"/>
          </a:xfrm>
          <a:custGeom>
            <a:avLst/>
            <a:gdLst/>
            <a:ahLst/>
            <a:cxnLst/>
            <a:rect l="l" t="t" r="r" b="b"/>
            <a:pathLst>
              <a:path w="5" h="0">
                <a:moveTo>
                  <a:pt x="0" y="0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noFill/>
          <a:ln w="8890">
            <a:solidFill>
              <a:srgbClr val="E33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29" name="Rounded Rectangle 128"/>
          <p:cNvSpPr/>
          <p:nvPr/>
        </p:nvSpPr>
        <p:spPr>
          <a:xfrm>
            <a:off x="3884083" y="4529666"/>
            <a:ext cx="113876" cy="71966"/>
          </a:xfrm>
          <a:prstGeom prst="roundRect">
            <a:avLst>
              <a:gd name="adj" fmla="val 8000"/>
            </a:avLst>
          </a:prstGeom>
          <a:solidFill>
            <a:srgbClr val="FFE2E1"/>
          </a:solidFill>
          <a:ln w="4445">
            <a:solidFill>
              <a:srgbClr val="E8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30" name="Freeform 129"/>
          <p:cNvSpPr/>
          <p:nvPr/>
        </p:nvSpPr>
        <p:spPr>
          <a:xfrm>
            <a:off x="3911600" y="4572000"/>
            <a:ext cx="63500" cy="0"/>
          </a:xfrm>
          <a:custGeom>
            <a:avLst/>
            <a:gdLst/>
            <a:ahLst/>
            <a:cxnLst/>
            <a:rect l="l" t="t" r="r" b="b"/>
            <a:pathLst>
              <a:path w="5" h="0">
                <a:moveTo>
                  <a:pt x="0" y="0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noFill/>
          <a:ln w="8890">
            <a:solidFill>
              <a:srgbClr val="E33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31" name="Rounded Rectangle 130"/>
          <p:cNvSpPr/>
          <p:nvPr/>
        </p:nvSpPr>
        <p:spPr>
          <a:xfrm>
            <a:off x="3175000" y="4652433"/>
            <a:ext cx="113876" cy="71966"/>
          </a:xfrm>
          <a:prstGeom prst="roundRect">
            <a:avLst>
              <a:gd name="adj" fmla="val 8000"/>
            </a:avLst>
          </a:prstGeom>
          <a:solidFill>
            <a:srgbClr val="FFE2E1"/>
          </a:solidFill>
          <a:ln w="4445">
            <a:solidFill>
              <a:srgbClr val="E8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32" name="Freeform 131"/>
          <p:cNvSpPr/>
          <p:nvPr/>
        </p:nvSpPr>
        <p:spPr>
          <a:xfrm>
            <a:off x="3200400" y="46863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3" y="1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</a:path>
            </a:pathLst>
          </a:custGeom>
          <a:noFill/>
          <a:ln w="8890">
            <a:solidFill>
              <a:srgbClr val="E33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33" name="Rounded Rectangle 132"/>
          <p:cNvSpPr/>
          <p:nvPr/>
        </p:nvSpPr>
        <p:spPr>
          <a:xfrm>
            <a:off x="3316816" y="4652433"/>
            <a:ext cx="113876" cy="71966"/>
          </a:xfrm>
          <a:prstGeom prst="roundRect">
            <a:avLst>
              <a:gd name="adj" fmla="val 8000"/>
            </a:avLst>
          </a:prstGeom>
          <a:solidFill>
            <a:srgbClr val="FFE2E1"/>
          </a:solidFill>
          <a:ln w="4445">
            <a:solidFill>
              <a:srgbClr val="E8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34" name="Freeform 133"/>
          <p:cNvSpPr/>
          <p:nvPr/>
        </p:nvSpPr>
        <p:spPr>
          <a:xfrm>
            <a:off x="3340100" y="4699000"/>
            <a:ext cx="63500" cy="0"/>
          </a:xfrm>
          <a:custGeom>
            <a:avLst/>
            <a:gdLst/>
            <a:ahLst/>
            <a:cxnLst/>
            <a:rect l="l" t="t" r="r" b="b"/>
            <a:pathLst>
              <a:path w="5" h="0">
                <a:moveTo>
                  <a:pt x="0" y="0"/>
                </a:moveTo>
                <a:lnTo>
                  <a:pt x="1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0"/>
                </a:lnTo>
              </a:path>
            </a:pathLst>
          </a:custGeom>
          <a:noFill/>
          <a:ln w="8890">
            <a:solidFill>
              <a:srgbClr val="E33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35" name="Rounded Rectangle 134"/>
          <p:cNvSpPr/>
          <p:nvPr/>
        </p:nvSpPr>
        <p:spPr>
          <a:xfrm>
            <a:off x="3458633" y="4652433"/>
            <a:ext cx="113876" cy="71966"/>
          </a:xfrm>
          <a:prstGeom prst="roundRect">
            <a:avLst>
              <a:gd name="adj" fmla="val 8000"/>
            </a:avLst>
          </a:prstGeom>
          <a:solidFill>
            <a:srgbClr val="FFE2E1"/>
          </a:solidFill>
          <a:ln w="4445">
            <a:solidFill>
              <a:srgbClr val="E8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36" name="Freeform 135"/>
          <p:cNvSpPr/>
          <p:nvPr/>
        </p:nvSpPr>
        <p:spPr>
          <a:xfrm>
            <a:off x="3479800" y="46863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0" y="0"/>
                </a:moveTo>
                <a:lnTo>
                  <a:pt x="1" y="1"/>
                </a:lnTo>
                <a:lnTo>
                  <a:pt x="2" y="1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5" y="1"/>
                </a:lnTo>
                <a:lnTo>
                  <a:pt x="6" y="1"/>
                </a:lnTo>
              </a:path>
            </a:pathLst>
          </a:custGeom>
          <a:noFill/>
          <a:ln w="8890">
            <a:solidFill>
              <a:srgbClr val="E33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37" name="Rounded Rectangle 136"/>
          <p:cNvSpPr/>
          <p:nvPr/>
        </p:nvSpPr>
        <p:spPr>
          <a:xfrm>
            <a:off x="3600450" y="4652433"/>
            <a:ext cx="113876" cy="71966"/>
          </a:xfrm>
          <a:prstGeom prst="roundRect">
            <a:avLst>
              <a:gd name="adj" fmla="val 8000"/>
            </a:avLst>
          </a:prstGeom>
          <a:solidFill>
            <a:srgbClr val="FFE2E1"/>
          </a:solidFill>
          <a:ln w="4445">
            <a:solidFill>
              <a:srgbClr val="E8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38" name="Freeform 137"/>
          <p:cNvSpPr/>
          <p:nvPr/>
        </p:nvSpPr>
        <p:spPr>
          <a:xfrm>
            <a:off x="3632200" y="46863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0" y="1"/>
                </a:moveTo>
                <a:lnTo>
                  <a:pt x="0" y="1"/>
                </a:lnTo>
                <a:lnTo>
                  <a:pt x="1" y="1"/>
                </a:lnTo>
                <a:lnTo>
                  <a:pt x="1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</a:path>
            </a:pathLst>
          </a:custGeom>
          <a:noFill/>
          <a:ln w="8890">
            <a:solidFill>
              <a:srgbClr val="E33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39" name="Rounded Rectangle 138"/>
          <p:cNvSpPr/>
          <p:nvPr/>
        </p:nvSpPr>
        <p:spPr>
          <a:xfrm>
            <a:off x="3742266" y="4652433"/>
            <a:ext cx="113876" cy="71966"/>
          </a:xfrm>
          <a:prstGeom prst="roundRect">
            <a:avLst>
              <a:gd name="adj" fmla="val 8000"/>
            </a:avLst>
          </a:prstGeom>
          <a:solidFill>
            <a:srgbClr val="FFE2E1"/>
          </a:solidFill>
          <a:ln w="4445">
            <a:solidFill>
              <a:srgbClr val="E8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40" name="Freeform 139"/>
          <p:cNvSpPr/>
          <p:nvPr/>
        </p:nvSpPr>
        <p:spPr>
          <a:xfrm>
            <a:off x="3771900" y="4699000"/>
            <a:ext cx="63500" cy="0"/>
          </a:xfrm>
          <a:custGeom>
            <a:avLst/>
            <a:gdLst/>
            <a:ahLst/>
            <a:cxnLst/>
            <a:rect l="l" t="t" r="r" b="b"/>
            <a:pathLst>
              <a:path w="5" h="0">
                <a:moveTo>
                  <a:pt x="0" y="0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noFill/>
          <a:ln w="8890">
            <a:solidFill>
              <a:srgbClr val="E33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41" name="Rounded Rectangle 140"/>
          <p:cNvSpPr/>
          <p:nvPr/>
        </p:nvSpPr>
        <p:spPr>
          <a:xfrm>
            <a:off x="3884083" y="4652433"/>
            <a:ext cx="113876" cy="71966"/>
          </a:xfrm>
          <a:prstGeom prst="roundRect">
            <a:avLst>
              <a:gd name="adj" fmla="val 8000"/>
            </a:avLst>
          </a:prstGeom>
          <a:solidFill>
            <a:srgbClr val="FFE2E1"/>
          </a:solidFill>
          <a:ln w="4445">
            <a:solidFill>
              <a:srgbClr val="E86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42" name="Freeform 141"/>
          <p:cNvSpPr/>
          <p:nvPr/>
        </p:nvSpPr>
        <p:spPr>
          <a:xfrm>
            <a:off x="3911600" y="46863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0" y="1"/>
                </a:moveTo>
                <a:lnTo>
                  <a:pt x="0" y="1"/>
                </a:lnTo>
                <a:lnTo>
                  <a:pt x="1" y="0"/>
                </a:lnTo>
                <a:lnTo>
                  <a:pt x="2" y="1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4" y="1"/>
                </a:lnTo>
                <a:lnTo>
                  <a:pt x="5" y="0"/>
                </a:lnTo>
              </a:path>
            </a:pathLst>
          </a:custGeom>
          <a:noFill/>
          <a:ln w="8890">
            <a:solidFill>
              <a:srgbClr val="E33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143" name="Connector 142"/>
          <p:cNvCxnSpPr/>
          <p:nvPr/>
        </p:nvCxnSpPr>
        <p:spPr>
          <a:xfrm flipV="1">
            <a:off x="3213100" y="4559300"/>
            <a:ext cx="0" cy="152400"/>
          </a:xfrm>
          <a:prstGeom prst="line">
            <a:avLst/>
          </a:prstGeom>
          <a:ln w="6985">
            <a:solidFill>
              <a:srgbClr val="E336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314700" y="4533900"/>
            <a:ext cx="0" cy="177800"/>
          </a:xfrm>
          <a:prstGeom prst="line">
            <a:avLst/>
          </a:prstGeom>
          <a:ln w="6985">
            <a:solidFill>
              <a:srgbClr val="E336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3416300" y="4508500"/>
            <a:ext cx="0" cy="203200"/>
          </a:xfrm>
          <a:prstGeom prst="line">
            <a:avLst/>
          </a:prstGeom>
          <a:ln w="6985">
            <a:solidFill>
              <a:srgbClr val="E336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3517900" y="4483100"/>
            <a:ext cx="0" cy="228600"/>
          </a:xfrm>
          <a:prstGeom prst="line">
            <a:avLst/>
          </a:prstGeom>
          <a:ln w="6985">
            <a:solidFill>
              <a:srgbClr val="E336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Oval 146"/>
          <p:cNvSpPr/>
          <p:nvPr/>
        </p:nvSpPr>
        <p:spPr>
          <a:xfrm>
            <a:off x="4572000" y="4191000"/>
            <a:ext cx="228600" cy="228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148" name="Connector 147"/>
          <p:cNvCxnSpPr/>
          <p:nvPr/>
        </p:nvCxnSpPr>
        <p:spPr>
          <a:xfrm>
            <a:off x="4622800" y="4305300"/>
            <a:ext cx="127000" cy="0"/>
          </a:xfrm>
          <a:prstGeom prst="line">
            <a:avLst/>
          </a:prstGeom>
          <a:ln w="1524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4686300" y="4241800"/>
            <a:ext cx="0" cy="127000"/>
          </a:xfrm>
          <a:prstGeom prst="line">
            <a:avLst/>
          </a:prstGeom>
          <a:ln w="1524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ectangle 149"/>
          <p:cNvSpPr/>
          <p:nvPr/>
        </p:nvSpPr>
        <p:spPr>
          <a:xfrm>
            <a:off x="4991100" y="4140200"/>
            <a:ext cx="177800" cy="228600"/>
          </a:xfrm>
          <a:prstGeom prst="rect">
            <a:avLst/>
          </a:prstGeom>
          <a:solidFill>
            <a:srgbClr val="F7AAA3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51" name="Rectangle 150"/>
          <p:cNvSpPr/>
          <p:nvPr/>
        </p:nvSpPr>
        <p:spPr>
          <a:xfrm>
            <a:off x="5194300" y="4140200"/>
            <a:ext cx="177800" cy="228600"/>
          </a:xfrm>
          <a:prstGeom prst="rect">
            <a:avLst/>
          </a:prstGeom>
          <a:solidFill>
            <a:srgbClr val="F7AAA3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52" name="Rectangle 151"/>
          <p:cNvSpPr/>
          <p:nvPr/>
        </p:nvSpPr>
        <p:spPr>
          <a:xfrm>
            <a:off x="5397500" y="4140200"/>
            <a:ext cx="177800" cy="228600"/>
          </a:xfrm>
          <a:prstGeom prst="rect">
            <a:avLst/>
          </a:prstGeom>
          <a:solidFill>
            <a:srgbClr val="F7AAA3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53" name="Rectangle 152"/>
          <p:cNvSpPr/>
          <p:nvPr/>
        </p:nvSpPr>
        <p:spPr>
          <a:xfrm>
            <a:off x="5600700" y="4140200"/>
            <a:ext cx="177800" cy="228600"/>
          </a:xfrm>
          <a:prstGeom prst="rect">
            <a:avLst/>
          </a:prstGeom>
          <a:solidFill>
            <a:srgbClr val="F7AAA3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54" name="Rectangle 153"/>
          <p:cNvSpPr/>
          <p:nvPr/>
        </p:nvSpPr>
        <p:spPr>
          <a:xfrm>
            <a:off x="5803900" y="4140200"/>
            <a:ext cx="177800" cy="228600"/>
          </a:xfrm>
          <a:prstGeom prst="rect">
            <a:avLst/>
          </a:prstGeom>
          <a:solidFill>
            <a:srgbClr val="F7AAA3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55" name="TextBox 154"/>
          <p:cNvSpPr txBox="1"/>
          <p:nvPr/>
        </p:nvSpPr>
        <p:spPr>
          <a:xfrm>
            <a:off x="4851400" y="3746500"/>
            <a:ext cx="1219200" cy="2794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01010"/>
                </a:solidFill>
                <a:latin typeface="Arial"/>
              </a:rPr>
              <a:t>Zₚ ∈ ℝᵀˣᵈ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4330700" y="4902200"/>
            <a:ext cx="1765300" cy="850900"/>
          </a:xfrm>
          <a:prstGeom prst="roundRect">
            <a:avLst>
              <a:gd name="adj" fmla="val 8000"/>
            </a:avLst>
          </a:prstGeom>
          <a:solidFill>
            <a:srgbClr val="FFF0EE"/>
          </a:solidFill>
          <a:ln w="12700">
            <a:solidFill>
              <a:srgbClr val="E33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57" name="TextBox 156"/>
          <p:cNvSpPr txBox="1"/>
          <p:nvPr/>
        </p:nvSpPr>
        <p:spPr>
          <a:xfrm>
            <a:off x="4495800" y="5003800"/>
            <a:ext cx="1435100" cy="647700"/>
          </a:xfrm>
          <a:prstGeom prst="rect">
            <a:avLst/>
          </a:prstGeom>
          <a:noFill/>
          <a:effectLst/>
        </p:spPr>
        <p:txBody>
          <a:bodyPr wrap="none" lIns="10160" rIns="10160" tIns="10160" bIns="1016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01010"/>
                </a:solidFill>
                <a:latin typeface="Arial"/>
              </a:rPr>
              <a:t>position +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60" b="1" i="0">
                <a:solidFill>
                  <a:srgbClr val="101010"/>
                </a:solidFill>
                <a:latin typeface="Arial"/>
              </a:rPr>
              <a:t>modality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2527300" y="4216400"/>
            <a:ext cx="266700" cy="0"/>
          </a:xfrm>
          <a:prstGeom prst="line">
            <a:avLst/>
          </a:prstGeom>
          <a:ln w="1778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Freeform 158"/>
          <p:cNvSpPr/>
          <p:nvPr/>
        </p:nvSpPr>
        <p:spPr>
          <a:xfrm>
            <a:off x="2794000" y="41656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160" name="Connector 159"/>
          <p:cNvCxnSpPr/>
          <p:nvPr/>
        </p:nvCxnSpPr>
        <p:spPr>
          <a:xfrm>
            <a:off x="4305300" y="4292600"/>
            <a:ext cx="165100" cy="0"/>
          </a:xfrm>
          <a:prstGeom prst="line">
            <a:avLst/>
          </a:prstGeom>
          <a:ln w="1651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Freeform 160"/>
          <p:cNvSpPr/>
          <p:nvPr/>
        </p:nvSpPr>
        <p:spPr>
          <a:xfrm>
            <a:off x="4470400" y="42545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162" name="Connector 161"/>
          <p:cNvCxnSpPr/>
          <p:nvPr/>
        </p:nvCxnSpPr>
        <p:spPr>
          <a:xfrm>
            <a:off x="4800600" y="4305300"/>
            <a:ext cx="101600" cy="0"/>
          </a:xfrm>
          <a:prstGeom prst="line">
            <a:avLst/>
          </a:prstGeom>
          <a:ln w="1651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Freeform 162"/>
          <p:cNvSpPr/>
          <p:nvPr/>
        </p:nvSpPr>
        <p:spPr>
          <a:xfrm>
            <a:off x="4902200" y="42672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164" name="Connector 163"/>
          <p:cNvCxnSpPr/>
          <p:nvPr/>
        </p:nvCxnSpPr>
        <p:spPr>
          <a:xfrm flipV="1">
            <a:off x="5346700" y="4533900"/>
            <a:ext cx="0" cy="368300"/>
          </a:xfrm>
          <a:prstGeom prst="line">
            <a:avLst/>
          </a:prstGeom>
          <a:ln w="1524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Freeform 164"/>
          <p:cNvSpPr/>
          <p:nvPr/>
        </p:nvSpPr>
        <p:spPr>
          <a:xfrm>
            <a:off x="5308600" y="44450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3" y="0"/>
                </a:moveTo>
                <a:lnTo>
                  <a:pt x="6" y="7"/>
                </a:lnTo>
                <a:lnTo>
                  <a:pt x="0" y="7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166" name="Connector 165"/>
          <p:cNvCxnSpPr/>
          <p:nvPr/>
        </p:nvCxnSpPr>
        <p:spPr>
          <a:xfrm flipV="1">
            <a:off x="4686300" y="4521200"/>
            <a:ext cx="0" cy="381000"/>
          </a:xfrm>
          <a:prstGeom prst="line">
            <a:avLst/>
          </a:prstGeom>
          <a:ln w="12700">
            <a:solidFill>
              <a:srgbClr val="10101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Freeform 166"/>
          <p:cNvSpPr/>
          <p:nvPr/>
        </p:nvSpPr>
        <p:spPr>
          <a:xfrm>
            <a:off x="4648200" y="4445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3" y="0"/>
                </a:moveTo>
                <a:lnTo>
                  <a:pt x="6" y="6"/>
                </a:lnTo>
                <a:lnTo>
                  <a:pt x="0" y="6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68" name="Rounded Rectangle 167"/>
          <p:cNvSpPr/>
          <p:nvPr/>
        </p:nvSpPr>
        <p:spPr>
          <a:xfrm>
            <a:off x="3365500" y="6807200"/>
            <a:ext cx="2336800" cy="787400"/>
          </a:xfrm>
          <a:prstGeom prst="roundRect">
            <a:avLst>
              <a:gd name="adj" fmla="val 8000"/>
            </a:avLst>
          </a:prstGeom>
          <a:solidFill>
            <a:srgbClr val="FBF8FF"/>
          </a:solidFill>
          <a:ln w="12700">
            <a:solidFill>
              <a:srgbClr val="A77BD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69" name="TextBox 168"/>
          <p:cNvSpPr txBox="1"/>
          <p:nvPr/>
        </p:nvSpPr>
        <p:spPr>
          <a:xfrm>
            <a:off x="3569182" y="6954723"/>
            <a:ext cx="1827593" cy="476199"/>
          </a:xfrm>
          <a:prstGeom prst="rect">
            <a:avLst/>
          </a:prstGeom>
          <a:noFill/>
          <a:effectLst/>
        </p:spPr>
        <p:txBody>
          <a:bodyPr wrap="none" lIns="10160" rIns="10160" tIns="10160" bIns="1016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 i="0">
                <a:solidFill>
                  <a:srgbClr val="5E35B1"/>
                </a:solidFill>
                <a:latin typeface="Arial"/>
              </a:rPr>
              <a:t>PE + ME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40" b="1" i="0">
                <a:solidFill>
                  <a:srgbClr val="5E35B1"/>
                </a:solidFill>
                <a:latin typeface="Arial"/>
              </a:rPr>
              <a:t>position / modality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172200" y="228600"/>
            <a:ext cx="3175000" cy="3175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062B68"/>
                </a:solidFill>
                <a:latin typeface="Arial"/>
              </a:rPr>
              <a:t>3) Token-Wise Residual Encoders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6477000" y="952500"/>
            <a:ext cx="1892300" cy="2857500"/>
          </a:xfrm>
          <a:prstGeom prst="roundRect">
            <a:avLst>
              <a:gd name="adj" fmla="val 8000"/>
            </a:avLst>
          </a:prstGeom>
          <a:solidFill>
            <a:srgbClr val="F2FAEF"/>
          </a:solidFill>
          <a:ln w="13970">
            <a:solidFill>
              <a:srgbClr val="2E8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72" name="TextBox 171"/>
          <p:cNvSpPr txBox="1"/>
          <p:nvPr/>
        </p:nvSpPr>
        <p:spPr>
          <a:xfrm>
            <a:off x="6642100" y="1054100"/>
            <a:ext cx="1562100" cy="4826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01010"/>
                </a:solidFill>
                <a:latin typeface="Arial"/>
              </a:rPr>
              <a:t>ECG residual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20" b="1" i="0">
                <a:solidFill>
                  <a:srgbClr val="101010"/>
                </a:solidFill>
                <a:latin typeface="Arial"/>
              </a:rPr>
              <a:t>MLP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6845300" y="1562100"/>
            <a:ext cx="1155700" cy="368300"/>
          </a:xfrm>
          <a:prstGeom prst="roundRect">
            <a:avLst>
              <a:gd name="adj" fmla="val 8000"/>
            </a:avLst>
          </a:prstGeom>
          <a:solidFill>
            <a:srgbClr val="FFF1B6"/>
          </a:solidFill>
          <a:ln w="10160">
            <a:solidFill>
              <a:srgbClr val="B9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74" name="TextBox 173"/>
          <p:cNvSpPr txBox="1"/>
          <p:nvPr/>
        </p:nvSpPr>
        <p:spPr>
          <a:xfrm>
            <a:off x="6883400" y="1587500"/>
            <a:ext cx="1079500" cy="3175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101010"/>
                </a:solidFill>
                <a:latin typeface="Arial"/>
              </a:rPr>
              <a:t>LayerNorm</a:t>
            </a:r>
          </a:p>
        </p:txBody>
      </p:sp>
      <p:cxnSp>
        <p:nvCxnSpPr>
          <p:cNvPr id="175" name="Connector 174"/>
          <p:cNvCxnSpPr/>
          <p:nvPr/>
        </p:nvCxnSpPr>
        <p:spPr>
          <a:xfrm>
            <a:off x="7423150" y="1930400"/>
            <a:ext cx="0" cy="6985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Freeform 175"/>
          <p:cNvSpPr/>
          <p:nvPr/>
        </p:nvSpPr>
        <p:spPr>
          <a:xfrm>
            <a:off x="7391400" y="20066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2" y="4"/>
                </a:moveTo>
                <a:lnTo>
                  <a:pt x="0" y="0"/>
                </a:lnTo>
                <a:lnTo>
                  <a:pt x="5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77" name="Rounded Rectangle 176"/>
          <p:cNvSpPr/>
          <p:nvPr/>
        </p:nvSpPr>
        <p:spPr>
          <a:xfrm>
            <a:off x="6845300" y="2057400"/>
            <a:ext cx="1155700" cy="368300"/>
          </a:xfrm>
          <a:prstGeom prst="roundRect">
            <a:avLst>
              <a:gd name="adj" fmla="val 8000"/>
            </a:avLst>
          </a:prstGeom>
          <a:solidFill>
            <a:srgbClr val="D9F0FF"/>
          </a:solidFill>
          <a:ln w="10160">
            <a:solidFill>
              <a:srgbClr val="829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78" name="TextBox 177"/>
          <p:cNvSpPr txBox="1"/>
          <p:nvPr/>
        </p:nvSpPr>
        <p:spPr>
          <a:xfrm>
            <a:off x="6883400" y="2082800"/>
            <a:ext cx="1079500" cy="3175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01010"/>
                </a:solidFill>
                <a:latin typeface="Arial"/>
              </a:rPr>
              <a:t>Token-wise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20" b="1" i="0">
                <a:solidFill>
                  <a:srgbClr val="101010"/>
                </a:solidFill>
                <a:latin typeface="Arial"/>
              </a:rPr>
              <a:t>MLP</a:t>
            </a:r>
          </a:p>
        </p:txBody>
      </p:sp>
      <p:cxnSp>
        <p:nvCxnSpPr>
          <p:cNvPr id="179" name="Connector 178"/>
          <p:cNvCxnSpPr/>
          <p:nvPr/>
        </p:nvCxnSpPr>
        <p:spPr>
          <a:xfrm>
            <a:off x="7423150" y="2425700"/>
            <a:ext cx="0" cy="6985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Freeform 179"/>
          <p:cNvSpPr/>
          <p:nvPr/>
        </p:nvSpPr>
        <p:spPr>
          <a:xfrm>
            <a:off x="7391400" y="24892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2" y="5"/>
                </a:moveTo>
                <a:lnTo>
                  <a:pt x="0" y="0"/>
                </a:lnTo>
                <a:lnTo>
                  <a:pt x="5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81" name="Rounded Rectangle 180"/>
          <p:cNvSpPr/>
          <p:nvPr/>
        </p:nvSpPr>
        <p:spPr>
          <a:xfrm>
            <a:off x="6845300" y="2552700"/>
            <a:ext cx="1155700" cy="368300"/>
          </a:xfrm>
          <a:prstGeom prst="roundRect">
            <a:avLst>
              <a:gd name="adj" fmla="val 8000"/>
            </a:avLst>
          </a:prstGeom>
          <a:solidFill>
            <a:srgbClr val="FFF1B6"/>
          </a:solidFill>
          <a:ln w="10160">
            <a:solidFill>
              <a:srgbClr val="B9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82" name="TextBox 181"/>
          <p:cNvSpPr txBox="1"/>
          <p:nvPr/>
        </p:nvSpPr>
        <p:spPr>
          <a:xfrm>
            <a:off x="6883400" y="2578100"/>
            <a:ext cx="1079500" cy="3175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101010"/>
                </a:solidFill>
                <a:latin typeface="Arial"/>
              </a:rPr>
              <a:t>Residual + Norm</a:t>
            </a:r>
          </a:p>
        </p:txBody>
      </p:sp>
      <p:cxnSp>
        <p:nvCxnSpPr>
          <p:cNvPr id="183" name="Connector 182"/>
          <p:cNvCxnSpPr/>
          <p:nvPr/>
        </p:nvCxnSpPr>
        <p:spPr>
          <a:xfrm>
            <a:off x="7423150" y="2921000"/>
            <a:ext cx="0" cy="6985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Freeform 183"/>
          <p:cNvSpPr/>
          <p:nvPr/>
        </p:nvSpPr>
        <p:spPr>
          <a:xfrm>
            <a:off x="7391400" y="29972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2" y="4"/>
                </a:moveTo>
                <a:lnTo>
                  <a:pt x="0" y="0"/>
                </a:lnTo>
                <a:lnTo>
                  <a:pt x="5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85" name="Rounded Rectangle 184"/>
          <p:cNvSpPr/>
          <p:nvPr/>
        </p:nvSpPr>
        <p:spPr>
          <a:xfrm>
            <a:off x="6845300" y="3048000"/>
            <a:ext cx="1155700" cy="368300"/>
          </a:xfrm>
          <a:prstGeom prst="roundRect">
            <a:avLst>
              <a:gd name="adj" fmla="val 8000"/>
            </a:avLst>
          </a:prstGeom>
          <a:solidFill>
            <a:srgbClr val="EEE1FF"/>
          </a:solidFill>
          <a:ln w="10160">
            <a:solidFill>
              <a:srgbClr val="829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86" name="TextBox 185"/>
          <p:cNvSpPr txBox="1"/>
          <p:nvPr/>
        </p:nvSpPr>
        <p:spPr>
          <a:xfrm>
            <a:off x="6883400" y="3073400"/>
            <a:ext cx="1079500" cy="3175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101010"/>
                </a:solidFill>
                <a:latin typeface="Arial"/>
              </a:rPr>
              <a:t>Independent tokens</a:t>
            </a:r>
          </a:p>
        </p:txBody>
      </p:sp>
      <p:cxnSp>
        <p:nvCxnSpPr>
          <p:cNvPr id="187" name="Connector 186"/>
          <p:cNvCxnSpPr/>
          <p:nvPr/>
        </p:nvCxnSpPr>
        <p:spPr>
          <a:xfrm>
            <a:off x="6629400" y="1739900"/>
            <a:ext cx="1587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Freeform 187"/>
          <p:cNvSpPr/>
          <p:nvPr/>
        </p:nvSpPr>
        <p:spPr>
          <a:xfrm>
            <a:off x="6781800" y="17145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5" y="2"/>
                </a:move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189" name="Connector 188"/>
          <p:cNvCxnSpPr/>
          <p:nvPr/>
        </p:nvCxnSpPr>
        <p:spPr>
          <a:xfrm>
            <a:off x="8001000" y="3238500"/>
            <a:ext cx="1587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Freeform 189"/>
          <p:cNvSpPr/>
          <p:nvPr/>
        </p:nvSpPr>
        <p:spPr>
          <a:xfrm>
            <a:off x="8153400" y="32131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5" y="2"/>
                </a:move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191" name="Connector 190"/>
          <p:cNvCxnSpPr/>
          <p:nvPr/>
        </p:nvCxnSpPr>
        <p:spPr>
          <a:xfrm>
            <a:off x="6705600" y="1676400"/>
            <a:ext cx="0" cy="1752600"/>
          </a:xfrm>
          <a:prstGeom prst="line">
            <a:avLst/>
          </a:prstGeom>
          <a:ln w="12700">
            <a:solidFill>
              <a:srgbClr val="2E8B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6705600" y="1676400"/>
            <a:ext cx="101600" cy="0"/>
          </a:xfrm>
          <a:prstGeom prst="line">
            <a:avLst/>
          </a:prstGeom>
          <a:ln w="12700">
            <a:solidFill>
              <a:srgbClr val="2E8B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Freeform 192"/>
          <p:cNvSpPr/>
          <p:nvPr/>
        </p:nvSpPr>
        <p:spPr>
          <a:xfrm>
            <a:off x="6807200" y="1651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solidFill>
            <a:srgbClr val="2E8B43"/>
          </a:solidFill>
          <a:ln w="6350">
            <a:solidFill>
              <a:srgbClr val="2E8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194" name="Connector 193"/>
          <p:cNvCxnSpPr/>
          <p:nvPr/>
        </p:nvCxnSpPr>
        <p:spPr>
          <a:xfrm>
            <a:off x="6705600" y="3429000"/>
            <a:ext cx="101600" cy="0"/>
          </a:xfrm>
          <a:prstGeom prst="line">
            <a:avLst/>
          </a:prstGeom>
          <a:ln w="12700">
            <a:solidFill>
              <a:srgbClr val="2E8B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Freeform 194"/>
          <p:cNvSpPr/>
          <p:nvPr/>
        </p:nvSpPr>
        <p:spPr>
          <a:xfrm>
            <a:off x="6807200" y="3403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solidFill>
            <a:srgbClr val="2E8B43"/>
          </a:solidFill>
          <a:ln w="6350">
            <a:solidFill>
              <a:srgbClr val="2E8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96" name="TextBox 195"/>
          <p:cNvSpPr txBox="1"/>
          <p:nvPr/>
        </p:nvSpPr>
        <p:spPr>
          <a:xfrm>
            <a:off x="7924800" y="3454400"/>
            <a:ext cx="381000" cy="2286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Arial"/>
              </a:rPr>
              <a:t/>
            </a:r>
          </a:p>
        </p:txBody>
      </p:sp>
      <p:cxnSp>
        <p:nvCxnSpPr>
          <p:cNvPr id="197" name="Connector 196"/>
          <p:cNvCxnSpPr/>
          <p:nvPr/>
        </p:nvCxnSpPr>
        <p:spPr>
          <a:xfrm>
            <a:off x="5994400" y="1778000"/>
            <a:ext cx="381000" cy="0"/>
          </a:xfrm>
          <a:prstGeom prst="line">
            <a:avLst/>
          </a:prstGeom>
          <a:ln w="1778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Freeform 197"/>
          <p:cNvSpPr/>
          <p:nvPr/>
        </p:nvSpPr>
        <p:spPr>
          <a:xfrm>
            <a:off x="6375400" y="17272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199" name="Connector 198"/>
          <p:cNvCxnSpPr/>
          <p:nvPr/>
        </p:nvCxnSpPr>
        <p:spPr>
          <a:xfrm>
            <a:off x="8369300" y="2070100"/>
            <a:ext cx="266700" cy="0"/>
          </a:xfrm>
          <a:prstGeom prst="line">
            <a:avLst/>
          </a:prstGeom>
          <a:ln w="1778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Freeform 199"/>
          <p:cNvSpPr/>
          <p:nvPr/>
        </p:nvSpPr>
        <p:spPr>
          <a:xfrm>
            <a:off x="8636000" y="20193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01" name="Rectangle 200"/>
          <p:cNvSpPr/>
          <p:nvPr/>
        </p:nvSpPr>
        <p:spPr>
          <a:xfrm>
            <a:off x="8801100" y="1879600"/>
            <a:ext cx="177800" cy="2286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02" name="Rectangle 201"/>
          <p:cNvSpPr/>
          <p:nvPr/>
        </p:nvSpPr>
        <p:spPr>
          <a:xfrm>
            <a:off x="9004300" y="1879600"/>
            <a:ext cx="177800" cy="2286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03" name="Rectangle 202"/>
          <p:cNvSpPr/>
          <p:nvPr/>
        </p:nvSpPr>
        <p:spPr>
          <a:xfrm>
            <a:off x="9207500" y="1879600"/>
            <a:ext cx="177800" cy="2286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04" name="Rectangle 203"/>
          <p:cNvSpPr/>
          <p:nvPr/>
        </p:nvSpPr>
        <p:spPr>
          <a:xfrm>
            <a:off x="9410700" y="1879600"/>
            <a:ext cx="177800" cy="2286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05" name="Rectangle 204"/>
          <p:cNvSpPr/>
          <p:nvPr/>
        </p:nvSpPr>
        <p:spPr>
          <a:xfrm>
            <a:off x="9613900" y="1879600"/>
            <a:ext cx="177800" cy="2286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06" name="Rectangle 205"/>
          <p:cNvSpPr/>
          <p:nvPr/>
        </p:nvSpPr>
        <p:spPr>
          <a:xfrm>
            <a:off x="9817100" y="1879600"/>
            <a:ext cx="177800" cy="2286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07" name="TextBox 206"/>
          <p:cNvSpPr txBox="1"/>
          <p:nvPr/>
        </p:nvSpPr>
        <p:spPr>
          <a:xfrm>
            <a:off x="8737600" y="1460500"/>
            <a:ext cx="1320800" cy="2794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01010"/>
                </a:solidFill>
                <a:latin typeface="Arial"/>
              </a:rPr>
              <a:t>Hₑ ∈ ℝᵀˣᵈ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6477000" y="4038600"/>
            <a:ext cx="1892300" cy="2857500"/>
          </a:xfrm>
          <a:prstGeom prst="roundRect">
            <a:avLst>
              <a:gd name="adj" fmla="val 8000"/>
            </a:avLst>
          </a:prstGeom>
          <a:solidFill>
            <a:srgbClr val="FFF2F0"/>
          </a:solidFill>
          <a:ln w="13970">
            <a:solidFill>
              <a:srgbClr val="E33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09" name="TextBox 208"/>
          <p:cNvSpPr txBox="1"/>
          <p:nvPr/>
        </p:nvSpPr>
        <p:spPr>
          <a:xfrm>
            <a:off x="6642100" y="4140200"/>
            <a:ext cx="1562100" cy="4826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01010"/>
                </a:solidFill>
                <a:latin typeface="Arial"/>
              </a:rPr>
              <a:t>PPG residual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20" b="1" i="0">
                <a:solidFill>
                  <a:srgbClr val="101010"/>
                </a:solidFill>
                <a:latin typeface="Arial"/>
              </a:rPr>
              <a:t>MLP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6845300" y="4648200"/>
            <a:ext cx="1155700" cy="368300"/>
          </a:xfrm>
          <a:prstGeom prst="roundRect">
            <a:avLst>
              <a:gd name="adj" fmla="val 8000"/>
            </a:avLst>
          </a:prstGeom>
          <a:solidFill>
            <a:srgbClr val="FFF1B6"/>
          </a:solidFill>
          <a:ln w="10160">
            <a:solidFill>
              <a:srgbClr val="B9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11" name="TextBox 210"/>
          <p:cNvSpPr txBox="1"/>
          <p:nvPr/>
        </p:nvSpPr>
        <p:spPr>
          <a:xfrm>
            <a:off x="6883400" y="4673600"/>
            <a:ext cx="1079500" cy="3175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101010"/>
                </a:solidFill>
                <a:latin typeface="Arial"/>
              </a:rPr>
              <a:t>LayerNorm</a:t>
            </a:r>
          </a:p>
        </p:txBody>
      </p:sp>
      <p:cxnSp>
        <p:nvCxnSpPr>
          <p:cNvPr id="212" name="Connector 211"/>
          <p:cNvCxnSpPr/>
          <p:nvPr/>
        </p:nvCxnSpPr>
        <p:spPr>
          <a:xfrm>
            <a:off x="7423150" y="5016500"/>
            <a:ext cx="0" cy="6985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Freeform 212"/>
          <p:cNvSpPr/>
          <p:nvPr/>
        </p:nvSpPr>
        <p:spPr>
          <a:xfrm>
            <a:off x="7391400" y="50800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2" y="5"/>
                </a:moveTo>
                <a:lnTo>
                  <a:pt x="0" y="0"/>
                </a:lnTo>
                <a:lnTo>
                  <a:pt x="5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14" name="Rounded Rectangle 213"/>
          <p:cNvSpPr/>
          <p:nvPr/>
        </p:nvSpPr>
        <p:spPr>
          <a:xfrm>
            <a:off x="6845300" y="5143500"/>
            <a:ext cx="1155700" cy="368300"/>
          </a:xfrm>
          <a:prstGeom prst="roundRect">
            <a:avLst>
              <a:gd name="adj" fmla="val 8000"/>
            </a:avLst>
          </a:prstGeom>
          <a:solidFill>
            <a:srgbClr val="D9F0FF"/>
          </a:solidFill>
          <a:ln w="10160">
            <a:solidFill>
              <a:srgbClr val="829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15" name="TextBox 214"/>
          <p:cNvSpPr txBox="1"/>
          <p:nvPr/>
        </p:nvSpPr>
        <p:spPr>
          <a:xfrm>
            <a:off x="6883400" y="5168900"/>
            <a:ext cx="1079500" cy="3175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01010"/>
                </a:solidFill>
                <a:latin typeface="Arial"/>
              </a:rPr>
              <a:t>Token-wise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20" b="1" i="0">
                <a:solidFill>
                  <a:srgbClr val="101010"/>
                </a:solidFill>
                <a:latin typeface="Arial"/>
              </a:rPr>
              <a:t>MLP</a:t>
            </a:r>
          </a:p>
        </p:txBody>
      </p:sp>
      <p:cxnSp>
        <p:nvCxnSpPr>
          <p:cNvPr id="216" name="Connector 215"/>
          <p:cNvCxnSpPr/>
          <p:nvPr/>
        </p:nvCxnSpPr>
        <p:spPr>
          <a:xfrm>
            <a:off x="7423150" y="5511800"/>
            <a:ext cx="0" cy="6985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Freeform 216"/>
          <p:cNvSpPr/>
          <p:nvPr/>
        </p:nvSpPr>
        <p:spPr>
          <a:xfrm>
            <a:off x="7391400" y="55880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2" y="4"/>
                </a:moveTo>
                <a:lnTo>
                  <a:pt x="0" y="0"/>
                </a:lnTo>
                <a:lnTo>
                  <a:pt x="5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18" name="Rounded Rectangle 217"/>
          <p:cNvSpPr/>
          <p:nvPr/>
        </p:nvSpPr>
        <p:spPr>
          <a:xfrm>
            <a:off x="6845300" y="5638800"/>
            <a:ext cx="1155700" cy="368300"/>
          </a:xfrm>
          <a:prstGeom prst="roundRect">
            <a:avLst>
              <a:gd name="adj" fmla="val 8000"/>
            </a:avLst>
          </a:prstGeom>
          <a:solidFill>
            <a:srgbClr val="FFF1B6"/>
          </a:solidFill>
          <a:ln w="10160">
            <a:solidFill>
              <a:srgbClr val="B9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19" name="TextBox 218"/>
          <p:cNvSpPr txBox="1"/>
          <p:nvPr/>
        </p:nvSpPr>
        <p:spPr>
          <a:xfrm>
            <a:off x="6883400" y="5664200"/>
            <a:ext cx="1079500" cy="3175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101010"/>
                </a:solidFill>
                <a:latin typeface="Arial"/>
              </a:rPr>
              <a:t>Residual + Norm</a:t>
            </a:r>
          </a:p>
        </p:txBody>
      </p:sp>
      <p:cxnSp>
        <p:nvCxnSpPr>
          <p:cNvPr id="220" name="Connector 219"/>
          <p:cNvCxnSpPr/>
          <p:nvPr/>
        </p:nvCxnSpPr>
        <p:spPr>
          <a:xfrm>
            <a:off x="7423150" y="6007100"/>
            <a:ext cx="0" cy="6985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Freeform 220"/>
          <p:cNvSpPr/>
          <p:nvPr/>
        </p:nvSpPr>
        <p:spPr>
          <a:xfrm>
            <a:off x="7391400" y="60706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2" y="5"/>
                </a:moveTo>
                <a:lnTo>
                  <a:pt x="0" y="0"/>
                </a:lnTo>
                <a:lnTo>
                  <a:pt x="5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22" name="Rounded Rectangle 221"/>
          <p:cNvSpPr/>
          <p:nvPr/>
        </p:nvSpPr>
        <p:spPr>
          <a:xfrm>
            <a:off x="6845300" y="6134100"/>
            <a:ext cx="1155700" cy="368300"/>
          </a:xfrm>
          <a:prstGeom prst="roundRect">
            <a:avLst>
              <a:gd name="adj" fmla="val 8000"/>
            </a:avLst>
          </a:prstGeom>
          <a:solidFill>
            <a:srgbClr val="EEE1FF"/>
          </a:solidFill>
          <a:ln w="10160">
            <a:solidFill>
              <a:srgbClr val="829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23" name="TextBox 222"/>
          <p:cNvSpPr txBox="1"/>
          <p:nvPr/>
        </p:nvSpPr>
        <p:spPr>
          <a:xfrm>
            <a:off x="6883400" y="6159500"/>
            <a:ext cx="1079500" cy="3175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101010"/>
                </a:solidFill>
                <a:latin typeface="Arial"/>
              </a:rPr>
              <a:t>Independent tokens</a:t>
            </a:r>
          </a:p>
        </p:txBody>
      </p:sp>
      <p:cxnSp>
        <p:nvCxnSpPr>
          <p:cNvPr id="224" name="Connector 223"/>
          <p:cNvCxnSpPr/>
          <p:nvPr/>
        </p:nvCxnSpPr>
        <p:spPr>
          <a:xfrm>
            <a:off x="6629400" y="4826000"/>
            <a:ext cx="1587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Freeform 224"/>
          <p:cNvSpPr/>
          <p:nvPr/>
        </p:nvSpPr>
        <p:spPr>
          <a:xfrm>
            <a:off x="6781800" y="48006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5" y="2"/>
                </a:move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226" name="Connector 225"/>
          <p:cNvCxnSpPr/>
          <p:nvPr/>
        </p:nvCxnSpPr>
        <p:spPr>
          <a:xfrm>
            <a:off x="8001000" y="6324600"/>
            <a:ext cx="1587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Freeform 226"/>
          <p:cNvSpPr/>
          <p:nvPr/>
        </p:nvSpPr>
        <p:spPr>
          <a:xfrm>
            <a:off x="8153400" y="62992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5" y="2"/>
                </a:move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228" name="Connector 227"/>
          <p:cNvCxnSpPr/>
          <p:nvPr/>
        </p:nvCxnSpPr>
        <p:spPr>
          <a:xfrm>
            <a:off x="6705600" y="4762500"/>
            <a:ext cx="0" cy="1752600"/>
          </a:xfrm>
          <a:prstGeom prst="line">
            <a:avLst/>
          </a:prstGeom>
          <a:ln w="12700">
            <a:solidFill>
              <a:srgbClr val="E336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6705600" y="4762500"/>
            <a:ext cx="101600" cy="0"/>
          </a:xfrm>
          <a:prstGeom prst="line">
            <a:avLst/>
          </a:prstGeom>
          <a:ln w="12700">
            <a:solidFill>
              <a:srgbClr val="E336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Freeform 229"/>
          <p:cNvSpPr/>
          <p:nvPr/>
        </p:nvSpPr>
        <p:spPr>
          <a:xfrm>
            <a:off x="6807200" y="47371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solidFill>
            <a:srgbClr val="E3362E"/>
          </a:solidFill>
          <a:ln w="6350">
            <a:solidFill>
              <a:srgbClr val="E33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231" name="Connector 230"/>
          <p:cNvCxnSpPr/>
          <p:nvPr/>
        </p:nvCxnSpPr>
        <p:spPr>
          <a:xfrm>
            <a:off x="6705600" y="6515100"/>
            <a:ext cx="101600" cy="0"/>
          </a:xfrm>
          <a:prstGeom prst="line">
            <a:avLst/>
          </a:prstGeom>
          <a:ln w="12700">
            <a:solidFill>
              <a:srgbClr val="E336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Freeform 231"/>
          <p:cNvSpPr/>
          <p:nvPr/>
        </p:nvSpPr>
        <p:spPr>
          <a:xfrm>
            <a:off x="6807200" y="6489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solidFill>
            <a:srgbClr val="E3362E"/>
          </a:solidFill>
          <a:ln w="6350">
            <a:solidFill>
              <a:srgbClr val="E33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33" name="TextBox 232"/>
          <p:cNvSpPr txBox="1"/>
          <p:nvPr/>
        </p:nvSpPr>
        <p:spPr>
          <a:xfrm>
            <a:off x="7924800" y="6540500"/>
            <a:ext cx="381000" cy="2286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Arial"/>
              </a:rPr>
              <a:t/>
            </a:r>
          </a:p>
        </p:txBody>
      </p:sp>
      <p:cxnSp>
        <p:nvCxnSpPr>
          <p:cNvPr id="234" name="Connector 233"/>
          <p:cNvCxnSpPr/>
          <p:nvPr/>
        </p:nvCxnSpPr>
        <p:spPr>
          <a:xfrm>
            <a:off x="5994400" y="4292600"/>
            <a:ext cx="381000" cy="0"/>
          </a:xfrm>
          <a:prstGeom prst="line">
            <a:avLst/>
          </a:prstGeom>
          <a:ln w="1778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Freeform 234"/>
          <p:cNvSpPr/>
          <p:nvPr/>
        </p:nvSpPr>
        <p:spPr>
          <a:xfrm>
            <a:off x="6375400" y="42418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236" name="Connector 235"/>
          <p:cNvCxnSpPr/>
          <p:nvPr/>
        </p:nvCxnSpPr>
        <p:spPr>
          <a:xfrm>
            <a:off x="8369300" y="5156200"/>
            <a:ext cx="266700" cy="0"/>
          </a:xfrm>
          <a:prstGeom prst="line">
            <a:avLst/>
          </a:prstGeom>
          <a:ln w="1778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Freeform 236"/>
          <p:cNvSpPr/>
          <p:nvPr/>
        </p:nvSpPr>
        <p:spPr>
          <a:xfrm>
            <a:off x="8636000" y="5105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38" name="Rectangle 237"/>
          <p:cNvSpPr/>
          <p:nvPr/>
        </p:nvSpPr>
        <p:spPr>
          <a:xfrm>
            <a:off x="8801100" y="4965700"/>
            <a:ext cx="177800" cy="228600"/>
          </a:xfrm>
          <a:prstGeom prst="rect">
            <a:avLst/>
          </a:prstGeom>
          <a:solidFill>
            <a:srgbClr val="F7AAA3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39" name="Rectangle 238"/>
          <p:cNvSpPr/>
          <p:nvPr/>
        </p:nvSpPr>
        <p:spPr>
          <a:xfrm>
            <a:off x="9004300" y="4965700"/>
            <a:ext cx="177800" cy="228600"/>
          </a:xfrm>
          <a:prstGeom prst="rect">
            <a:avLst/>
          </a:prstGeom>
          <a:solidFill>
            <a:srgbClr val="F7AAA3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40" name="Rectangle 239"/>
          <p:cNvSpPr/>
          <p:nvPr/>
        </p:nvSpPr>
        <p:spPr>
          <a:xfrm>
            <a:off x="9207500" y="4965700"/>
            <a:ext cx="177800" cy="228600"/>
          </a:xfrm>
          <a:prstGeom prst="rect">
            <a:avLst/>
          </a:prstGeom>
          <a:solidFill>
            <a:srgbClr val="F7AAA3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41" name="Rectangle 240"/>
          <p:cNvSpPr/>
          <p:nvPr/>
        </p:nvSpPr>
        <p:spPr>
          <a:xfrm>
            <a:off x="9410700" y="4965700"/>
            <a:ext cx="177800" cy="228600"/>
          </a:xfrm>
          <a:prstGeom prst="rect">
            <a:avLst/>
          </a:prstGeom>
          <a:solidFill>
            <a:srgbClr val="F7AAA3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42" name="Rectangle 241"/>
          <p:cNvSpPr/>
          <p:nvPr/>
        </p:nvSpPr>
        <p:spPr>
          <a:xfrm>
            <a:off x="9613900" y="4965700"/>
            <a:ext cx="177800" cy="228600"/>
          </a:xfrm>
          <a:prstGeom prst="rect">
            <a:avLst/>
          </a:prstGeom>
          <a:solidFill>
            <a:srgbClr val="F7AAA3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43" name="Rectangle 242"/>
          <p:cNvSpPr/>
          <p:nvPr/>
        </p:nvSpPr>
        <p:spPr>
          <a:xfrm>
            <a:off x="9817100" y="4965700"/>
            <a:ext cx="177800" cy="228600"/>
          </a:xfrm>
          <a:prstGeom prst="rect">
            <a:avLst/>
          </a:prstGeom>
          <a:solidFill>
            <a:srgbClr val="F7AAA3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44" name="TextBox 243"/>
          <p:cNvSpPr txBox="1"/>
          <p:nvPr/>
        </p:nvSpPr>
        <p:spPr>
          <a:xfrm>
            <a:off x="8737600" y="4546600"/>
            <a:ext cx="1320800" cy="2794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01010"/>
                </a:solidFill>
                <a:latin typeface="Arial"/>
              </a:rPr>
              <a:t>Hₚ ∈ ℝᵀˣᵈ</a:t>
            </a:r>
          </a:p>
        </p:txBody>
      </p:sp>
      <p:cxnSp>
        <p:nvCxnSpPr>
          <p:cNvPr id="245" name="Connector 244"/>
          <p:cNvCxnSpPr/>
          <p:nvPr/>
        </p:nvCxnSpPr>
        <p:spPr>
          <a:xfrm>
            <a:off x="2578100" y="6502400"/>
            <a:ext cx="3670300" cy="0"/>
          </a:xfrm>
          <a:prstGeom prst="line">
            <a:avLst/>
          </a:prstGeom>
          <a:ln w="12700">
            <a:solidFill>
              <a:srgbClr val="10101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3657600" y="4914900"/>
            <a:ext cx="0" cy="1587500"/>
          </a:xfrm>
          <a:prstGeom prst="line">
            <a:avLst/>
          </a:prstGeom>
          <a:ln w="12700">
            <a:solidFill>
              <a:srgbClr val="10101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Freeform 246"/>
          <p:cNvSpPr/>
          <p:nvPr/>
        </p:nvSpPr>
        <p:spPr>
          <a:xfrm>
            <a:off x="3619500" y="4838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3" y="0"/>
                </a:moveTo>
                <a:lnTo>
                  <a:pt x="6" y="6"/>
                </a:lnTo>
                <a:lnTo>
                  <a:pt x="0" y="6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248" name="Connector 247"/>
          <p:cNvCxnSpPr/>
          <p:nvPr/>
        </p:nvCxnSpPr>
        <p:spPr>
          <a:xfrm flipV="1">
            <a:off x="4686300" y="5829300"/>
            <a:ext cx="0" cy="673100"/>
          </a:xfrm>
          <a:prstGeom prst="line">
            <a:avLst/>
          </a:prstGeom>
          <a:ln w="12700">
            <a:solidFill>
              <a:srgbClr val="10101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Freeform 248"/>
          <p:cNvSpPr/>
          <p:nvPr/>
        </p:nvSpPr>
        <p:spPr>
          <a:xfrm>
            <a:off x="4648200" y="57531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3" y="0"/>
                </a:moveTo>
                <a:lnTo>
                  <a:pt x="6" y="6"/>
                </a:lnTo>
                <a:lnTo>
                  <a:pt x="0" y="6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250" name="Connector 249"/>
          <p:cNvCxnSpPr/>
          <p:nvPr/>
        </p:nvCxnSpPr>
        <p:spPr>
          <a:xfrm>
            <a:off x="6248400" y="6502400"/>
            <a:ext cx="0" cy="736600"/>
          </a:xfrm>
          <a:prstGeom prst="line">
            <a:avLst/>
          </a:prstGeom>
          <a:ln w="12700">
            <a:solidFill>
              <a:srgbClr val="10101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6248400" y="7239000"/>
            <a:ext cx="3810000" cy="0"/>
          </a:xfrm>
          <a:prstGeom prst="line">
            <a:avLst/>
          </a:prstGeom>
          <a:ln w="12700">
            <a:solidFill>
              <a:srgbClr val="10101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10058400" y="2336800"/>
            <a:ext cx="0" cy="4902200"/>
          </a:xfrm>
          <a:prstGeom prst="line">
            <a:avLst/>
          </a:prstGeom>
          <a:ln w="12700">
            <a:solidFill>
              <a:srgbClr val="10101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H="1">
            <a:off x="10045700" y="2336800"/>
            <a:ext cx="12700" cy="0"/>
          </a:xfrm>
          <a:prstGeom prst="line">
            <a:avLst/>
          </a:prstGeom>
          <a:ln w="12700">
            <a:solidFill>
              <a:srgbClr val="10101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Freeform 253"/>
          <p:cNvSpPr/>
          <p:nvPr/>
        </p:nvSpPr>
        <p:spPr>
          <a:xfrm>
            <a:off x="9982200" y="23114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0" y="2"/>
                </a:moveTo>
                <a:lnTo>
                  <a:pt x="5" y="0"/>
                </a:lnTo>
                <a:lnTo>
                  <a:pt x="5" y="4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255" name="Connector 254"/>
          <p:cNvCxnSpPr/>
          <p:nvPr/>
        </p:nvCxnSpPr>
        <p:spPr>
          <a:xfrm flipV="1">
            <a:off x="10058400" y="5461000"/>
            <a:ext cx="0" cy="1778000"/>
          </a:xfrm>
          <a:prstGeom prst="line">
            <a:avLst/>
          </a:prstGeom>
          <a:ln w="12700">
            <a:solidFill>
              <a:srgbClr val="10101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H="1">
            <a:off x="10045700" y="5461000"/>
            <a:ext cx="12700" cy="0"/>
          </a:xfrm>
          <a:prstGeom prst="line">
            <a:avLst/>
          </a:prstGeom>
          <a:ln w="12700">
            <a:solidFill>
              <a:srgbClr val="10101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7" name="Freeform 256"/>
          <p:cNvSpPr/>
          <p:nvPr/>
        </p:nvSpPr>
        <p:spPr>
          <a:xfrm>
            <a:off x="9982200" y="54356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0" y="2"/>
                </a:moveTo>
                <a:lnTo>
                  <a:pt x="5" y="0"/>
                </a:lnTo>
                <a:lnTo>
                  <a:pt x="5" y="4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58" name="TextBox 257"/>
          <p:cNvSpPr txBox="1"/>
          <p:nvPr/>
        </p:nvSpPr>
        <p:spPr>
          <a:xfrm>
            <a:off x="10350500" y="228600"/>
            <a:ext cx="3175000" cy="5588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062B68"/>
                </a:solidFill>
                <a:latin typeface="Arial"/>
              </a:rPr>
              <a:t>4) Delay-Banded Asymmetric Cross-Attention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10121900" y="914400"/>
            <a:ext cx="3543300" cy="2819400"/>
          </a:xfrm>
          <a:prstGeom prst="roundRect">
            <a:avLst>
              <a:gd name="adj" fmla="val 8000"/>
            </a:avLst>
          </a:prstGeom>
          <a:solidFill>
            <a:srgbClr val="FBFEFF"/>
          </a:solidFill>
          <a:ln w="13970">
            <a:solidFill>
              <a:srgbClr val="1D5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60" name="TextBox 259"/>
          <p:cNvSpPr txBox="1"/>
          <p:nvPr/>
        </p:nvSpPr>
        <p:spPr>
          <a:xfrm>
            <a:off x="10863072" y="950976"/>
            <a:ext cx="2084831" cy="36576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D5EBB"/>
                </a:solidFill>
                <a:latin typeface="Arial"/>
              </a:rPr>
              <a:t>ECG queries PPG
(E query; P key/value)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0607040" y="1316736"/>
            <a:ext cx="2606040" cy="27432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01010"/>
                </a:solidFill>
                <a:latin typeface="Arial"/>
              </a:rPr>
              <a:t>offsets 3–6 (192–384 ms centers)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10312400" y="1778000"/>
            <a:ext cx="457200" cy="2667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01010"/>
                </a:solidFill>
                <a:latin typeface="Arial"/>
              </a:rPr>
              <a:t>Qₑ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10439400" y="2171700"/>
            <a:ext cx="203200" cy="1524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64" name="Rectangle 263"/>
          <p:cNvSpPr/>
          <p:nvPr/>
        </p:nvSpPr>
        <p:spPr>
          <a:xfrm>
            <a:off x="10439400" y="2349500"/>
            <a:ext cx="203200" cy="1524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65" name="Rectangle 264"/>
          <p:cNvSpPr/>
          <p:nvPr/>
        </p:nvSpPr>
        <p:spPr>
          <a:xfrm>
            <a:off x="10439400" y="2527300"/>
            <a:ext cx="203200" cy="1524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66" name="Rectangle 265"/>
          <p:cNvSpPr/>
          <p:nvPr/>
        </p:nvSpPr>
        <p:spPr>
          <a:xfrm>
            <a:off x="10439400" y="2705100"/>
            <a:ext cx="203200" cy="1524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67" name="Rectangle 266"/>
          <p:cNvSpPr/>
          <p:nvPr/>
        </p:nvSpPr>
        <p:spPr>
          <a:xfrm>
            <a:off x="10439400" y="2882900"/>
            <a:ext cx="203200" cy="1524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68" name="TextBox 267"/>
          <p:cNvSpPr txBox="1"/>
          <p:nvPr/>
        </p:nvSpPr>
        <p:spPr>
          <a:xfrm>
            <a:off x="12395200" y="1600200"/>
            <a:ext cx="635000" cy="2413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1010"/>
                </a:solidFill>
                <a:latin typeface="Arial"/>
              </a:rPr>
              <a:t>Kₚᵀ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11023600" y="1638300"/>
            <a:ext cx="165100" cy="152400"/>
          </a:xfrm>
          <a:prstGeom prst="rect">
            <a:avLst/>
          </a:prstGeom>
          <a:solidFill>
            <a:srgbClr val="F5837D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70" name="Rectangle 269"/>
          <p:cNvSpPr/>
          <p:nvPr/>
        </p:nvSpPr>
        <p:spPr>
          <a:xfrm>
            <a:off x="11214100" y="1638300"/>
            <a:ext cx="165100" cy="152400"/>
          </a:xfrm>
          <a:prstGeom prst="rect">
            <a:avLst/>
          </a:prstGeom>
          <a:solidFill>
            <a:srgbClr val="F5837D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71" name="Rectangle 270"/>
          <p:cNvSpPr/>
          <p:nvPr/>
        </p:nvSpPr>
        <p:spPr>
          <a:xfrm>
            <a:off x="11404600" y="1638300"/>
            <a:ext cx="165100" cy="152400"/>
          </a:xfrm>
          <a:prstGeom prst="rect">
            <a:avLst/>
          </a:prstGeom>
          <a:solidFill>
            <a:srgbClr val="F5837D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72" name="Rectangle 271"/>
          <p:cNvSpPr/>
          <p:nvPr/>
        </p:nvSpPr>
        <p:spPr>
          <a:xfrm>
            <a:off x="11595100" y="1638300"/>
            <a:ext cx="165100" cy="152400"/>
          </a:xfrm>
          <a:prstGeom prst="rect">
            <a:avLst/>
          </a:prstGeom>
          <a:solidFill>
            <a:srgbClr val="F5837D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73" name="Rectangle 272"/>
          <p:cNvSpPr/>
          <p:nvPr/>
        </p:nvSpPr>
        <p:spPr>
          <a:xfrm>
            <a:off x="11785600" y="1638300"/>
            <a:ext cx="165100" cy="152400"/>
          </a:xfrm>
          <a:prstGeom prst="rect">
            <a:avLst/>
          </a:prstGeom>
          <a:solidFill>
            <a:srgbClr val="F5837D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74" name="Rectangle 273"/>
          <p:cNvSpPr/>
          <p:nvPr/>
        </p:nvSpPr>
        <p:spPr>
          <a:xfrm>
            <a:off x="11976100" y="1638300"/>
            <a:ext cx="165100" cy="152400"/>
          </a:xfrm>
          <a:prstGeom prst="rect">
            <a:avLst/>
          </a:prstGeom>
          <a:solidFill>
            <a:srgbClr val="F5837D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75" name="Rectangle 274"/>
          <p:cNvSpPr/>
          <p:nvPr/>
        </p:nvSpPr>
        <p:spPr>
          <a:xfrm>
            <a:off x="12166600" y="1638300"/>
            <a:ext cx="165100" cy="152400"/>
          </a:xfrm>
          <a:prstGeom prst="rect">
            <a:avLst/>
          </a:prstGeom>
          <a:solidFill>
            <a:srgbClr val="F5837D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76" name="Rectangle 275"/>
          <p:cNvSpPr/>
          <p:nvPr/>
        </p:nvSpPr>
        <p:spPr>
          <a:xfrm>
            <a:off x="12357100" y="1638300"/>
            <a:ext cx="165100" cy="152400"/>
          </a:xfrm>
          <a:prstGeom prst="rect">
            <a:avLst/>
          </a:prstGeom>
          <a:solidFill>
            <a:srgbClr val="F5837D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77" name="Rectangle 276"/>
          <p:cNvSpPr/>
          <p:nvPr/>
        </p:nvSpPr>
        <p:spPr>
          <a:xfrm>
            <a:off x="11061700" y="1955800"/>
            <a:ext cx="1320800" cy="1320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78" name="Freeform 277"/>
          <p:cNvSpPr/>
          <p:nvPr/>
        </p:nvSpPr>
        <p:spPr>
          <a:xfrm>
            <a:off x="11150600" y="1955800"/>
            <a:ext cx="1092200" cy="1320800"/>
          </a:xfrm>
          <a:custGeom>
            <a:avLst/>
            <a:gdLst/>
            <a:ahLst/>
            <a:cxnLst/>
            <a:rect l="l" t="t" r="r" b="b"/>
            <a:pathLst>
              <a:path w="86" h="104">
                <a:moveTo>
                  <a:pt x="0" y="0"/>
                </a:moveTo>
                <a:lnTo>
                  <a:pt x="17" y="0"/>
                </a:lnTo>
                <a:lnTo>
                  <a:pt x="86" y="104"/>
                </a:lnTo>
                <a:lnTo>
                  <a:pt x="69" y="104"/>
                </a:lnTo>
                <a:close/>
              </a:path>
            </a:pathLst>
          </a:custGeom>
          <a:solidFill>
            <a:srgbClr val="DA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79" name="Rectangle 278"/>
          <p:cNvSpPr/>
          <p:nvPr/>
        </p:nvSpPr>
        <p:spPr>
          <a:xfrm>
            <a:off x="11171766" y="1955800"/>
            <a:ext cx="110066" cy="110066"/>
          </a:xfrm>
          <a:prstGeom prst="rect">
            <a:avLst/>
          </a:prstGeom>
          <a:solidFill>
            <a:srgbClr val="8CB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80" name="Rectangle 279"/>
          <p:cNvSpPr/>
          <p:nvPr/>
        </p:nvSpPr>
        <p:spPr>
          <a:xfrm>
            <a:off x="11281833" y="1955800"/>
            <a:ext cx="110066" cy="110066"/>
          </a:xfrm>
          <a:prstGeom prst="rect">
            <a:avLst/>
          </a:prstGeom>
          <a:solidFill>
            <a:srgbClr val="4B9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81" name="Rectangle 280"/>
          <p:cNvSpPr/>
          <p:nvPr/>
        </p:nvSpPr>
        <p:spPr>
          <a:xfrm>
            <a:off x="11391900" y="1955800"/>
            <a:ext cx="110066" cy="110066"/>
          </a:xfrm>
          <a:prstGeom prst="rect">
            <a:avLst/>
          </a:prstGeom>
          <a:solidFill>
            <a:srgbClr val="D5E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82" name="Rectangle 281"/>
          <p:cNvSpPr/>
          <p:nvPr/>
        </p:nvSpPr>
        <p:spPr>
          <a:xfrm>
            <a:off x="11281833" y="2065866"/>
            <a:ext cx="110066" cy="110066"/>
          </a:xfrm>
          <a:prstGeom prst="rect">
            <a:avLst/>
          </a:prstGeom>
          <a:solidFill>
            <a:srgbClr val="4B9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83" name="Rectangle 282"/>
          <p:cNvSpPr/>
          <p:nvPr/>
        </p:nvSpPr>
        <p:spPr>
          <a:xfrm>
            <a:off x="11391900" y="2065866"/>
            <a:ext cx="110066" cy="110066"/>
          </a:xfrm>
          <a:prstGeom prst="rect">
            <a:avLst/>
          </a:prstGeom>
          <a:solidFill>
            <a:srgbClr val="4B9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84" name="Rectangle 283"/>
          <p:cNvSpPr/>
          <p:nvPr/>
        </p:nvSpPr>
        <p:spPr>
          <a:xfrm>
            <a:off x="11281833" y="2175933"/>
            <a:ext cx="110066" cy="110066"/>
          </a:xfrm>
          <a:prstGeom prst="rect">
            <a:avLst/>
          </a:prstGeom>
          <a:solidFill>
            <a:srgbClr val="D5E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85" name="Rectangle 284"/>
          <p:cNvSpPr/>
          <p:nvPr/>
        </p:nvSpPr>
        <p:spPr>
          <a:xfrm>
            <a:off x="11391900" y="2175933"/>
            <a:ext cx="110066" cy="110066"/>
          </a:xfrm>
          <a:prstGeom prst="rect">
            <a:avLst/>
          </a:prstGeom>
          <a:solidFill>
            <a:srgbClr val="4B9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86" name="Rectangle 285"/>
          <p:cNvSpPr/>
          <p:nvPr/>
        </p:nvSpPr>
        <p:spPr>
          <a:xfrm>
            <a:off x="11501966" y="2175933"/>
            <a:ext cx="110066" cy="110066"/>
          </a:xfrm>
          <a:prstGeom prst="rect">
            <a:avLst/>
          </a:prstGeom>
          <a:solidFill>
            <a:srgbClr val="8CB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87" name="Rectangle 286"/>
          <p:cNvSpPr/>
          <p:nvPr/>
        </p:nvSpPr>
        <p:spPr>
          <a:xfrm>
            <a:off x="11391900" y="2286000"/>
            <a:ext cx="110066" cy="110066"/>
          </a:xfrm>
          <a:prstGeom prst="rect">
            <a:avLst/>
          </a:prstGeom>
          <a:solidFill>
            <a:srgbClr val="8CB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88" name="Rectangle 287"/>
          <p:cNvSpPr/>
          <p:nvPr/>
        </p:nvSpPr>
        <p:spPr>
          <a:xfrm>
            <a:off x="11501966" y="2286000"/>
            <a:ext cx="110066" cy="110066"/>
          </a:xfrm>
          <a:prstGeom prst="rect">
            <a:avLst/>
          </a:prstGeom>
          <a:solidFill>
            <a:srgbClr val="4B9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89" name="Rectangle 288"/>
          <p:cNvSpPr/>
          <p:nvPr/>
        </p:nvSpPr>
        <p:spPr>
          <a:xfrm>
            <a:off x="11612033" y="2286000"/>
            <a:ext cx="110066" cy="110066"/>
          </a:xfrm>
          <a:prstGeom prst="rect">
            <a:avLst/>
          </a:prstGeom>
          <a:solidFill>
            <a:srgbClr val="D5E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90" name="Rectangle 289"/>
          <p:cNvSpPr/>
          <p:nvPr/>
        </p:nvSpPr>
        <p:spPr>
          <a:xfrm>
            <a:off x="11501966" y="2396066"/>
            <a:ext cx="110066" cy="110066"/>
          </a:xfrm>
          <a:prstGeom prst="rect">
            <a:avLst/>
          </a:prstGeom>
          <a:solidFill>
            <a:srgbClr val="8CB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91" name="Rectangle 290"/>
          <p:cNvSpPr/>
          <p:nvPr/>
        </p:nvSpPr>
        <p:spPr>
          <a:xfrm>
            <a:off x="11612033" y="2396066"/>
            <a:ext cx="110066" cy="110066"/>
          </a:xfrm>
          <a:prstGeom prst="rect">
            <a:avLst/>
          </a:prstGeom>
          <a:solidFill>
            <a:srgbClr val="4B9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92" name="Rectangle 291"/>
          <p:cNvSpPr/>
          <p:nvPr/>
        </p:nvSpPr>
        <p:spPr>
          <a:xfrm>
            <a:off x="11722100" y="2396066"/>
            <a:ext cx="110066" cy="110066"/>
          </a:xfrm>
          <a:prstGeom prst="rect">
            <a:avLst/>
          </a:prstGeom>
          <a:solidFill>
            <a:srgbClr val="D5E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93" name="Rectangle 292"/>
          <p:cNvSpPr/>
          <p:nvPr/>
        </p:nvSpPr>
        <p:spPr>
          <a:xfrm>
            <a:off x="11612033" y="2506133"/>
            <a:ext cx="110066" cy="110066"/>
          </a:xfrm>
          <a:prstGeom prst="rect">
            <a:avLst/>
          </a:prstGeom>
          <a:solidFill>
            <a:srgbClr val="4B9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94" name="Rectangle 293"/>
          <p:cNvSpPr/>
          <p:nvPr/>
        </p:nvSpPr>
        <p:spPr>
          <a:xfrm>
            <a:off x="11722100" y="2506133"/>
            <a:ext cx="110066" cy="110066"/>
          </a:xfrm>
          <a:prstGeom prst="rect">
            <a:avLst/>
          </a:prstGeom>
          <a:solidFill>
            <a:srgbClr val="8CB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95" name="Rectangle 294"/>
          <p:cNvSpPr/>
          <p:nvPr/>
        </p:nvSpPr>
        <p:spPr>
          <a:xfrm>
            <a:off x="11612033" y="2616200"/>
            <a:ext cx="110066" cy="110066"/>
          </a:xfrm>
          <a:prstGeom prst="rect">
            <a:avLst/>
          </a:prstGeom>
          <a:solidFill>
            <a:srgbClr val="D5E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96" name="Rectangle 295"/>
          <p:cNvSpPr/>
          <p:nvPr/>
        </p:nvSpPr>
        <p:spPr>
          <a:xfrm>
            <a:off x="11722100" y="2616200"/>
            <a:ext cx="110066" cy="110066"/>
          </a:xfrm>
          <a:prstGeom prst="rect">
            <a:avLst/>
          </a:prstGeom>
          <a:solidFill>
            <a:srgbClr val="4B9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97" name="Rectangle 296"/>
          <p:cNvSpPr/>
          <p:nvPr/>
        </p:nvSpPr>
        <p:spPr>
          <a:xfrm>
            <a:off x="11832166" y="2616200"/>
            <a:ext cx="110066" cy="110066"/>
          </a:xfrm>
          <a:prstGeom prst="rect">
            <a:avLst/>
          </a:prstGeom>
          <a:solidFill>
            <a:srgbClr val="8CB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98" name="Rectangle 297"/>
          <p:cNvSpPr/>
          <p:nvPr/>
        </p:nvSpPr>
        <p:spPr>
          <a:xfrm>
            <a:off x="11722100" y="2726266"/>
            <a:ext cx="110066" cy="110066"/>
          </a:xfrm>
          <a:prstGeom prst="rect">
            <a:avLst/>
          </a:prstGeom>
          <a:solidFill>
            <a:srgbClr val="8CB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99" name="Rectangle 298"/>
          <p:cNvSpPr/>
          <p:nvPr/>
        </p:nvSpPr>
        <p:spPr>
          <a:xfrm>
            <a:off x="11832166" y="2726266"/>
            <a:ext cx="110066" cy="110066"/>
          </a:xfrm>
          <a:prstGeom prst="rect">
            <a:avLst/>
          </a:prstGeom>
          <a:solidFill>
            <a:srgbClr val="4B9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00" name="Rectangle 299"/>
          <p:cNvSpPr/>
          <p:nvPr/>
        </p:nvSpPr>
        <p:spPr>
          <a:xfrm>
            <a:off x="11942233" y="2726266"/>
            <a:ext cx="110066" cy="110066"/>
          </a:xfrm>
          <a:prstGeom prst="rect">
            <a:avLst/>
          </a:prstGeom>
          <a:solidFill>
            <a:srgbClr val="D5E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01" name="Rectangle 300"/>
          <p:cNvSpPr/>
          <p:nvPr/>
        </p:nvSpPr>
        <p:spPr>
          <a:xfrm>
            <a:off x="11832166" y="2836333"/>
            <a:ext cx="110066" cy="110066"/>
          </a:xfrm>
          <a:prstGeom prst="rect">
            <a:avLst/>
          </a:prstGeom>
          <a:solidFill>
            <a:srgbClr val="8CB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02" name="Rectangle 301"/>
          <p:cNvSpPr/>
          <p:nvPr/>
        </p:nvSpPr>
        <p:spPr>
          <a:xfrm>
            <a:off x="11942233" y="2836333"/>
            <a:ext cx="110066" cy="110066"/>
          </a:xfrm>
          <a:prstGeom prst="rect">
            <a:avLst/>
          </a:prstGeom>
          <a:solidFill>
            <a:srgbClr val="4B9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03" name="Rectangle 302"/>
          <p:cNvSpPr/>
          <p:nvPr/>
        </p:nvSpPr>
        <p:spPr>
          <a:xfrm>
            <a:off x="11832166" y="2946400"/>
            <a:ext cx="110066" cy="110066"/>
          </a:xfrm>
          <a:prstGeom prst="rect">
            <a:avLst/>
          </a:prstGeom>
          <a:solidFill>
            <a:srgbClr val="D5E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04" name="Rectangle 303"/>
          <p:cNvSpPr/>
          <p:nvPr/>
        </p:nvSpPr>
        <p:spPr>
          <a:xfrm>
            <a:off x="11942233" y="2946400"/>
            <a:ext cx="110066" cy="110066"/>
          </a:xfrm>
          <a:prstGeom prst="rect">
            <a:avLst/>
          </a:prstGeom>
          <a:solidFill>
            <a:srgbClr val="4B9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05" name="Rectangle 304"/>
          <p:cNvSpPr/>
          <p:nvPr/>
        </p:nvSpPr>
        <p:spPr>
          <a:xfrm>
            <a:off x="12052300" y="2946400"/>
            <a:ext cx="110066" cy="110066"/>
          </a:xfrm>
          <a:prstGeom prst="rect">
            <a:avLst/>
          </a:prstGeom>
          <a:solidFill>
            <a:srgbClr val="8CB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06" name="Rectangle 305"/>
          <p:cNvSpPr/>
          <p:nvPr/>
        </p:nvSpPr>
        <p:spPr>
          <a:xfrm>
            <a:off x="11942233" y="3056466"/>
            <a:ext cx="110066" cy="110066"/>
          </a:xfrm>
          <a:prstGeom prst="rect">
            <a:avLst/>
          </a:prstGeom>
          <a:solidFill>
            <a:srgbClr val="D5E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07" name="Rectangle 306"/>
          <p:cNvSpPr/>
          <p:nvPr/>
        </p:nvSpPr>
        <p:spPr>
          <a:xfrm>
            <a:off x="12052300" y="3056466"/>
            <a:ext cx="110066" cy="110066"/>
          </a:xfrm>
          <a:prstGeom prst="rect">
            <a:avLst/>
          </a:prstGeom>
          <a:solidFill>
            <a:srgbClr val="4B9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08" name="Rectangle 307"/>
          <p:cNvSpPr/>
          <p:nvPr/>
        </p:nvSpPr>
        <p:spPr>
          <a:xfrm>
            <a:off x="12162366" y="3056466"/>
            <a:ext cx="110066" cy="110066"/>
          </a:xfrm>
          <a:prstGeom prst="rect">
            <a:avLst/>
          </a:prstGeom>
          <a:solidFill>
            <a:srgbClr val="8CB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09" name="Rectangle 308"/>
          <p:cNvSpPr/>
          <p:nvPr/>
        </p:nvSpPr>
        <p:spPr>
          <a:xfrm>
            <a:off x="12052300" y="3166533"/>
            <a:ext cx="110066" cy="110066"/>
          </a:xfrm>
          <a:prstGeom prst="rect">
            <a:avLst/>
          </a:prstGeom>
          <a:solidFill>
            <a:srgbClr val="8CB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10" name="Rectangle 309"/>
          <p:cNvSpPr/>
          <p:nvPr/>
        </p:nvSpPr>
        <p:spPr>
          <a:xfrm>
            <a:off x="12162366" y="3166533"/>
            <a:ext cx="110066" cy="110066"/>
          </a:xfrm>
          <a:prstGeom prst="rect">
            <a:avLst/>
          </a:prstGeom>
          <a:solidFill>
            <a:srgbClr val="4B9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11" name="Rectangle 310"/>
          <p:cNvSpPr/>
          <p:nvPr/>
        </p:nvSpPr>
        <p:spPr>
          <a:xfrm>
            <a:off x="12272433" y="3166533"/>
            <a:ext cx="110066" cy="110066"/>
          </a:xfrm>
          <a:prstGeom prst="rect">
            <a:avLst/>
          </a:prstGeom>
          <a:solidFill>
            <a:srgbClr val="D5E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312" name="Connector 311"/>
          <p:cNvCxnSpPr/>
          <p:nvPr/>
        </p:nvCxnSpPr>
        <p:spPr>
          <a:xfrm>
            <a:off x="11061700" y="1955800"/>
            <a:ext cx="0" cy="132080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11061700" y="1955800"/>
            <a:ext cx="1320800" cy="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11171766" y="1955800"/>
            <a:ext cx="0" cy="132080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11061700" y="2065866"/>
            <a:ext cx="1320800" cy="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>
            <a:off x="11281833" y="1955800"/>
            <a:ext cx="0" cy="132080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>
            <a:off x="11061700" y="2175933"/>
            <a:ext cx="1320800" cy="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>
            <a:off x="11391900" y="1955800"/>
            <a:ext cx="0" cy="132080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>
            <a:off x="11061700" y="2286000"/>
            <a:ext cx="1320800" cy="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11501966" y="1955800"/>
            <a:ext cx="0" cy="132080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>
            <a:off x="11061700" y="2396066"/>
            <a:ext cx="1320800" cy="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>
            <a:off x="11612033" y="1955800"/>
            <a:ext cx="0" cy="132080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>
            <a:off x="11061700" y="2506133"/>
            <a:ext cx="1320800" cy="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>
            <a:off x="11722100" y="1955800"/>
            <a:ext cx="0" cy="132080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11061700" y="2616200"/>
            <a:ext cx="1320800" cy="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>
            <a:off x="11832166" y="1955800"/>
            <a:ext cx="0" cy="132080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11061700" y="2726266"/>
            <a:ext cx="1320800" cy="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>
            <a:off x="11942233" y="1955800"/>
            <a:ext cx="0" cy="132080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11061700" y="2836333"/>
            <a:ext cx="1320800" cy="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12052300" y="1955800"/>
            <a:ext cx="0" cy="132080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11061700" y="2946400"/>
            <a:ext cx="1320800" cy="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12162366" y="1955800"/>
            <a:ext cx="0" cy="132080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>
            <a:off x="11061700" y="3056466"/>
            <a:ext cx="1320800" cy="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12272433" y="1955800"/>
            <a:ext cx="0" cy="132080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11061700" y="3166533"/>
            <a:ext cx="1320800" cy="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12382500" y="1955800"/>
            <a:ext cx="0" cy="132080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11061700" y="3276600"/>
            <a:ext cx="1320800" cy="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" name="Freeform 337"/>
          <p:cNvSpPr/>
          <p:nvPr/>
        </p:nvSpPr>
        <p:spPr>
          <a:xfrm>
            <a:off x="11061700" y="1955800"/>
            <a:ext cx="876300" cy="1320800"/>
          </a:xfrm>
          <a:custGeom>
            <a:avLst/>
            <a:gdLst/>
            <a:ahLst/>
            <a:cxnLst/>
            <a:rect l="l" t="t" r="r" b="b"/>
            <a:pathLst>
              <a:path w="69" h="104">
                <a:moveTo>
                  <a:pt x="0" y="0"/>
                </a:moveTo>
                <a:lnTo>
                  <a:pt x="69" y="104"/>
                </a:lnTo>
              </a:path>
            </a:pathLst>
          </a:custGeom>
          <a:noFill/>
          <a:ln w="7620">
            <a:solidFill>
              <a:srgbClr val="A5AC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39" name="Freeform 338"/>
          <p:cNvSpPr/>
          <p:nvPr/>
        </p:nvSpPr>
        <p:spPr>
          <a:xfrm>
            <a:off x="11150600" y="1955800"/>
            <a:ext cx="876300" cy="1320800"/>
          </a:xfrm>
          <a:custGeom>
            <a:avLst/>
            <a:gdLst/>
            <a:ahLst/>
            <a:cxnLst/>
            <a:rect l="l" t="t" r="r" b="b"/>
            <a:pathLst>
              <a:path w="69" h="104">
                <a:moveTo>
                  <a:pt x="0" y="0"/>
                </a:moveTo>
                <a:lnTo>
                  <a:pt x="69" y="104"/>
                </a:lnTo>
              </a:path>
            </a:pathLst>
          </a:custGeom>
          <a:noFill/>
          <a:ln w="10160">
            <a:solidFill>
              <a:srgbClr val="176A2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40" name="Freeform 339"/>
          <p:cNvSpPr/>
          <p:nvPr/>
        </p:nvSpPr>
        <p:spPr>
          <a:xfrm>
            <a:off x="11366500" y="1955800"/>
            <a:ext cx="876300" cy="1320800"/>
          </a:xfrm>
          <a:custGeom>
            <a:avLst/>
            <a:gdLst/>
            <a:ahLst/>
            <a:cxnLst/>
            <a:rect l="l" t="t" r="r" b="b"/>
            <a:pathLst>
              <a:path w="69" h="104">
                <a:moveTo>
                  <a:pt x="0" y="0"/>
                </a:moveTo>
                <a:lnTo>
                  <a:pt x="69" y="104"/>
                </a:lnTo>
              </a:path>
            </a:pathLst>
          </a:custGeom>
          <a:noFill/>
          <a:ln w="10160">
            <a:solidFill>
              <a:srgbClr val="176A2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41" name="Freeform 340"/>
          <p:cNvSpPr/>
          <p:nvPr/>
        </p:nvSpPr>
        <p:spPr>
          <a:xfrm>
            <a:off x="11252200" y="1955800"/>
            <a:ext cx="889000" cy="1320800"/>
          </a:xfrm>
          <a:custGeom>
            <a:avLst/>
            <a:gdLst/>
            <a:ahLst/>
            <a:cxnLst/>
            <a:rect l="l" t="t" r="r" b="b"/>
            <a:pathLst>
              <a:path w="70" h="104">
                <a:moveTo>
                  <a:pt x="0" y="0"/>
                </a:moveTo>
                <a:lnTo>
                  <a:pt x="70" y="104"/>
                </a:lnTo>
              </a:path>
            </a:pathLst>
          </a:custGeom>
          <a:noFill/>
          <a:ln w="15240">
            <a:solidFill>
              <a:srgbClr val="176A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342" name="Connector 341"/>
          <p:cNvCxnSpPr/>
          <p:nvPr/>
        </p:nvCxnSpPr>
        <p:spPr>
          <a:xfrm>
            <a:off x="10820400" y="2197100"/>
            <a:ext cx="0" cy="825500"/>
          </a:xfrm>
          <a:prstGeom prst="line">
            <a:avLst/>
          </a:prstGeom>
          <a:ln w="1524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Freeform 342"/>
          <p:cNvSpPr/>
          <p:nvPr/>
        </p:nvSpPr>
        <p:spPr>
          <a:xfrm>
            <a:off x="10769600" y="30226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8"/>
                </a:moveTo>
                <a:lnTo>
                  <a:pt x="0" y="0"/>
                </a:lnTo>
                <a:lnTo>
                  <a:pt x="8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344" name="Connector 343"/>
          <p:cNvCxnSpPr/>
          <p:nvPr/>
        </p:nvCxnSpPr>
        <p:spPr>
          <a:xfrm>
            <a:off x="11074400" y="3429000"/>
            <a:ext cx="1104900" cy="0"/>
          </a:xfrm>
          <a:prstGeom prst="line">
            <a:avLst/>
          </a:prstGeom>
          <a:ln w="1524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5" name="Freeform 344"/>
          <p:cNvSpPr/>
          <p:nvPr/>
        </p:nvSpPr>
        <p:spPr>
          <a:xfrm>
            <a:off x="12179300" y="33782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46" name="TextBox 345"/>
          <p:cNvSpPr txBox="1"/>
          <p:nvPr/>
        </p:nvSpPr>
        <p:spPr>
          <a:xfrm rot="16200000">
            <a:off x="10223500" y="2552700"/>
            <a:ext cx="622300" cy="2032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Arial"/>
              </a:rPr>
              <a:t>i (ECG)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11391900" y="3479800"/>
            <a:ext cx="1016000" cy="2032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Arial"/>
              </a:rPr>
              <a:t>j (PPG time)</a:t>
            </a:r>
          </a:p>
        </p:txBody>
      </p:sp>
      <p:cxnSp>
        <p:nvCxnSpPr>
          <p:cNvPr id="348" name="Connector 347"/>
          <p:cNvCxnSpPr/>
          <p:nvPr/>
        </p:nvCxnSpPr>
        <p:spPr>
          <a:xfrm>
            <a:off x="12471400" y="2603500"/>
            <a:ext cx="304800" cy="0"/>
          </a:xfrm>
          <a:prstGeom prst="line">
            <a:avLst/>
          </a:prstGeom>
          <a:ln w="1524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9" name="Freeform 348"/>
          <p:cNvSpPr/>
          <p:nvPr/>
        </p:nvSpPr>
        <p:spPr>
          <a:xfrm>
            <a:off x="12776200" y="25654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50" name="TextBox 349"/>
          <p:cNvSpPr txBox="1"/>
          <p:nvPr/>
        </p:nvSpPr>
        <p:spPr>
          <a:xfrm>
            <a:off x="12928600" y="1841500"/>
            <a:ext cx="508000" cy="2413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5EBB"/>
                </a:solidFill>
                <a:latin typeface="Arial"/>
              </a:rPr>
              <a:t>Vₚ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13017500" y="2146300"/>
            <a:ext cx="228600" cy="228600"/>
          </a:xfrm>
          <a:prstGeom prst="rect">
            <a:avLst/>
          </a:prstGeom>
          <a:solidFill>
            <a:srgbClr val="F5837D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52" name="Rectangle 351"/>
          <p:cNvSpPr/>
          <p:nvPr/>
        </p:nvSpPr>
        <p:spPr>
          <a:xfrm>
            <a:off x="13017500" y="2425700"/>
            <a:ext cx="228600" cy="228600"/>
          </a:xfrm>
          <a:prstGeom prst="rect">
            <a:avLst/>
          </a:prstGeom>
          <a:solidFill>
            <a:srgbClr val="F5837D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53" name="Rectangle 352"/>
          <p:cNvSpPr/>
          <p:nvPr/>
        </p:nvSpPr>
        <p:spPr>
          <a:xfrm>
            <a:off x="13017500" y="2705100"/>
            <a:ext cx="228600" cy="228600"/>
          </a:xfrm>
          <a:prstGeom prst="rect">
            <a:avLst/>
          </a:prstGeom>
          <a:solidFill>
            <a:srgbClr val="F5837D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54" name="Rectangle 353"/>
          <p:cNvSpPr/>
          <p:nvPr/>
        </p:nvSpPr>
        <p:spPr>
          <a:xfrm>
            <a:off x="13017500" y="2984500"/>
            <a:ext cx="228600" cy="228600"/>
          </a:xfrm>
          <a:prstGeom prst="rect">
            <a:avLst/>
          </a:prstGeom>
          <a:solidFill>
            <a:srgbClr val="F5837D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55" name="TextBox 354"/>
          <p:cNvSpPr txBox="1"/>
          <p:nvPr/>
        </p:nvSpPr>
        <p:spPr>
          <a:xfrm>
            <a:off x="12420600" y="3263900"/>
            <a:ext cx="1219200" cy="4064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D5EBB"/>
                </a:solidFill>
                <a:latin typeface="Arial"/>
              </a:rPr>
              <a:t>offsets 3–6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D5EBB"/>
                </a:solidFill>
                <a:latin typeface="Arial"/>
              </a:rPr>
              <a:t>ECG-leading pairs</a:t>
            </a:r>
          </a:p>
        </p:txBody>
      </p:sp>
      <p:sp>
        <p:nvSpPr>
          <p:cNvPr id="356" name="Rounded Rectangle 355"/>
          <p:cNvSpPr/>
          <p:nvPr/>
        </p:nvSpPr>
        <p:spPr>
          <a:xfrm>
            <a:off x="10121900" y="4025900"/>
            <a:ext cx="3543300" cy="3009900"/>
          </a:xfrm>
          <a:prstGeom prst="roundRect">
            <a:avLst>
              <a:gd name="adj" fmla="val 8000"/>
            </a:avLst>
          </a:prstGeom>
          <a:solidFill>
            <a:srgbClr val="FFFCFA"/>
          </a:solidFill>
          <a:ln w="13970">
            <a:solidFill>
              <a:srgbClr val="D66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57" name="TextBox 356"/>
          <p:cNvSpPr txBox="1"/>
          <p:nvPr/>
        </p:nvSpPr>
        <p:spPr>
          <a:xfrm>
            <a:off x="10863072" y="4078224"/>
            <a:ext cx="2084831" cy="36576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D66722"/>
                </a:solidFill>
                <a:latin typeface="Arial"/>
              </a:rPr>
              <a:t>PPG queries ECG
(P query; E key/value)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10607040" y="4443984"/>
            <a:ext cx="2606040" cy="27432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1010"/>
                </a:solidFill>
                <a:latin typeface="Arial"/>
              </a:rPr>
              <a:t>same ECG-leading pair relation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10312400" y="4889500"/>
            <a:ext cx="457200" cy="2667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01010"/>
                </a:solidFill>
                <a:latin typeface="Arial"/>
              </a:rPr>
              <a:t>Qₚ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10439400" y="5283200"/>
            <a:ext cx="203200" cy="152400"/>
          </a:xfrm>
          <a:prstGeom prst="rect">
            <a:avLst/>
          </a:prstGeom>
          <a:solidFill>
            <a:srgbClr val="F5837D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61" name="Rectangle 360"/>
          <p:cNvSpPr/>
          <p:nvPr/>
        </p:nvSpPr>
        <p:spPr>
          <a:xfrm>
            <a:off x="10439400" y="5461000"/>
            <a:ext cx="203200" cy="152400"/>
          </a:xfrm>
          <a:prstGeom prst="rect">
            <a:avLst/>
          </a:prstGeom>
          <a:solidFill>
            <a:srgbClr val="F5837D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62" name="Rectangle 361"/>
          <p:cNvSpPr/>
          <p:nvPr/>
        </p:nvSpPr>
        <p:spPr>
          <a:xfrm>
            <a:off x="10439400" y="5638800"/>
            <a:ext cx="203200" cy="152400"/>
          </a:xfrm>
          <a:prstGeom prst="rect">
            <a:avLst/>
          </a:prstGeom>
          <a:solidFill>
            <a:srgbClr val="F5837D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63" name="Rectangle 362"/>
          <p:cNvSpPr/>
          <p:nvPr/>
        </p:nvSpPr>
        <p:spPr>
          <a:xfrm>
            <a:off x="10439400" y="5816600"/>
            <a:ext cx="203200" cy="152400"/>
          </a:xfrm>
          <a:prstGeom prst="rect">
            <a:avLst/>
          </a:prstGeom>
          <a:solidFill>
            <a:srgbClr val="F5837D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64" name="Rectangle 363"/>
          <p:cNvSpPr/>
          <p:nvPr/>
        </p:nvSpPr>
        <p:spPr>
          <a:xfrm>
            <a:off x="10439400" y="5994400"/>
            <a:ext cx="203200" cy="152400"/>
          </a:xfrm>
          <a:prstGeom prst="rect">
            <a:avLst/>
          </a:prstGeom>
          <a:solidFill>
            <a:srgbClr val="F5837D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65" name="TextBox 364"/>
          <p:cNvSpPr txBox="1"/>
          <p:nvPr/>
        </p:nvSpPr>
        <p:spPr>
          <a:xfrm>
            <a:off x="12395200" y="4711700"/>
            <a:ext cx="635000" cy="2413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1010"/>
                </a:solidFill>
                <a:latin typeface="Arial"/>
              </a:rPr>
              <a:t>Kₑᵀ</a:t>
            </a:r>
          </a:p>
        </p:txBody>
      </p:sp>
      <p:sp>
        <p:nvSpPr>
          <p:cNvPr id="366" name="Rectangle 365"/>
          <p:cNvSpPr/>
          <p:nvPr/>
        </p:nvSpPr>
        <p:spPr>
          <a:xfrm>
            <a:off x="11023600" y="4762500"/>
            <a:ext cx="165100" cy="1524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67" name="Rectangle 366"/>
          <p:cNvSpPr/>
          <p:nvPr/>
        </p:nvSpPr>
        <p:spPr>
          <a:xfrm>
            <a:off x="11214100" y="4762500"/>
            <a:ext cx="165100" cy="1524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68" name="Rectangle 367"/>
          <p:cNvSpPr/>
          <p:nvPr/>
        </p:nvSpPr>
        <p:spPr>
          <a:xfrm>
            <a:off x="11404600" y="4762500"/>
            <a:ext cx="165100" cy="1524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69" name="Rectangle 368"/>
          <p:cNvSpPr/>
          <p:nvPr/>
        </p:nvSpPr>
        <p:spPr>
          <a:xfrm>
            <a:off x="11595100" y="4762500"/>
            <a:ext cx="165100" cy="1524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70" name="Rectangle 369"/>
          <p:cNvSpPr/>
          <p:nvPr/>
        </p:nvSpPr>
        <p:spPr>
          <a:xfrm>
            <a:off x="11785600" y="4762500"/>
            <a:ext cx="165100" cy="1524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71" name="Rectangle 370"/>
          <p:cNvSpPr/>
          <p:nvPr/>
        </p:nvSpPr>
        <p:spPr>
          <a:xfrm>
            <a:off x="11976100" y="4762500"/>
            <a:ext cx="165100" cy="1524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72" name="Rectangle 371"/>
          <p:cNvSpPr/>
          <p:nvPr/>
        </p:nvSpPr>
        <p:spPr>
          <a:xfrm>
            <a:off x="12166600" y="4762500"/>
            <a:ext cx="165100" cy="1524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73" name="Rectangle 372"/>
          <p:cNvSpPr/>
          <p:nvPr/>
        </p:nvSpPr>
        <p:spPr>
          <a:xfrm>
            <a:off x="12357100" y="4762500"/>
            <a:ext cx="165100" cy="1524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74" name="Rectangle 373"/>
          <p:cNvSpPr/>
          <p:nvPr/>
        </p:nvSpPr>
        <p:spPr>
          <a:xfrm>
            <a:off x="11061700" y="5080000"/>
            <a:ext cx="1320800" cy="1320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75" name="Freeform 374"/>
          <p:cNvSpPr/>
          <p:nvPr/>
        </p:nvSpPr>
        <p:spPr>
          <a:xfrm>
            <a:off x="11087100" y="5080000"/>
            <a:ext cx="1092200" cy="1320800"/>
          </a:xfrm>
          <a:custGeom>
            <a:avLst/>
            <a:gdLst/>
            <a:ahLst/>
            <a:cxnLst/>
            <a:rect l="l" t="t" r="r" b="b"/>
            <a:pathLst>
              <a:path w="86" h="104">
                <a:moveTo>
                  <a:pt x="0" y="0"/>
                </a:moveTo>
                <a:lnTo>
                  <a:pt x="17" y="0"/>
                </a:lnTo>
                <a:lnTo>
                  <a:pt x="86" y="104"/>
                </a:lnTo>
                <a:lnTo>
                  <a:pt x="69" y="104"/>
                </a:lnTo>
                <a:close/>
              </a:path>
            </a:pathLst>
          </a:custGeom>
          <a:solidFill>
            <a:srgbClr val="F8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76" name="Rectangle 375"/>
          <p:cNvSpPr/>
          <p:nvPr/>
        </p:nvSpPr>
        <p:spPr>
          <a:xfrm>
            <a:off x="11061700" y="5080000"/>
            <a:ext cx="110066" cy="110066"/>
          </a:xfrm>
          <a:prstGeom prst="rect">
            <a:avLst/>
          </a:prstGeom>
          <a:solidFill>
            <a:srgbClr val="F7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77" name="Rectangle 376"/>
          <p:cNvSpPr/>
          <p:nvPr/>
        </p:nvSpPr>
        <p:spPr>
          <a:xfrm>
            <a:off x="11171766" y="5080000"/>
            <a:ext cx="110066" cy="110066"/>
          </a:xfrm>
          <a:prstGeom prst="rect">
            <a:avLst/>
          </a:prstGeom>
          <a:solidFill>
            <a:srgbClr val="DC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78" name="Rectangle 377"/>
          <p:cNvSpPr/>
          <p:nvPr/>
        </p:nvSpPr>
        <p:spPr>
          <a:xfrm>
            <a:off x="11281833" y="5080000"/>
            <a:ext cx="110066" cy="110066"/>
          </a:xfrm>
          <a:prstGeom prst="rect">
            <a:avLst/>
          </a:prstGeom>
          <a:solidFill>
            <a:srgbClr val="E8A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79" name="Rectangle 378"/>
          <p:cNvSpPr/>
          <p:nvPr/>
        </p:nvSpPr>
        <p:spPr>
          <a:xfrm>
            <a:off x="11171766" y="5190066"/>
            <a:ext cx="110066" cy="110066"/>
          </a:xfrm>
          <a:prstGeom prst="rect">
            <a:avLst/>
          </a:prstGeom>
          <a:solidFill>
            <a:srgbClr val="E8A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80" name="Rectangle 379"/>
          <p:cNvSpPr/>
          <p:nvPr/>
        </p:nvSpPr>
        <p:spPr>
          <a:xfrm>
            <a:off x="11281833" y="5190066"/>
            <a:ext cx="110066" cy="110066"/>
          </a:xfrm>
          <a:prstGeom prst="rect">
            <a:avLst/>
          </a:prstGeom>
          <a:solidFill>
            <a:srgbClr val="DC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81" name="Rectangle 380"/>
          <p:cNvSpPr/>
          <p:nvPr/>
        </p:nvSpPr>
        <p:spPr>
          <a:xfrm>
            <a:off x="11391900" y="5190066"/>
            <a:ext cx="110066" cy="110066"/>
          </a:xfrm>
          <a:prstGeom prst="rect">
            <a:avLst/>
          </a:prstGeom>
          <a:solidFill>
            <a:srgbClr val="F7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82" name="Rectangle 381"/>
          <p:cNvSpPr/>
          <p:nvPr/>
        </p:nvSpPr>
        <p:spPr>
          <a:xfrm>
            <a:off x="11281833" y="5300133"/>
            <a:ext cx="110066" cy="110066"/>
          </a:xfrm>
          <a:prstGeom prst="rect">
            <a:avLst/>
          </a:prstGeom>
          <a:solidFill>
            <a:srgbClr val="E8A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83" name="Rectangle 382"/>
          <p:cNvSpPr/>
          <p:nvPr/>
        </p:nvSpPr>
        <p:spPr>
          <a:xfrm>
            <a:off x="11391900" y="5300133"/>
            <a:ext cx="110066" cy="110066"/>
          </a:xfrm>
          <a:prstGeom prst="rect">
            <a:avLst/>
          </a:prstGeom>
          <a:solidFill>
            <a:srgbClr val="DC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84" name="Rectangle 383"/>
          <p:cNvSpPr/>
          <p:nvPr/>
        </p:nvSpPr>
        <p:spPr>
          <a:xfrm>
            <a:off x="11501966" y="5300133"/>
            <a:ext cx="110066" cy="110066"/>
          </a:xfrm>
          <a:prstGeom prst="rect">
            <a:avLst/>
          </a:prstGeom>
          <a:solidFill>
            <a:srgbClr val="F7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85" name="Rectangle 384"/>
          <p:cNvSpPr/>
          <p:nvPr/>
        </p:nvSpPr>
        <p:spPr>
          <a:xfrm>
            <a:off x="11391900" y="5410200"/>
            <a:ext cx="110066" cy="110066"/>
          </a:xfrm>
          <a:prstGeom prst="rect">
            <a:avLst/>
          </a:prstGeom>
          <a:solidFill>
            <a:srgbClr val="DC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86" name="Rectangle 385"/>
          <p:cNvSpPr/>
          <p:nvPr/>
        </p:nvSpPr>
        <p:spPr>
          <a:xfrm>
            <a:off x="11501966" y="5410200"/>
            <a:ext cx="110066" cy="110066"/>
          </a:xfrm>
          <a:prstGeom prst="rect">
            <a:avLst/>
          </a:prstGeom>
          <a:solidFill>
            <a:srgbClr val="E8A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87" name="Rectangle 386"/>
          <p:cNvSpPr/>
          <p:nvPr/>
        </p:nvSpPr>
        <p:spPr>
          <a:xfrm>
            <a:off x="11391900" y="5520266"/>
            <a:ext cx="110066" cy="110066"/>
          </a:xfrm>
          <a:prstGeom prst="rect">
            <a:avLst/>
          </a:prstGeom>
          <a:solidFill>
            <a:srgbClr val="F7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88" name="Rectangle 387"/>
          <p:cNvSpPr/>
          <p:nvPr/>
        </p:nvSpPr>
        <p:spPr>
          <a:xfrm>
            <a:off x="11501966" y="5520266"/>
            <a:ext cx="110066" cy="110066"/>
          </a:xfrm>
          <a:prstGeom prst="rect">
            <a:avLst/>
          </a:prstGeom>
          <a:solidFill>
            <a:srgbClr val="DC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89" name="Rectangle 388"/>
          <p:cNvSpPr/>
          <p:nvPr/>
        </p:nvSpPr>
        <p:spPr>
          <a:xfrm>
            <a:off x="11612033" y="5520266"/>
            <a:ext cx="110066" cy="110066"/>
          </a:xfrm>
          <a:prstGeom prst="rect">
            <a:avLst/>
          </a:prstGeom>
          <a:solidFill>
            <a:srgbClr val="E8A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90" name="Rectangle 389"/>
          <p:cNvSpPr/>
          <p:nvPr/>
        </p:nvSpPr>
        <p:spPr>
          <a:xfrm>
            <a:off x="11501966" y="5630333"/>
            <a:ext cx="110066" cy="110066"/>
          </a:xfrm>
          <a:prstGeom prst="rect">
            <a:avLst/>
          </a:prstGeom>
          <a:solidFill>
            <a:srgbClr val="E8A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91" name="Rectangle 390"/>
          <p:cNvSpPr/>
          <p:nvPr/>
        </p:nvSpPr>
        <p:spPr>
          <a:xfrm>
            <a:off x="11612033" y="5630333"/>
            <a:ext cx="110066" cy="110066"/>
          </a:xfrm>
          <a:prstGeom prst="rect">
            <a:avLst/>
          </a:prstGeom>
          <a:solidFill>
            <a:srgbClr val="DC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92" name="Rectangle 391"/>
          <p:cNvSpPr/>
          <p:nvPr/>
        </p:nvSpPr>
        <p:spPr>
          <a:xfrm>
            <a:off x="11722100" y="5630333"/>
            <a:ext cx="110066" cy="110066"/>
          </a:xfrm>
          <a:prstGeom prst="rect">
            <a:avLst/>
          </a:prstGeom>
          <a:solidFill>
            <a:srgbClr val="F7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93" name="Rectangle 392"/>
          <p:cNvSpPr/>
          <p:nvPr/>
        </p:nvSpPr>
        <p:spPr>
          <a:xfrm>
            <a:off x="11612033" y="5740400"/>
            <a:ext cx="110066" cy="110066"/>
          </a:xfrm>
          <a:prstGeom prst="rect">
            <a:avLst/>
          </a:prstGeom>
          <a:solidFill>
            <a:srgbClr val="E8A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94" name="Rectangle 393"/>
          <p:cNvSpPr/>
          <p:nvPr/>
        </p:nvSpPr>
        <p:spPr>
          <a:xfrm>
            <a:off x="11722100" y="5740400"/>
            <a:ext cx="110066" cy="110066"/>
          </a:xfrm>
          <a:prstGeom prst="rect">
            <a:avLst/>
          </a:prstGeom>
          <a:solidFill>
            <a:srgbClr val="DC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95" name="Rectangle 394"/>
          <p:cNvSpPr/>
          <p:nvPr/>
        </p:nvSpPr>
        <p:spPr>
          <a:xfrm>
            <a:off x="11612033" y="5850466"/>
            <a:ext cx="110066" cy="110066"/>
          </a:xfrm>
          <a:prstGeom prst="rect">
            <a:avLst/>
          </a:prstGeom>
          <a:solidFill>
            <a:srgbClr val="F7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96" name="Rectangle 395"/>
          <p:cNvSpPr/>
          <p:nvPr/>
        </p:nvSpPr>
        <p:spPr>
          <a:xfrm>
            <a:off x="11722100" y="5850466"/>
            <a:ext cx="110066" cy="110066"/>
          </a:xfrm>
          <a:prstGeom prst="rect">
            <a:avLst/>
          </a:prstGeom>
          <a:solidFill>
            <a:srgbClr val="DC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97" name="Rectangle 396"/>
          <p:cNvSpPr/>
          <p:nvPr/>
        </p:nvSpPr>
        <p:spPr>
          <a:xfrm>
            <a:off x="11832166" y="5850466"/>
            <a:ext cx="110066" cy="110066"/>
          </a:xfrm>
          <a:prstGeom prst="rect">
            <a:avLst/>
          </a:prstGeom>
          <a:solidFill>
            <a:srgbClr val="E8A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98" name="Rectangle 397"/>
          <p:cNvSpPr/>
          <p:nvPr/>
        </p:nvSpPr>
        <p:spPr>
          <a:xfrm>
            <a:off x="11722100" y="5960533"/>
            <a:ext cx="110066" cy="110066"/>
          </a:xfrm>
          <a:prstGeom prst="rect">
            <a:avLst/>
          </a:prstGeom>
          <a:solidFill>
            <a:srgbClr val="F7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99" name="Rectangle 398"/>
          <p:cNvSpPr/>
          <p:nvPr/>
        </p:nvSpPr>
        <p:spPr>
          <a:xfrm>
            <a:off x="11832166" y="5960533"/>
            <a:ext cx="110066" cy="110066"/>
          </a:xfrm>
          <a:prstGeom prst="rect">
            <a:avLst/>
          </a:prstGeom>
          <a:solidFill>
            <a:srgbClr val="DC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00" name="Rectangle 399"/>
          <p:cNvSpPr/>
          <p:nvPr/>
        </p:nvSpPr>
        <p:spPr>
          <a:xfrm>
            <a:off x="11942233" y="5960533"/>
            <a:ext cx="110066" cy="110066"/>
          </a:xfrm>
          <a:prstGeom prst="rect">
            <a:avLst/>
          </a:prstGeom>
          <a:solidFill>
            <a:srgbClr val="E8A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01" name="Rectangle 400"/>
          <p:cNvSpPr/>
          <p:nvPr/>
        </p:nvSpPr>
        <p:spPr>
          <a:xfrm>
            <a:off x="11832166" y="6070600"/>
            <a:ext cx="110066" cy="110066"/>
          </a:xfrm>
          <a:prstGeom prst="rect">
            <a:avLst/>
          </a:prstGeom>
          <a:solidFill>
            <a:srgbClr val="E8A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02" name="Rectangle 401"/>
          <p:cNvSpPr/>
          <p:nvPr/>
        </p:nvSpPr>
        <p:spPr>
          <a:xfrm>
            <a:off x="11942233" y="6070600"/>
            <a:ext cx="110066" cy="110066"/>
          </a:xfrm>
          <a:prstGeom prst="rect">
            <a:avLst/>
          </a:prstGeom>
          <a:solidFill>
            <a:srgbClr val="DC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03" name="Rectangle 402"/>
          <p:cNvSpPr/>
          <p:nvPr/>
        </p:nvSpPr>
        <p:spPr>
          <a:xfrm>
            <a:off x="12052300" y="6070600"/>
            <a:ext cx="110066" cy="110066"/>
          </a:xfrm>
          <a:prstGeom prst="rect">
            <a:avLst/>
          </a:prstGeom>
          <a:solidFill>
            <a:srgbClr val="F7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04" name="Rectangle 403"/>
          <p:cNvSpPr/>
          <p:nvPr/>
        </p:nvSpPr>
        <p:spPr>
          <a:xfrm>
            <a:off x="11942233" y="6180666"/>
            <a:ext cx="110066" cy="110066"/>
          </a:xfrm>
          <a:prstGeom prst="rect">
            <a:avLst/>
          </a:prstGeom>
          <a:solidFill>
            <a:srgbClr val="DC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05" name="Rectangle 404"/>
          <p:cNvSpPr/>
          <p:nvPr/>
        </p:nvSpPr>
        <p:spPr>
          <a:xfrm>
            <a:off x="12052300" y="6180666"/>
            <a:ext cx="110066" cy="110066"/>
          </a:xfrm>
          <a:prstGeom prst="rect">
            <a:avLst/>
          </a:prstGeom>
          <a:solidFill>
            <a:srgbClr val="DC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06" name="Rectangle 405"/>
          <p:cNvSpPr/>
          <p:nvPr/>
        </p:nvSpPr>
        <p:spPr>
          <a:xfrm>
            <a:off x="11942233" y="6290733"/>
            <a:ext cx="110066" cy="110066"/>
          </a:xfrm>
          <a:prstGeom prst="rect">
            <a:avLst/>
          </a:prstGeom>
          <a:solidFill>
            <a:srgbClr val="F7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07" name="Rectangle 406"/>
          <p:cNvSpPr/>
          <p:nvPr/>
        </p:nvSpPr>
        <p:spPr>
          <a:xfrm>
            <a:off x="12052300" y="6290733"/>
            <a:ext cx="110066" cy="110066"/>
          </a:xfrm>
          <a:prstGeom prst="rect">
            <a:avLst/>
          </a:prstGeom>
          <a:solidFill>
            <a:srgbClr val="DC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08" name="Rectangle 407"/>
          <p:cNvSpPr/>
          <p:nvPr/>
        </p:nvSpPr>
        <p:spPr>
          <a:xfrm>
            <a:off x="12162366" y="6290733"/>
            <a:ext cx="110066" cy="110066"/>
          </a:xfrm>
          <a:prstGeom prst="rect">
            <a:avLst/>
          </a:prstGeom>
          <a:solidFill>
            <a:srgbClr val="E8A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409" name="Connector 408"/>
          <p:cNvCxnSpPr/>
          <p:nvPr/>
        </p:nvCxnSpPr>
        <p:spPr>
          <a:xfrm>
            <a:off x="11061700" y="5080000"/>
            <a:ext cx="0" cy="132080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>
            <a:off x="11061700" y="5080000"/>
            <a:ext cx="1320800" cy="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>
            <a:off x="11171766" y="5080000"/>
            <a:ext cx="0" cy="132080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>
            <a:off x="11061700" y="5190066"/>
            <a:ext cx="1320800" cy="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>
            <a:off x="11281833" y="5080000"/>
            <a:ext cx="0" cy="132080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>
            <a:off x="11061700" y="5300133"/>
            <a:ext cx="1320800" cy="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>
            <a:off x="11391900" y="5080000"/>
            <a:ext cx="0" cy="132080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>
            <a:off x="11061700" y="5410200"/>
            <a:ext cx="1320800" cy="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>
            <a:off x="11501966" y="5080000"/>
            <a:ext cx="0" cy="132080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>
            <a:off x="11061700" y="5520266"/>
            <a:ext cx="1320800" cy="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>
            <a:off x="11612033" y="5080000"/>
            <a:ext cx="0" cy="132080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>
            <a:off x="11061700" y="5630333"/>
            <a:ext cx="1320800" cy="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>
            <a:off x="11722100" y="5080000"/>
            <a:ext cx="0" cy="132080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>
            <a:off x="11061700" y="5740400"/>
            <a:ext cx="1320800" cy="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>
            <a:off x="11832166" y="5080000"/>
            <a:ext cx="0" cy="132080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>
            <a:off x="11061700" y="5850466"/>
            <a:ext cx="1320800" cy="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>
            <a:off x="11942233" y="5080000"/>
            <a:ext cx="0" cy="132080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>
            <a:off x="11061700" y="5960533"/>
            <a:ext cx="1320800" cy="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>
            <a:off x="12052300" y="5080000"/>
            <a:ext cx="0" cy="132080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>
            <a:off x="11061700" y="6070600"/>
            <a:ext cx="1320800" cy="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>
            <a:off x="12162366" y="5080000"/>
            <a:ext cx="0" cy="132080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>
            <a:off x="11061700" y="6180666"/>
            <a:ext cx="1320800" cy="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>
            <a:off x="12272433" y="5080000"/>
            <a:ext cx="0" cy="132080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>
            <a:off x="11061700" y="6290733"/>
            <a:ext cx="1320800" cy="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>
            <a:off x="12382500" y="5080000"/>
            <a:ext cx="0" cy="132080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11061700" y="6400800"/>
            <a:ext cx="1320800" cy="0"/>
          </a:xfrm>
          <a:prstGeom prst="line">
            <a:avLst/>
          </a:prstGeom>
          <a:ln w="4445">
            <a:solidFill>
              <a:srgbClr val="E4E7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5" name="Freeform 434"/>
          <p:cNvSpPr/>
          <p:nvPr/>
        </p:nvSpPr>
        <p:spPr>
          <a:xfrm>
            <a:off x="11391900" y="5080000"/>
            <a:ext cx="876300" cy="1320800"/>
          </a:xfrm>
          <a:custGeom>
            <a:avLst/>
            <a:gdLst/>
            <a:ahLst/>
            <a:cxnLst/>
            <a:rect l="l" t="t" r="r" b="b"/>
            <a:pathLst>
              <a:path w="69" h="104">
                <a:moveTo>
                  <a:pt x="0" y="0"/>
                </a:moveTo>
                <a:lnTo>
                  <a:pt x="69" y="104"/>
                </a:lnTo>
              </a:path>
            </a:pathLst>
          </a:custGeom>
          <a:noFill/>
          <a:ln w="7620">
            <a:solidFill>
              <a:srgbClr val="A5AC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36" name="Freeform 435"/>
          <p:cNvSpPr/>
          <p:nvPr/>
        </p:nvSpPr>
        <p:spPr>
          <a:xfrm>
            <a:off x="11303000" y="5080000"/>
            <a:ext cx="876300" cy="1320800"/>
          </a:xfrm>
          <a:custGeom>
            <a:avLst/>
            <a:gdLst/>
            <a:ahLst/>
            <a:cxnLst/>
            <a:rect l="l" t="t" r="r" b="b"/>
            <a:pathLst>
              <a:path w="69" h="104">
                <a:moveTo>
                  <a:pt x="0" y="0"/>
                </a:moveTo>
                <a:lnTo>
                  <a:pt x="69" y="104"/>
                </a:lnTo>
              </a:path>
            </a:pathLst>
          </a:custGeom>
          <a:noFill/>
          <a:ln w="10160">
            <a:solidFill>
              <a:srgbClr val="D6672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37" name="Freeform 436"/>
          <p:cNvSpPr/>
          <p:nvPr/>
        </p:nvSpPr>
        <p:spPr>
          <a:xfrm>
            <a:off x="11087100" y="5080000"/>
            <a:ext cx="876300" cy="1320800"/>
          </a:xfrm>
          <a:custGeom>
            <a:avLst/>
            <a:gdLst/>
            <a:ahLst/>
            <a:cxnLst/>
            <a:rect l="l" t="t" r="r" b="b"/>
            <a:pathLst>
              <a:path w="69" h="104">
                <a:moveTo>
                  <a:pt x="0" y="0"/>
                </a:moveTo>
                <a:lnTo>
                  <a:pt x="69" y="104"/>
                </a:lnTo>
              </a:path>
            </a:pathLst>
          </a:custGeom>
          <a:noFill/>
          <a:ln w="10160">
            <a:solidFill>
              <a:srgbClr val="D6672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38" name="Freeform 437"/>
          <p:cNvSpPr/>
          <p:nvPr/>
        </p:nvSpPr>
        <p:spPr>
          <a:xfrm>
            <a:off x="11201400" y="5080000"/>
            <a:ext cx="876300" cy="1320800"/>
          </a:xfrm>
          <a:custGeom>
            <a:avLst/>
            <a:gdLst/>
            <a:ahLst/>
            <a:cxnLst/>
            <a:rect l="l" t="t" r="r" b="b"/>
            <a:pathLst>
              <a:path w="69" h="104">
                <a:moveTo>
                  <a:pt x="0" y="0"/>
                </a:moveTo>
                <a:lnTo>
                  <a:pt x="69" y="104"/>
                </a:lnTo>
              </a:path>
            </a:pathLst>
          </a:custGeom>
          <a:noFill/>
          <a:ln w="15240">
            <a:solidFill>
              <a:srgbClr val="D66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439" name="Connector 438"/>
          <p:cNvCxnSpPr/>
          <p:nvPr/>
        </p:nvCxnSpPr>
        <p:spPr>
          <a:xfrm>
            <a:off x="10820400" y="5283200"/>
            <a:ext cx="0" cy="838200"/>
          </a:xfrm>
          <a:prstGeom prst="line">
            <a:avLst/>
          </a:prstGeom>
          <a:ln w="1524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0" name="Freeform 439"/>
          <p:cNvSpPr/>
          <p:nvPr/>
        </p:nvSpPr>
        <p:spPr>
          <a:xfrm>
            <a:off x="10769600" y="6121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8"/>
                </a:moveTo>
                <a:lnTo>
                  <a:pt x="0" y="0"/>
                </a:lnTo>
                <a:lnTo>
                  <a:pt x="8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441" name="Connector 440"/>
          <p:cNvCxnSpPr/>
          <p:nvPr/>
        </p:nvCxnSpPr>
        <p:spPr>
          <a:xfrm>
            <a:off x="11074400" y="6553200"/>
            <a:ext cx="1104900" cy="0"/>
          </a:xfrm>
          <a:prstGeom prst="line">
            <a:avLst/>
          </a:prstGeom>
          <a:ln w="1524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2" name="Freeform 441"/>
          <p:cNvSpPr/>
          <p:nvPr/>
        </p:nvSpPr>
        <p:spPr>
          <a:xfrm>
            <a:off x="12179300" y="6502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43" name="TextBox 442"/>
          <p:cNvSpPr txBox="1"/>
          <p:nvPr/>
        </p:nvSpPr>
        <p:spPr>
          <a:xfrm rot="16200000">
            <a:off x="10223500" y="5651500"/>
            <a:ext cx="622300" cy="2032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Arial"/>
              </a:rPr>
              <a:t>j (PPG)</a:t>
            </a:r>
          </a:p>
        </p:txBody>
      </p:sp>
      <p:sp>
        <p:nvSpPr>
          <p:cNvPr id="444" name="TextBox 443"/>
          <p:cNvSpPr txBox="1"/>
          <p:nvPr/>
        </p:nvSpPr>
        <p:spPr>
          <a:xfrm>
            <a:off x="11366500" y="6604000"/>
            <a:ext cx="1041400" cy="2032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Arial"/>
              </a:rPr>
              <a:t>i (ECG time)</a:t>
            </a:r>
          </a:p>
        </p:txBody>
      </p:sp>
      <p:cxnSp>
        <p:nvCxnSpPr>
          <p:cNvPr id="445" name="Connector 444"/>
          <p:cNvCxnSpPr/>
          <p:nvPr/>
        </p:nvCxnSpPr>
        <p:spPr>
          <a:xfrm>
            <a:off x="12471400" y="5727700"/>
            <a:ext cx="304800" cy="0"/>
          </a:xfrm>
          <a:prstGeom prst="line">
            <a:avLst/>
          </a:prstGeom>
          <a:ln w="1524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6" name="Freeform 445"/>
          <p:cNvSpPr/>
          <p:nvPr/>
        </p:nvSpPr>
        <p:spPr>
          <a:xfrm>
            <a:off x="12776200" y="56896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47" name="TextBox 446"/>
          <p:cNvSpPr txBox="1"/>
          <p:nvPr/>
        </p:nvSpPr>
        <p:spPr>
          <a:xfrm>
            <a:off x="12928600" y="4965700"/>
            <a:ext cx="508000" cy="2413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6A2D"/>
                </a:solidFill>
                <a:latin typeface="Arial"/>
              </a:rPr>
              <a:t>Vₑ</a:t>
            </a:r>
          </a:p>
        </p:txBody>
      </p:sp>
      <p:sp>
        <p:nvSpPr>
          <p:cNvPr id="448" name="Rectangle 447"/>
          <p:cNvSpPr/>
          <p:nvPr/>
        </p:nvSpPr>
        <p:spPr>
          <a:xfrm>
            <a:off x="13017500" y="5270500"/>
            <a:ext cx="228600" cy="2286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49" name="Rectangle 448"/>
          <p:cNvSpPr/>
          <p:nvPr/>
        </p:nvSpPr>
        <p:spPr>
          <a:xfrm>
            <a:off x="13017500" y="5549900"/>
            <a:ext cx="228600" cy="2286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50" name="Rectangle 449"/>
          <p:cNvSpPr/>
          <p:nvPr/>
        </p:nvSpPr>
        <p:spPr>
          <a:xfrm>
            <a:off x="13017500" y="5829300"/>
            <a:ext cx="228600" cy="2286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51" name="Rectangle 450"/>
          <p:cNvSpPr/>
          <p:nvPr/>
        </p:nvSpPr>
        <p:spPr>
          <a:xfrm>
            <a:off x="13017500" y="6108700"/>
            <a:ext cx="228600" cy="2286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52" name="TextBox 451"/>
          <p:cNvSpPr txBox="1"/>
          <p:nvPr/>
        </p:nvSpPr>
        <p:spPr>
          <a:xfrm>
            <a:off x="12420600" y="6629400"/>
            <a:ext cx="1219200" cy="3556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66722"/>
                </a:solidFill>
                <a:latin typeface="Arial"/>
              </a:rPr>
              <a:t>offsets 3–6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D66722"/>
                </a:solidFill>
                <a:latin typeface="Arial"/>
              </a:rPr>
              <a:t>ECG-leading pairs</a:t>
            </a:r>
          </a:p>
        </p:txBody>
      </p:sp>
      <p:cxnSp>
        <p:nvCxnSpPr>
          <p:cNvPr id="453" name="Connector 452"/>
          <p:cNvCxnSpPr/>
          <p:nvPr/>
        </p:nvCxnSpPr>
        <p:spPr>
          <a:xfrm>
            <a:off x="13665200" y="2679700"/>
            <a:ext cx="247511" cy="1119695"/>
          </a:xfrm>
          <a:prstGeom prst="line">
            <a:avLst/>
          </a:prstGeom>
          <a:ln w="1651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4" name="Freeform 453"/>
          <p:cNvSpPr/>
          <p:nvPr/>
        </p:nvSpPr>
        <p:spPr>
          <a:xfrm>
            <a:off x="13868400" y="3784600"/>
            <a:ext cx="88900" cy="101600"/>
          </a:xfrm>
          <a:custGeom>
            <a:avLst/>
            <a:gdLst/>
            <a:ahLst/>
            <a:cxnLst/>
            <a:rect l="l" t="t" r="r" b="b"/>
            <a:pathLst>
              <a:path w="7" h="8">
                <a:moveTo>
                  <a:pt x="5" y="8"/>
                </a:moveTo>
                <a:lnTo>
                  <a:pt x="0" y="2"/>
                </a:lnTo>
                <a:lnTo>
                  <a:pt x="7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455" name="Connector 454"/>
          <p:cNvCxnSpPr/>
          <p:nvPr/>
        </p:nvCxnSpPr>
        <p:spPr>
          <a:xfrm flipV="1">
            <a:off x="13665200" y="5175131"/>
            <a:ext cx="233410" cy="577969"/>
          </a:xfrm>
          <a:prstGeom prst="line">
            <a:avLst/>
          </a:prstGeom>
          <a:ln w="1651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6" name="Freeform 455"/>
          <p:cNvSpPr/>
          <p:nvPr/>
        </p:nvSpPr>
        <p:spPr>
          <a:xfrm>
            <a:off x="13855700" y="50927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6" y="0"/>
                </a:moveTo>
                <a:lnTo>
                  <a:pt x="6" y="8"/>
                </a:lnTo>
                <a:lnTo>
                  <a:pt x="0" y="5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57" name="Rounded Rectangle 456"/>
          <p:cNvSpPr/>
          <p:nvPr/>
        </p:nvSpPr>
        <p:spPr>
          <a:xfrm>
            <a:off x="13931900" y="3479800"/>
            <a:ext cx="952500" cy="723900"/>
          </a:xfrm>
          <a:prstGeom prst="roundRect">
            <a:avLst>
              <a:gd name="adj" fmla="val 8000"/>
            </a:avLst>
          </a:prstGeom>
          <a:solidFill>
            <a:srgbClr val="F3F8FF"/>
          </a:solidFill>
          <a:ln w="13970">
            <a:solidFill>
              <a:srgbClr val="1D5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58" name="TextBox 457"/>
          <p:cNvSpPr txBox="1"/>
          <p:nvPr/>
        </p:nvSpPr>
        <p:spPr>
          <a:xfrm>
            <a:off x="13995400" y="3568700"/>
            <a:ext cx="838200" cy="5334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101010"/>
                </a:solidFill>
                <a:latin typeface="Arial"/>
              </a:rPr>
              <a:t>Aᴱᴾᵢⱼ edge
scores</a:t>
            </a:r>
          </a:p>
        </p:txBody>
      </p:sp>
      <p:sp>
        <p:nvSpPr>
          <p:cNvPr id="459" name="Rounded Rectangle 458"/>
          <p:cNvSpPr/>
          <p:nvPr/>
        </p:nvSpPr>
        <p:spPr>
          <a:xfrm>
            <a:off x="13931900" y="4699000"/>
            <a:ext cx="952500" cy="723900"/>
          </a:xfrm>
          <a:prstGeom prst="roundRect">
            <a:avLst>
              <a:gd name="adj" fmla="val 8000"/>
            </a:avLst>
          </a:prstGeom>
          <a:solidFill>
            <a:srgbClr val="FFF6EF"/>
          </a:solidFill>
          <a:ln w="13970">
            <a:solidFill>
              <a:srgbClr val="D66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60" name="TextBox 459"/>
          <p:cNvSpPr txBox="1"/>
          <p:nvPr/>
        </p:nvSpPr>
        <p:spPr>
          <a:xfrm>
            <a:off x="13995400" y="4787900"/>
            <a:ext cx="838200" cy="5334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101010"/>
                </a:solidFill>
                <a:latin typeface="Arial"/>
              </a:rPr>
              <a:t>Aᴾᴱⱼᵢ reciprocal
scores</a:t>
            </a:r>
          </a:p>
        </p:txBody>
      </p:sp>
      <p:cxnSp>
        <p:nvCxnSpPr>
          <p:cNvPr id="461" name="Connector 460"/>
          <p:cNvCxnSpPr/>
          <p:nvPr/>
        </p:nvCxnSpPr>
        <p:spPr>
          <a:xfrm>
            <a:off x="14884400" y="3835400"/>
            <a:ext cx="174277" cy="424802"/>
          </a:xfrm>
          <a:prstGeom prst="line">
            <a:avLst/>
          </a:prstGeom>
          <a:ln w="1524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2" name="Freeform 461"/>
          <p:cNvSpPr/>
          <p:nvPr/>
        </p:nvSpPr>
        <p:spPr>
          <a:xfrm>
            <a:off x="15024100" y="4241800"/>
            <a:ext cx="63500" cy="88900"/>
          </a:xfrm>
          <a:custGeom>
            <a:avLst/>
            <a:gdLst/>
            <a:ahLst/>
            <a:cxnLst/>
            <a:rect l="l" t="t" r="r" b="b"/>
            <a:pathLst>
              <a:path w="5" h="7">
                <a:moveTo>
                  <a:pt x="5" y="7"/>
                </a:moveTo>
                <a:lnTo>
                  <a:pt x="0" y="2"/>
                </a:lnTo>
                <a:lnTo>
                  <a:pt x="5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463" name="Connector 462"/>
          <p:cNvCxnSpPr/>
          <p:nvPr/>
        </p:nvCxnSpPr>
        <p:spPr>
          <a:xfrm flipV="1">
            <a:off x="14884400" y="4777860"/>
            <a:ext cx="165394" cy="289440"/>
          </a:xfrm>
          <a:prstGeom prst="line">
            <a:avLst/>
          </a:prstGeom>
          <a:ln w="1524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4" name="Freeform 463"/>
          <p:cNvSpPr/>
          <p:nvPr/>
        </p:nvSpPr>
        <p:spPr>
          <a:xfrm>
            <a:off x="15024100" y="4711700"/>
            <a:ext cx="63500" cy="88900"/>
          </a:xfrm>
          <a:custGeom>
            <a:avLst/>
            <a:gdLst/>
            <a:ahLst/>
            <a:cxnLst/>
            <a:rect l="l" t="t" r="r" b="b"/>
            <a:pathLst>
              <a:path w="5" h="7">
                <a:moveTo>
                  <a:pt x="5" y="0"/>
                </a:moveTo>
                <a:lnTo>
                  <a:pt x="4" y="7"/>
                </a:lnTo>
                <a:lnTo>
                  <a:pt x="0" y="4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65" name="Rounded Rectangle 464"/>
          <p:cNvSpPr/>
          <p:nvPr/>
        </p:nvSpPr>
        <p:spPr>
          <a:xfrm>
            <a:off x="15087600" y="4279900"/>
            <a:ext cx="990600" cy="87630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13970">
            <a:solidFill>
              <a:srgbClr val="8B6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66" name="TextBox 465"/>
          <p:cNvSpPr txBox="1"/>
          <p:nvPr/>
        </p:nvSpPr>
        <p:spPr>
          <a:xfrm>
            <a:off x="15163800" y="4381500"/>
            <a:ext cx="838200" cy="304800"/>
          </a:xfrm>
          <a:prstGeom prst="rect">
            <a:avLst/>
          </a:prstGeom>
          <a:noFill/>
          <a:effectLst/>
        </p:spPr>
        <p:txBody>
          <a:bodyPr wrap="none" lIns="10160" rIns="10160" tIns="10160" bIns="1016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01010"/>
                </a:solidFill>
                <a:latin typeface="Arial"/>
              </a:rPr>
              <a:t>Bᵢⱼ pair
affinity</a:t>
            </a:r>
          </a:p>
        </p:txBody>
      </p:sp>
      <p:sp>
        <p:nvSpPr>
          <p:cNvPr id="467" name="Rounded Rectangle 466"/>
          <p:cNvSpPr/>
          <p:nvPr/>
        </p:nvSpPr>
        <p:spPr>
          <a:xfrm>
            <a:off x="15316200" y="4699000"/>
            <a:ext cx="533400" cy="254000"/>
          </a:xfrm>
          <a:prstGeom prst="roundRect">
            <a:avLst>
              <a:gd name="adj" fmla="val 8000"/>
            </a:avLst>
          </a:prstGeom>
          <a:solidFill>
            <a:srgbClr val="FFF1B6"/>
          </a:solidFill>
          <a:ln w="8890">
            <a:solidFill>
              <a:srgbClr val="B9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68" name="TextBox 467"/>
          <p:cNvSpPr txBox="1"/>
          <p:nvPr/>
        </p:nvSpPr>
        <p:spPr>
          <a:xfrm>
            <a:off x="15341600" y="4749800"/>
            <a:ext cx="482600" cy="1397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01010"/>
                </a:solidFill>
                <a:latin typeface="Arial"/>
              </a:rPr>
              <a:t>√(AᴱᴾAᴾᴱ)</a:t>
            </a:r>
          </a:p>
        </p:txBody>
      </p:sp>
      <p:sp>
        <p:nvSpPr>
          <p:cNvPr id="469" name="TextBox 468"/>
          <p:cNvSpPr txBox="1"/>
          <p:nvPr/>
        </p:nvSpPr>
        <p:spPr>
          <a:xfrm>
            <a:off x="14947900" y="5219700"/>
            <a:ext cx="1320800" cy="5080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" b="0" i="0">
                <a:solidFill>
                  <a:srgbClr val="101010"/>
                </a:solidFill>
                <a:latin typeface="Arial"/>
              </a:rPr>
              <a:t/>
            </a:r>
          </a:p>
        </p:txBody>
      </p:sp>
      <p:sp>
        <p:nvSpPr>
          <p:cNvPr id="470" name="TextBox 469"/>
          <p:cNvSpPr txBox="1"/>
          <p:nvPr/>
        </p:nvSpPr>
        <p:spPr>
          <a:xfrm>
            <a:off x="15873984" y="228600"/>
            <a:ext cx="1719072" cy="5588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62B68"/>
                </a:solidFill>
                <a:latin typeface="Arial"/>
              </a:rPr>
              <a:t>5) Edge-Aligned Pair Fusion</a:t>
            </a:r>
          </a:p>
        </p:txBody>
      </p:sp>
      <p:sp>
        <p:nvSpPr>
          <p:cNvPr id="471" name="Rounded Rectangle 470"/>
          <p:cNvSpPr/>
          <p:nvPr/>
        </p:nvSpPr>
        <p:spPr>
          <a:xfrm>
            <a:off x="16027400" y="1231900"/>
            <a:ext cx="1574800" cy="1485900"/>
          </a:xfrm>
          <a:prstGeom prst="roundRect">
            <a:avLst>
              <a:gd name="adj" fmla="val 8000"/>
            </a:avLst>
          </a:prstGeom>
          <a:solidFill>
            <a:srgbClr val="FBFEFF"/>
          </a:solidFill>
          <a:ln w="12700">
            <a:solidFill>
              <a:srgbClr val="1D5E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72" name="TextBox 471"/>
          <p:cNvSpPr txBox="1"/>
          <p:nvPr/>
        </p:nvSpPr>
        <p:spPr>
          <a:xfrm>
            <a:off x="16357600" y="1397000"/>
            <a:ext cx="889000" cy="3937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062B68"/>
                </a:solidFill>
                <a:latin typeface="Arial"/>
              </a:rPr>
              <a:t>SQI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80" b="1" i="0">
                <a:solidFill>
                  <a:srgbClr val="062B68"/>
                </a:solidFill>
                <a:latin typeface="Arial"/>
              </a:rPr>
              <a:t>tokens</a:t>
            </a:r>
          </a:p>
        </p:txBody>
      </p:sp>
      <p:sp>
        <p:nvSpPr>
          <p:cNvPr id="473" name="TextBox 472"/>
          <p:cNvSpPr txBox="1"/>
          <p:nvPr/>
        </p:nvSpPr>
        <p:spPr>
          <a:xfrm>
            <a:off x="16141700" y="1968500"/>
            <a:ext cx="368300" cy="2413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Arial"/>
              </a:rPr>
              <a:t>qₑ</a:t>
            </a:r>
          </a:p>
        </p:txBody>
      </p:sp>
      <p:sp>
        <p:nvSpPr>
          <p:cNvPr id="474" name="Rectangle 473"/>
          <p:cNvSpPr/>
          <p:nvPr/>
        </p:nvSpPr>
        <p:spPr>
          <a:xfrm>
            <a:off x="16522700" y="1943100"/>
            <a:ext cx="165100" cy="1905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75" name="Rectangle 474"/>
          <p:cNvSpPr/>
          <p:nvPr/>
        </p:nvSpPr>
        <p:spPr>
          <a:xfrm>
            <a:off x="16725900" y="1943100"/>
            <a:ext cx="165100" cy="1905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76" name="Rectangle 475"/>
          <p:cNvSpPr/>
          <p:nvPr/>
        </p:nvSpPr>
        <p:spPr>
          <a:xfrm>
            <a:off x="16929100" y="1943100"/>
            <a:ext cx="165100" cy="1905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77" name="Rectangle 476"/>
          <p:cNvSpPr/>
          <p:nvPr/>
        </p:nvSpPr>
        <p:spPr>
          <a:xfrm>
            <a:off x="17132300" y="1943100"/>
            <a:ext cx="165100" cy="1905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78" name="Rectangle 477"/>
          <p:cNvSpPr/>
          <p:nvPr/>
        </p:nvSpPr>
        <p:spPr>
          <a:xfrm>
            <a:off x="17335500" y="1943100"/>
            <a:ext cx="165100" cy="1905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79" name="TextBox 478"/>
          <p:cNvSpPr txBox="1"/>
          <p:nvPr/>
        </p:nvSpPr>
        <p:spPr>
          <a:xfrm>
            <a:off x="16141700" y="2324100"/>
            <a:ext cx="368300" cy="2413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Arial"/>
              </a:rPr>
              <a:t>qₚ</a:t>
            </a:r>
          </a:p>
        </p:txBody>
      </p:sp>
      <p:sp>
        <p:nvSpPr>
          <p:cNvPr id="480" name="Rectangle 479"/>
          <p:cNvSpPr/>
          <p:nvPr/>
        </p:nvSpPr>
        <p:spPr>
          <a:xfrm>
            <a:off x="16522700" y="2298700"/>
            <a:ext cx="165100" cy="190500"/>
          </a:xfrm>
          <a:prstGeom prst="rect">
            <a:avLst/>
          </a:prstGeom>
          <a:solidFill>
            <a:srgbClr val="F5837D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81" name="Rectangle 480"/>
          <p:cNvSpPr/>
          <p:nvPr/>
        </p:nvSpPr>
        <p:spPr>
          <a:xfrm>
            <a:off x="16725900" y="2298700"/>
            <a:ext cx="165100" cy="190500"/>
          </a:xfrm>
          <a:prstGeom prst="rect">
            <a:avLst/>
          </a:prstGeom>
          <a:solidFill>
            <a:srgbClr val="F5837D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82" name="Rectangle 481"/>
          <p:cNvSpPr/>
          <p:nvPr/>
        </p:nvSpPr>
        <p:spPr>
          <a:xfrm>
            <a:off x="16929100" y="2298700"/>
            <a:ext cx="165100" cy="190500"/>
          </a:xfrm>
          <a:prstGeom prst="rect">
            <a:avLst/>
          </a:prstGeom>
          <a:solidFill>
            <a:srgbClr val="F5837D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83" name="Rectangle 482"/>
          <p:cNvSpPr/>
          <p:nvPr/>
        </p:nvSpPr>
        <p:spPr>
          <a:xfrm>
            <a:off x="17132300" y="2298700"/>
            <a:ext cx="165100" cy="190500"/>
          </a:xfrm>
          <a:prstGeom prst="rect">
            <a:avLst/>
          </a:prstGeom>
          <a:solidFill>
            <a:srgbClr val="F5837D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84" name="Rectangle 483"/>
          <p:cNvSpPr/>
          <p:nvPr/>
        </p:nvSpPr>
        <p:spPr>
          <a:xfrm>
            <a:off x="17335500" y="2298700"/>
            <a:ext cx="165100" cy="190500"/>
          </a:xfrm>
          <a:prstGeom prst="rect">
            <a:avLst/>
          </a:prstGeom>
          <a:solidFill>
            <a:srgbClr val="F5837D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485" name="Connector 484"/>
          <p:cNvCxnSpPr/>
          <p:nvPr/>
        </p:nvCxnSpPr>
        <p:spPr>
          <a:xfrm>
            <a:off x="13665200" y="2679700"/>
            <a:ext cx="1371600" cy="0"/>
          </a:xfrm>
          <a:prstGeom prst="line">
            <a:avLst/>
          </a:prstGeom>
          <a:ln w="12700">
            <a:solidFill>
              <a:srgbClr val="10101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 flipV="1">
            <a:off x="15036800" y="1600200"/>
            <a:ext cx="0" cy="1079500"/>
          </a:xfrm>
          <a:prstGeom prst="line">
            <a:avLst/>
          </a:prstGeom>
          <a:ln w="12700">
            <a:solidFill>
              <a:srgbClr val="10101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>
            <a:off x="15036800" y="1600200"/>
            <a:ext cx="990600" cy="0"/>
          </a:xfrm>
          <a:prstGeom prst="line">
            <a:avLst/>
          </a:prstGeom>
          <a:ln w="12700">
            <a:solidFill>
              <a:srgbClr val="10101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16027400" y="1600200"/>
            <a:ext cx="0" cy="266700"/>
          </a:xfrm>
          <a:prstGeom prst="line">
            <a:avLst/>
          </a:prstGeom>
          <a:ln w="12700">
            <a:solidFill>
              <a:srgbClr val="10101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9" name="Freeform 488"/>
          <p:cNvSpPr/>
          <p:nvPr/>
        </p:nvSpPr>
        <p:spPr>
          <a:xfrm>
            <a:off x="15989300" y="18669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3" y="6"/>
                </a:moveTo>
                <a:lnTo>
                  <a:pt x="0" y="0"/>
                </a:lnTo>
                <a:lnTo>
                  <a:pt x="6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490" name="Connector 489"/>
          <p:cNvCxnSpPr/>
          <p:nvPr/>
        </p:nvCxnSpPr>
        <p:spPr>
          <a:xfrm>
            <a:off x="16814800" y="2717800"/>
            <a:ext cx="0" cy="736600"/>
          </a:xfrm>
          <a:prstGeom prst="line">
            <a:avLst/>
          </a:prstGeom>
          <a:ln w="1397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1" name="Freeform 490"/>
          <p:cNvSpPr/>
          <p:nvPr/>
        </p:nvSpPr>
        <p:spPr>
          <a:xfrm>
            <a:off x="16776700" y="34544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3" y="7"/>
                </a:moveTo>
                <a:lnTo>
                  <a:pt x="0" y="0"/>
                </a:lnTo>
                <a:lnTo>
                  <a:pt x="6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492" name="Connector 491"/>
          <p:cNvCxnSpPr/>
          <p:nvPr/>
        </p:nvCxnSpPr>
        <p:spPr>
          <a:xfrm flipV="1">
            <a:off x="16814800" y="2806700"/>
            <a:ext cx="0" cy="736600"/>
          </a:xfrm>
          <a:prstGeom prst="line">
            <a:avLst/>
          </a:prstGeom>
          <a:ln w="1397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3" name="Freeform 492"/>
          <p:cNvSpPr/>
          <p:nvPr/>
        </p:nvSpPr>
        <p:spPr>
          <a:xfrm>
            <a:off x="16776700" y="27178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3" y="0"/>
                </a:moveTo>
                <a:lnTo>
                  <a:pt x="6" y="7"/>
                </a:lnTo>
                <a:lnTo>
                  <a:pt x="0" y="7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94" name="Rounded Rectangle 493"/>
          <p:cNvSpPr/>
          <p:nvPr/>
        </p:nvSpPr>
        <p:spPr>
          <a:xfrm>
            <a:off x="16217900" y="3657600"/>
            <a:ext cx="1397000" cy="1866900"/>
          </a:xfrm>
          <a:prstGeom prst="roundRect">
            <a:avLst>
              <a:gd name="adj" fmla="val 8000"/>
            </a:avLst>
          </a:prstGeom>
          <a:solidFill>
            <a:srgbClr val="FBFBFF"/>
          </a:solidFill>
          <a:ln w="13970">
            <a:solidFill>
              <a:srgbClr val="8B6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95" name="TextBox 494"/>
          <p:cNvSpPr txBox="1"/>
          <p:nvPr/>
        </p:nvSpPr>
        <p:spPr>
          <a:xfrm>
            <a:off x="16484600" y="3822700"/>
            <a:ext cx="863600" cy="3937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01010"/>
                </a:solidFill>
                <a:latin typeface="Arial"/>
              </a:rPr>
              <a:t>pairwise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40" b="1" i="0">
                <a:solidFill>
                  <a:srgbClr val="101010"/>
                </a:solidFill>
                <a:latin typeface="Arial"/>
              </a:rPr>
              <a:t>reliability</a:t>
            </a:r>
          </a:p>
        </p:txBody>
      </p:sp>
      <p:sp>
        <p:nvSpPr>
          <p:cNvPr id="496" name="TextBox 495"/>
          <p:cNvSpPr txBox="1"/>
          <p:nvPr/>
        </p:nvSpPr>
        <p:spPr>
          <a:xfrm>
            <a:off x="16395700" y="4419600"/>
            <a:ext cx="508000" cy="2286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Arial"/>
              </a:rPr>
              <a:t>rᵢⱼ</a:t>
            </a:r>
          </a:p>
        </p:txBody>
      </p:sp>
      <p:sp>
        <p:nvSpPr>
          <p:cNvPr id="497" name="TextBox 496"/>
          <p:cNvSpPr txBox="1"/>
          <p:nvPr/>
        </p:nvSpPr>
        <p:spPr>
          <a:xfrm>
            <a:off x="16941800" y="4419600"/>
            <a:ext cx="508000" cy="2286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Arial"/>
              </a:rPr>
              <a:t/>
            </a:r>
          </a:p>
        </p:txBody>
      </p:sp>
      <p:sp>
        <p:nvSpPr>
          <p:cNvPr id="498" name="Rectangle 497"/>
          <p:cNvSpPr/>
          <p:nvPr/>
        </p:nvSpPr>
        <p:spPr>
          <a:xfrm>
            <a:off x="16535400" y="4711700"/>
            <a:ext cx="215900" cy="2286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99" name="Rectangle 498"/>
          <p:cNvSpPr/>
          <p:nvPr/>
        </p:nvSpPr>
        <p:spPr>
          <a:xfrm>
            <a:off x="17081500" y="4711700"/>
            <a:ext cx="215900" cy="228600"/>
          </a:xfrm>
          <a:prstGeom prst="rect">
            <a:avLst/>
          </a:prstGeom>
          <a:solidFill>
            <a:srgbClr val="F5837D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500" name="Connector 499"/>
          <p:cNvCxnSpPr/>
          <p:nvPr/>
        </p:nvCxnSpPr>
        <p:spPr>
          <a:xfrm>
            <a:off x="16637000" y="4965700"/>
            <a:ext cx="130417" cy="271702"/>
          </a:xfrm>
          <a:prstGeom prst="line">
            <a:avLst/>
          </a:prstGeom>
          <a:ln w="10160">
            <a:solidFill>
              <a:srgbClr val="A0A0A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1" name="Freeform 500"/>
          <p:cNvSpPr/>
          <p:nvPr/>
        </p:nvSpPr>
        <p:spPr>
          <a:xfrm>
            <a:off x="16751300" y="5232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0" y="1"/>
                </a:lnTo>
                <a:lnTo>
                  <a:pt x="3" y="0"/>
                </a:lnTo>
                <a:close/>
              </a:path>
            </a:pathLst>
          </a:custGeom>
          <a:solidFill>
            <a:srgbClr val="A0A0A0"/>
          </a:solidFill>
          <a:ln w="6350">
            <a:solidFill>
              <a:srgbClr val="A0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502" name="Connector 501"/>
          <p:cNvCxnSpPr/>
          <p:nvPr/>
        </p:nvCxnSpPr>
        <p:spPr>
          <a:xfrm flipH="1">
            <a:off x="17052682" y="4965700"/>
            <a:ext cx="130418" cy="271702"/>
          </a:xfrm>
          <a:prstGeom prst="line">
            <a:avLst/>
          </a:prstGeom>
          <a:ln w="10160">
            <a:solidFill>
              <a:srgbClr val="A0A0A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3" name="Freeform 502"/>
          <p:cNvSpPr/>
          <p:nvPr/>
        </p:nvSpPr>
        <p:spPr>
          <a:xfrm>
            <a:off x="17030700" y="5232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0" y="0"/>
                </a:lnTo>
                <a:lnTo>
                  <a:pt x="3" y="1"/>
                </a:lnTo>
                <a:close/>
              </a:path>
            </a:pathLst>
          </a:custGeom>
          <a:solidFill>
            <a:srgbClr val="A0A0A0"/>
          </a:solidFill>
          <a:ln w="6350">
            <a:solidFill>
              <a:srgbClr val="A0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04" name="TextBox 503"/>
          <p:cNvSpPr txBox="1"/>
          <p:nvPr/>
        </p:nvSpPr>
        <p:spPr>
          <a:xfrm>
            <a:off x="16548100" y="5232400"/>
            <a:ext cx="762000" cy="3683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101010"/>
                </a:solidFill>
                <a:latin typeface="Arial"/>
              </a:rPr>
              <a:t>normalize
on j</a:t>
            </a:r>
          </a:p>
        </p:txBody>
      </p:sp>
      <p:cxnSp>
        <p:nvCxnSpPr>
          <p:cNvPr id="505" name="Connector 504"/>
          <p:cNvCxnSpPr/>
          <p:nvPr/>
        </p:nvCxnSpPr>
        <p:spPr>
          <a:xfrm>
            <a:off x="16078200" y="4711700"/>
            <a:ext cx="63500" cy="0"/>
          </a:xfrm>
          <a:prstGeom prst="line">
            <a:avLst/>
          </a:prstGeom>
          <a:ln w="1524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6" name="Freeform 505"/>
          <p:cNvSpPr/>
          <p:nvPr/>
        </p:nvSpPr>
        <p:spPr>
          <a:xfrm>
            <a:off x="16141700" y="46736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6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507" name="Connector 506"/>
          <p:cNvCxnSpPr/>
          <p:nvPr/>
        </p:nvCxnSpPr>
        <p:spPr>
          <a:xfrm>
            <a:off x="17614900" y="4572000"/>
            <a:ext cx="254000" cy="0"/>
          </a:xfrm>
          <a:prstGeom prst="line">
            <a:avLst/>
          </a:prstGeom>
          <a:ln w="1778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8" name="Freeform 507"/>
          <p:cNvSpPr/>
          <p:nvPr/>
        </p:nvSpPr>
        <p:spPr>
          <a:xfrm>
            <a:off x="17868900" y="45212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09" name="Rounded Rectangle 508"/>
          <p:cNvSpPr/>
          <p:nvPr/>
        </p:nvSpPr>
        <p:spPr>
          <a:xfrm>
            <a:off x="15443200" y="6096000"/>
            <a:ext cx="2413000" cy="355600"/>
          </a:xfrm>
          <a:prstGeom prst="roundRect">
            <a:avLst>
              <a:gd name="adj" fmla="val 8000"/>
            </a:avLst>
          </a:prstGeom>
          <a:solidFill>
            <a:srgbClr val="FEFCFF"/>
          </a:solidFill>
          <a:ln w="10160">
            <a:solidFill>
              <a:srgbClr val="8B6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10" name="TextBox 509"/>
          <p:cNvSpPr txBox="1"/>
          <p:nvPr/>
        </p:nvSpPr>
        <p:spPr>
          <a:xfrm>
            <a:off x="15532100" y="6146800"/>
            <a:ext cx="2235200" cy="254000"/>
          </a:xfrm>
          <a:prstGeom prst="rect">
            <a:avLst/>
          </a:prstGeom>
          <a:noFill/>
          <a:effectLst/>
        </p:spPr>
        <p:txBody>
          <a:bodyPr wrap="none" lIns="10160" rIns="10160" tIns="10160" bIns="1016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01010"/>
                </a:solidFill>
                <a:latin typeface="Arial"/>
              </a:rPr>
              <a:t>βᵢⱼ-weighted PPG value</a:t>
            </a:r>
          </a:p>
        </p:txBody>
      </p:sp>
      <p:cxnSp>
        <p:nvCxnSpPr>
          <p:cNvPr id="511" name="Connector 510"/>
          <p:cNvCxnSpPr/>
          <p:nvPr/>
        </p:nvCxnSpPr>
        <p:spPr>
          <a:xfrm>
            <a:off x="16840200" y="5524500"/>
            <a:ext cx="0" cy="431800"/>
          </a:xfrm>
          <a:prstGeom prst="line">
            <a:avLst/>
          </a:prstGeom>
          <a:ln w="1524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2" name="Freeform 511"/>
          <p:cNvSpPr/>
          <p:nvPr/>
        </p:nvSpPr>
        <p:spPr>
          <a:xfrm>
            <a:off x="16802100" y="59563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3" y="7"/>
                </a:moveTo>
                <a:lnTo>
                  <a:pt x="0" y="0"/>
                </a:lnTo>
                <a:lnTo>
                  <a:pt x="6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513" name="Connector 512"/>
          <p:cNvCxnSpPr/>
          <p:nvPr/>
        </p:nvCxnSpPr>
        <p:spPr>
          <a:xfrm>
            <a:off x="16840200" y="6502400"/>
            <a:ext cx="0" cy="393700"/>
          </a:xfrm>
          <a:prstGeom prst="line">
            <a:avLst/>
          </a:prstGeom>
          <a:ln w="1524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4" name="Freeform 513"/>
          <p:cNvSpPr/>
          <p:nvPr/>
        </p:nvSpPr>
        <p:spPr>
          <a:xfrm>
            <a:off x="16802100" y="68961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3" y="7"/>
                </a:moveTo>
                <a:lnTo>
                  <a:pt x="0" y="0"/>
                </a:lnTo>
                <a:lnTo>
                  <a:pt x="6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15" name="TextBox 514"/>
          <p:cNvSpPr txBox="1"/>
          <p:nvPr/>
        </p:nvSpPr>
        <p:spPr>
          <a:xfrm>
            <a:off x="15824200" y="7010400"/>
            <a:ext cx="1143000" cy="279400"/>
          </a:xfrm>
          <a:prstGeom prst="rect">
            <a:avLst/>
          </a:prstGeom>
          <a:noFill/>
          <a:effectLst/>
        </p:spPr>
        <p:txBody>
          <a:bodyPr wrap="none" lIns="10160" rIns="10160" tIns="10160" bIns="1016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1010"/>
                </a:solidFill>
                <a:latin typeface="Arial"/>
              </a:rPr>
              <a:t>Fᵢ = r̄ᵢ · LN(pairᵢ)</a:t>
            </a:r>
          </a:p>
        </p:txBody>
      </p:sp>
      <p:sp>
        <p:nvSpPr>
          <p:cNvPr id="516" name="Rectangle 515"/>
          <p:cNvSpPr/>
          <p:nvPr/>
        </p:nvSpPr>
        <p:spPr>
          <a:xfrm>
            <a:off x="16256000" y="7353300"/>
            <a:ext cx="190500" cy="203200"/>
          </a:xfrm>
          <a:prstGeom prst="rect">
            <a:avLst/>
          </a:prstGeom>
          <a:solidFill>
            <a:srgbClr val="B694D8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17" name="Rectangle 516"/>
          <p:cNvSpPr/>
          <p:nvPr/>
        </p:nvSpPr>
        <p:spPr>
          <a:xfrm>
            <a:off x="16471900" y="7353300"/>
            <a:ext cx="190500" cy="203200"/>
          </a:xfrm>
          <a:prstGeom prst="rect">
            <a:avLst/>
          </a:prstGeom>
          <a:solidFill>
            <a:srgbClr val="B694D8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18" name="Rectangle 517"/>
          <p:cNvSpPr/>
          <p:nvPr/>
        </p:nvSpPr>
        <p:spPr>
          <a:xfrm>
            <a:off x="16687800" y="7353300"/>
            <a:ext cx="190500" cy="203200"/>
          </a:xfrm>
          <a:prstGeom prst="rect">
            <a:avLst/>
          </a:prstGeom>
          <a:solidFill>
            <a:srgbClr val="B694D8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19" name="Rectangle 518"/>
          <p:cNvSpPr/>
          <p:nvPr/>
        </p:nvSpPr>
        <p:spPr>
          <a:xfrm>
            <a:off x="16903700" y="7353300"/>
            <a:ext cx="190500" cy="203200"/>
          </a:xfrm>
          <a:prstGeom prst="rect">
            <a:avLst/>
          </a:prstGeom>
          <a:solidFill>
            <a:srgbClr val="B694D8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20" name="Rectangle 519"/>
          <p:cNvSpPr/>
          <p:nvPr/>
        </p:nvSpPr>
        <p:spPr>
          <a:xfrm>
            <a:off x="17119600" y="7353300"/>
            <a:ext cx="190500" cy="203200"/>
          </a:xfrm>
          <a:prstGeom prst="rect">
            <a:avLst/>
          </a:prstGeom>
          <a:solidFill>
            <a:srgbClr val="B694D8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21" name="Rectangle 520"/>
          <p:cNvSpPr/>
          <p:nvPr/>
        </p:nvSpPr>
        <p:spPr>
          <a:xfrm>
            <a:off x="17335500" y="7353300"/>
            <a:ext cx="190500" cy="203200"/>
          </a:xfrm>
          <a:prstGeom prst="rect">
            <a:avLst/>
          </a:prstGeom>
          <a:solidFill>
            <a:srgbClr val="B694D8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22" name="Rectangle 521"/>
          <p:cNvSpPr/>
          <p:nvPr/>
        </p:nvSpPr>
        <p:spPr>
          <a:xfrm>
            <a:off x="17551400" y="7353300"/>
            <a:ext cx="190500" cy="203200"/>
          </a:xfrm>
          <a:prstGeom prst="rect">
            <a:avLst/>
          </a:prstGeom>
          <a:solidFill>
            <a:srgbClr val="B694D8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23" name="TextBox 522"/>
          <p:cNvSpPr txBox="1"/>
          <p:nvPr/>
        </p:nvSpPr>
        <p:spPr>
          <a:xfrm>
            <a:off x="17647920" y="228600"/>
            <a:ext cx="2359152" cy="5588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62B68"/>
                </a:solidFill>
                <a:latin typeface="Arial"/>
              </a:rPr>
              <a:t>6) Temporal Context + Pooling</a:t>
            </a:r>
          </a:p>
        </p:txBody>
      </p:sp>
      <p:sp>
        <p:nvSpPr>
          <p:cNvPr id="524" name="Rounded Rectangle 523"/>
          <p:cNvSpPr/>
          <p:nvPr/>
        </p:nvSpPr>
        <p:spPr>
          <a:xfrm>
            <a:off x="17983200" y="2705100"/>
            <a:ext cx="1498600" cy="2095500"/>
          </a:xfrm>
          <a:prstGeom prst="roundRect">
            <a:avLst>
              <a:gd name="adj" fmla="val 8000"/>
            </a:avLst>
          </a:prstGeom>
          <a:solidFill>
            <a:srgbClr val="FBFDFF"/>
          </a:solidFill>
          <a:ln w="13970">
            <a:solidFill>
              <a:srgbClr val="839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25" name="TextBox 524"/>
          <p:cNvSpPr txBox="1"/>
          <p:nvPr/>
        </p:nvSpPr>
        <p:spPr>
          <a:xfrm>
            <a:off x="18148300" y="2844800"/>
            <a:ext cx="1168400" cy="2540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01010"/>
                </a:solidFill>
                <a:latin typeface="Arial"/>
              </a:rPr>
              <a:t>Temporal Transformer + pooling</a:t>
            </a:r>
          </a:p>
        </p:txBody>
      </p:sp>
      <p:sp>
        <p:nvSpPr>
          <p:cNvPr id="526" name="Rounded Rectangle 525"/>
          <p:cNvSpPr/>
          <p:nvPr/>
        </p:nvSpPr>
        <p:spPr>
          <a:xfrm>
            <a:off x="18173700" y="3225800"/>
            <a:ext cx="1117600" cy="304800"/>
          </a:xfrm>
          <a:prstGeom prst="roundRect">
            <a:avLst>
              <a:gd name="adj" fmla="val 8000"/>
            </a:avLst>
          </a:prstGeom>
          <a:solidFill>
            <a:srgbClr val="FFF1B6"/>
          </a:solidFill>
          <a:ln w="8890">
            <a:solidFill>
              <a:srgbClr val="B8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27" name="TextBox 526"/>
          <p:cNvSpPr txBox="1"/>
          <p:nvPr/>
        </p:nvSpPr>
        <p:spPr>
          <a:xfrm>
            <a:off x="18211800" y="3263900"/>
            <a:ext cx="1041400" cy="2159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01010"/>
                </a:solidFill>
                <a:latin typeface="Arial"/>
              </a:rPr>
              <a:t>Attentive</a:t>
            </a:r>
          </a:p>
        </p:txBody>
      </p:sp>
      <p:sp>
        <p:nvSpPr>
          <p:cNvPr id="528" name="Rounded Rectangle 527"/>
          <p:cNvSpPr/>
          <p:nvPr/>
        </p:nvSpPr>
        <p:spPr>
          <a:xfrm>
            <a:off x="18173700" y="3619500"/>
            <a:ext cx="1117600" cy="304800"/>
          </a:xfrm>
          <a:prstGeom prst="roundRect">
            <a:avLst>
              <a:gd name="adj" fmla="val 8000"/>
            </a:avLst>
          </a:prstGeom>
          <a:solidFill>
            <a:srgbClr val="ECF8D9"/>
          </a:solidFill>
          <a:ln w="8890">
            <a:solidFill>
              <a:srgbClr val="B8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29" name="TextBox 528"/>
          <p:cNvSpPr txBox="1"/>
          <p:nvPr/>
        </p:nvSpPr>
        <p:spPr>
          <a:xfrm>
            <a:off x="18211800" y="3657600"/>
            <a:ext cx="1041400" cy="2159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01010"/>
                </a:solidFill>
                <a:latin typeface="Arial"/>
              </a:rPr>
              <a:t>Average</a:t>
            </a:r>
          </a:p>
        </p:txBody>
      </p:sp>
      <p:sp>
        <p:nvSpPr>
          <p:cNvPr id="530" name="Rounded Rectangle 529"/>
          <p:cNvSpPr/>
          <p:nvPr/>
        </p:nvSpPr>
        <p:spPr>
          <a:xfrm>
            <a:off x="18173700" y="4013200"/>
            <a:ext cx="1117600" cy="304800"/>
          </a:xfrm>
          <a:prstGeom prst="roundRect">
            <a:avLst>
              <a:gd name="adj" fmla="val 8000"/>
            </a:avLst>
          </a:prstGeom>
          <a:solidFill>
            <a:srgbClr val="D9ECFF"/>
          </a:solidFill>
          <a:ln w="8890">
            <a:solidFill>
              <a:srgbClr val="B8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31" name="TextBox 530"/>
          <p:cNvSpPr txBox="1"/>
          <p:nvPr/>
        </p:nvSpPr>
        <p:spPr>
          <a:xfrm>
            <a:off x="18211800" y="4051300"/>
            <a:ext cx="1041400" cy="2159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01010"/>
                </a:solidFill>
                <a:latin typeface="Arial"/>
              </a:rPr>
              <a:t>Max</a:t>
            </a:r>
          </a:p>
        </p:txBody>
      </p:sp>
      <p:sp>
        <p:nvSpPr>
          <p:cNvPr id="532" name="Rounded Rectangle 531"/>
          <p:cNvSpPr/>
          <p:nvPr/>
        </p:nvSpPr>
        <p:spPr>
          <a:xfrm>
            <a:off x="18173700" y="4432300"/>
            <a:ext cx="1117600" cy="2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B8C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33" name="TextBox 532"/>
          <p:cNvSpPr txBox="1"/>
          <p:nvPr/>
        </p:nvSpPr>
        <p:spPr>
          <a:xfrm>
            <a:off x="18211800" y="4470400"/>
            <a:ext cx="1041400" cy="1778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01010"/>
                </a:solidFill>
                <a:latin typeface="Arial"/>
              </a:rPr>
              <a:t>Concat.</a:t>
            </a:r>
          </a:p>
        </p:txBody>
      </p:sp>
      <p:cxnSp>
        <p:nvCxnSpPr>
          <p:cNvPr id="534" name="Connector 533"/>
          <p:cNvCxnSpPr/>
          <p:nvPr/>
        </p:nvCxnSpPr>
        <p:spPr>
          <a:xfrm>
            <a:off x="18732500" y="3149600"/>
            <a:ext cx="0" cy="3810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5" name="Freeform 534"/>
          <p:cNvSpPr/>
          <p:nvPr/>
        </p:nvSpPr>
        <p:spPr>
          <a:xfrm>
            <a:off x="18707100" y="3187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0" y="0"/>
                </a:lnTo>
                <a:lnTo>
                  <a:pt x="4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536" name="Connector 535"/>
          <p:cNvCxnSpPr/>
          <p:nvPr/>
        </p:nvCxnSpPr>
        <p:spPr>
          <a:xfrm>
            <a:off x="18732500" y="3543300"/>
            <a:ext cx="0" cy="3810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7" name="Freeform 536"/>
          <p:cNvSpPr/>
          <p:nvPr/>
        </p:nvSpPr>
        <p:spPr>
          <a:xfrm>
            <a:off x="18707100" y="3581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0" y="0"/>
                </a:lnTo>
                <a:lnTo>
                  <a:pt x="4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538" name="Connector 537"/>
          <p:cNvCxnSpPr/>
          <p:nvPr/>
        </p:nvCxnSpPr>
        <p:spPr>
          <a:xfrm>
            <a:off x="18732500" y="3937000"/>
            <a:ext cx="0" cy="3810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Freeform 538"/>
          <p:cNvSpPr/>
          <p:nvPr/>
        </p:nvSpPr>
        <p:spPr>
          <a:xfrm>
            <a:off x="18707100" y="39751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0" y="0"/>
                </a:lnTo>
                <a:lnTo>
                  <a:pt x="4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540" name="Connector 539"/>
          <p:cNvCxnSpPr/>
          <p:nvPr/>
        </p:nvCxnSpPr>
        <p:spPr>
          <a:xfrm>
            <a:off x="18732500" y="4330700"/>
            <a:ext cx="0" cy="5080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1" name="Freeform 540"/>
          <p:cNvSpPr/>
          <p:nvPr/>
        </p:nvSpPr>
        <p:spPr>
          <a:xfrm>
            <a:off x="18707100" y="43815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0" y="0"/>
                </a:lnTo>
                <a:lnTo>
                  <a:pt x="4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542" name="Connector 541"/>
          <p:cNvCxnSpPr/>
          <p:nvPr/>
        </p:nvCxnSpPr>
        <p:spPr>
          <a:xfrm>
            <a:off x="17678400" y="4572000"/>
            <a:ext cx="203200" cy="0"/>
          </a:xfrm>
          <a:prstGeom prst="line">
            <a:avLst/>
          </a:prstGeom>
          <a:ln w="1778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3" name="Freeform 542"/>
          <p:cNvSpPr/>
          <p:nvPr/>
        </p:nvSpPr>
        <p:spPr>
          <a:xfrm>
            <a:off x="17881600" y="45212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544" name="Connector 543"/>
          <p:cNvCxnSpPr/>
          <p:nvPr/>
        </p:nvCxnSpPr>
        <p:spPr>
          <a:xfrm>
            <a:off x="18732500" y="4800600"/>
            <a:ext cx="0" cy="774700"/>
          </a:xfrm>
          <a:prstGeom prst="line">
            <a:avLst/>
          </a:prstGeom>
          <a:ln w="1651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5" name="Freeform 544"/>
          <p:cNvSpPr/>
          <p:nvPr/>
        </p:nvSpPr>
        <p:spPr>
          <a:xfrm>
            <a:off x="18694400" y="55753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3" y="7"/>
                </a:moveTo>
                <a:lnTo>
                  <a:pt x="0" y="0"/>
                </a:lnTo>
                <a:lnTo>
                  <a:pt x="6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46" name="TextBox 545"/>
          <p:cNvSpPr txBox="1"/>
          <p:nvPr/>
        </p:nvSpPr>
        <p:spPr>
          <a:xfrm>
            <a:off x="18237200" y="5676900"/>
            <a:ext cx="1079500" cy="2794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1010"/>
                </a:solidFill>
                <a:latin typeface="Arial"/>
              </a:rPr>
              <a:t>g ∈ ℝ³ᵈ</a:t>
            </a:r>
          </a:p>
        </p:txBody>
      </p:sp>
      <p:sp>
        <p:nvSpPr>
          <p:cNvPr id="547" name="Rectangle 546"/>
          <p:cNvSpPr/>
          <p:nvPr/>
        </p:nvSpPr>
        <p:spPr>
          <a:xfrm>
            <a:off x="18313400" y="6057900"/>
            <a:ext cx="203200" cy="203200"/>
          </a:xfrm>
          <a:prstGeom prst="rect">
            <a:avLst/>
          </a:prstGeom>
          <a:solidFill>
            <a:srgbClr val="B694D8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48" name="Rectangle 547"/>
          <p:cNvSpPr/>
          <p:nvPr/>
        </p:nvSpPr>
        <p:spPr>
          <a:xfrm>
            <a:off x="18542000" y="6057900"/>
            <a:ext cx="203200" cy="203200"/>
          </a:xfrm>
          <a:prstGeom prst="rect">
            <a:avLst/>
          </a:prstGeom>
          <a:solidFill>
            <a:srgbClr val="B694D8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49" name="Rectangle 548"/>
          <p:cNvSpPr/>
          <p:nvPr/>
        </p:nvSpPr>
        <p:spPr>
          <a:xfrm>
            <a:off x="18770600" y="6057900"/>
            <a:ext cx="203200" cy="203200"/>
          </a:xfrm>
          <a:prstGeom prst="rect">
            <a:avLst/>
          </a:prstGeom>
          <a:solidFill>
            <a:srgbClr val="B694D8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50" name="Rectangle 549"/>
          <p:cNvSpPr/>
          <p:nvPr/>
        </p:nvSpPr>
        <p:spPr>
          <a:xfrm>
            <a:off x="18999200" y="6057900"/>
            <a:ext cx="203200" cy="203200"/>
          </a:xfrm>
          <a:prstGeom prst="rect">
            <a:avLst/>
          </a:prstGeom>
          <a:solidFill>
            <a:srgbClr val="B694D8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51" name="Rectangle 550"/>
          <p:cNvSpPr/>
          <p:nvPr/>
        </p:nvSpPr>
        <p:spPr>
          <a:xfrm>
            <a:off x="19227800" y="6057900"/>
            <a:ext cx="203200" cy="203200"/>
          </a:xfrm>
          <a:prstGeom prst="rect">
            <a:avLst/>
          </a:prstGeom>
          <a:solidFill>
            <a:srgbClr val="B694D8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52" name="Rectangle 551"/>
          <p:cNvSpPr/>
          <p:nvPr/>
        </p:nvSpPr>
        <p:spPr>
          <a:xfrm>
            <a:off x="19456400" y="6057900"/>
            <a:ext cx="203200" cy="203200"/>
          </a:xfrm>
          <a:prstGeom prst="rect">
            <a:avLst/>
          </a:prstGeom>
          <a:solidFill>
            <a:srgbClr val="B694D8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553" name="Connector 552"/>
          <p:cNvCxnSpPr/>
          <p:nvPr/>
        </p:nvCxnSpPr>
        <p:spPr>
          <a:xfrm>
            <a:off x="18732500" y="6286500"/>
            <a:ext cx="0" cy="228600"/>
          </a:xfrm>
          <a:prstGeom prst="line">
            <a:avLst/>
          </a:prstGeom>
          <a:ln w="1651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Freeform 553"/>
          <p:cNvSpPr/>
          <p:nvPr/>
        </p:nvSpPr>
        <p:spPr>
          <a:xfrm>
            <a:off x="18694400" y="65151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3" y="7"/>
                </a:moveTo>
                <a:lnTo>
                  <a:pt x="0" y="0"/>
                </a:lnTo>
                <a:lnTo>
                  <a:pt x="6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55" name="Rounded Rectangle 554"/>
          <p:cNvSpPr/>
          <p:nvPr/>
        </p:nvSpPr>
        <p:spPr>
          <a:xfrm>
            <a:off x="18097500" y="6616700"/>
            <a:ext cx="1409700" cy="1270000"/>
          </a:xfrm>
          <a:prstGeom prst="roundRect">
            <a:avLst>
              <a:gd name="adj" fmla="val 8000"/>
            </a:avLst>
          </a:prstGeom>
          <a:solidFill>
            <a:srgbClr val="FBFDFF"/>
          </a:solidFill>
          <a:ln w="13970">
            <a:solidFill>
              <a:srgbClr val="839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56" name="TextBox 555"/>
          <p:cNvSpPr txBox="1"/>
          <p:nvPr/>
        </p:nvSpPr>
        <p:spPr>
          <a:xfrm>
            <a:off x="18199100" y="6731000"/>
            <a:ext cx="1206500" cy="2413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1010"/>
                </a:solidFill>
                <a:latin typeface="Arial"/>
              </a:rPr>
              <a:t>Regressor</a:t>
            </a:r>
          </a:p>
        </p:txBody>
      </p:sp>
      <p:sp>
        <p:nvSpPr>
          <p:cNvPr id="557" name="Rounded Rectangle 556"/>
          <p:cNvSpPr/>
          <p:nvPr/>
        </p:nvSpPr>
        <p:spPr>
          <a:xfrm>
            <a:off x="18326100" y="7061200"/>
            <a:ext cx="952500" cy="228600"/>
          </a:xfrm>
          <a:prstGeom prst="roundRect">
            <a:avLst>
              <a:gd name="adj" fmla="val 8000"/>
            </a:avLst>
          </a:prstGeom>
          <a:solidFill>
            <a:srgbClr val="FFF1B6"/>
          </a:solidFill>
          <a:ln w="8890">
            <a:solidFill>
              <a:srgbClr val="B9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58" name="TextBox 557"/>
          <p:cNvSpPr txBox="1"/>
          <p:nvPr/>
        </p:nvSpPr>
        <p:spPr>
          <a:xfrm>
            <a:off x="18364200" y="7086600"/>
            <a:ext cx="876300" cy="1651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01010"/>
                </a:solidFill>
                <a:latin typeface="Arial"/>
              </a:rPr>
              <a:t>Linear</a:t>
            </a:r>
          </a:p>
        </p:txBody>
      </p:sp>
      <p:sp>
        <p:nvSpPr>
          <p:cNvPr id="559" name="Rounded Rectangle 558"/>
          <p:cNvSpPr/>
          <p:nvPr/>
        </p:nvSpPr>
        <p:spPr>
          <a:xfrm>
            <a:off x="18326100" y="7353300"/>
            <a:ext cx="952500" cy="228600"/>
          </a:xfrm>
          <a:prstGeom prst="roundRect">
            <a:avLst>
              <a:gd name="adj" fmla="val 8000"/>
            </a:avLst>
          </a:prstGeom>
          <a:solidFill>
            <a:srgbClr val="ECF8D9"/>
          </a:solidFill>
          <a:ln w="8890">
            <a:solidFill>
              <a:srgbClr val="B9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60" name="TextBox 559"/>
          <p:cNvSpPr txBox="1"/>
          <p:nvPr/>
        </p:nvSpPr>
        <p:spPr>
          <a:xfrm>
            <a:off x="18364200" y="7378700"/>
            <a:ext cx="876300" cy="1651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01010"/>
                </a:solidFill>
                <a:latin typeface="Arial"/>
              </a:rPr>
              <a:t>GELU</a:t>
            </a:r>
          </a:p>
        </p:txBody>
      </p:sp>
      <p:sp>
        <p:nvSpPr>
          <p:cNvPr id="561" name="Rounded Rectangle 560"/>
          <p:cNvSpPr/>
          <p:nvPr/>
        </p:nvSpPr>
        <p:spPr>
          <a:xfrm>
            <a:off x="18326100" y="7645400"/>
            <a:ext cx="952500" cy="228600"/>
          </a:xfrm>
          <a:prstGeom prst="roundRect">
            <a:avLst>
              <a:gd name="adj" fmla="val 8000"/>
            </a:avLst>
          </a:prstGeom>
          <a:solidFill>
            <a:srgbClr val="FFF1B6"/>
          </a:solidFill>
          <a:ln w="8890">
            <a:solidFill>
              <a:srgbClr val="B99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62" name="TextBox 561"/>
          <p:cNvSpPr txBox="1"/>
          <p:nvPr/>
        </p:nvSpPr>
        <p:spPr>
          <a:xfrm>
            <a:off x="18364200" y="7670800"/>
            <a:ext cx="876300" cy="1651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01010"/>
                </a:solidFill>
                <a:latin typeface="Arial"/>
              </a:rPr>
              <a:t>Linear</a:t>
            </a:r>
          </a:p>
        </p:txBody>
      </p:sp>
      <p:cxnSp>
        <p:nvCxnSpPr>
          <p:cNvPr id="563" name="Connector 562"/>
          <p:cNvCxnSpPr/>
          <p:nvPr/>
        </p:nvCxnSpPr>
        <p:spPr>
          <a:xfrm>
            <a:off x="19507200" y="7239000"/>
            <a:ext cx="190500" cy="0"/>
          </a:xfrm>
          <a:prstGeom prst="line">
            <a:avLst/>
          </a:prstGeom>
          <a:ln w="1778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4" name="Freeform 563"/>
          <p:cNvSpPr/>
          <p:nvPr/>
        </p:nvSpPr>
        <p:spPr>
          <a:xfrm>
            <a:off x="19697700" y="72009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65" name="TextBox 564"/>
          <p:cNvSpPr txBox="1"/>
          <p:nvPr/>
        </p:nvSpPr>
        <p:spPr>
          <a:xfrm>
            <a:off x="20061936" y="228600"/>
            <a:ext cx="1207008" cy="3556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62B68"/>
                </a:solidFill>
                <a:latin typeface="Arial"/>
              </a:rPr>
              <a:t>7) Outputs</a:t>
            </a:r>
          </a:p>
        </p:txBody>
      </p:sp>
      <p:sp>
        <p:nvSpPr>
          <p:cNvPr id="566" name="Rounded Rectangle 565"/>
          <p:cNvSpPr/>
          <p:nvPr/>
        </p:nvSpPr>
        <p:spPr>
          <a:xfrm>
            <a:off x="20104100" y="3733800"/>
            <a:ext cx="1244600" cy="635000"/>
          </a:xfrm>
          <a:prstGeom prst="roundRect">
            <a:avLst>
              <a:gd name="adj" fmla="val 8000"/>
            </a:avLst>
          </a:prstGeom>
          <a:solidFill>
            <a:srgbClr val="F5FAFF"/>
          </a:solidFill>
          <a:ln w="13970">
            <a:solidFill>
              <a:srgbClr val="1D5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67" name="TextBox 566"/>
          <p:cNvSpPr txBox="1"/>
          <p:nvPr/>
        </p:nvSpPr>
        <p:spPr>
          <a:xfrm>
            <a:off x="20320000" y="3848100"/>
            <a:ext cx="800100" cy="3937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62B68"/>
                </a:solidFill>
                <a:latin typeface="Arial"/>
              </a:rPr>
              <a:t>SBP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62B68"/>
                </a:solidFill>
                <a:latin typeface="Arial"/>
              </a:rPr>
              <a:t>systolic BP</a:t>
            </a:r>
          </a:p>
        </p:txBody>
      </p:sp>
      <p:sp>
        <p:nvSpPr>
          <p:cNvPr id="568" name="Rounded Rectangle 567"/>
          <p:cNvSpPr/>
          <p:nvPr/>
        </p:nvSpPr>
        <p:spPr>
          <a:xfrm>
            <a:off x="20104100" y="4902200"/>
            <a:ext cx="1244600" cy="635000"/>
          </a:xfrm>
          <a:prstGeom prst="roundRect">
            <a:avLst>
              <a:gd name="adj" fmla="val 8000"/>
            </a:avLst>
          </a:prstGeom>
          <a:solidFill>
            <a:srgbClr val="FFF6EF"/>
          </a:solidFill>
          <a:ln w="13970">
            <a:solidFill>
              <a:srgbClr val="D66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69" name="TextBox 568"/>
          <p:cNvSpPr txBox="1"/>
          <p:nvPr/>
        </p:nvSpPr>
        <p:spPr>
          <a:xfrm>
            <a:off x="20320000" y="5016500"/>
            <a:ext cx="800100" cy="3937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1010"/>
                </a:solidFill>
                <a:latin typeface="Arial"/>
              </a:rPr>
              <a:t>DBP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01010"/>
                </a:solidFill>
                <a:latin typeface="Arial"/>
              </a:rPr>
              <a:t>diastolic BP</a:t>
            </a:r>
          </a:p>
        </p:txBody>
      </p:sp>
      <p:cxnSp>
        <p:nvCxnSpPr>
          <p:cNvPr id="570" name="Connector 569"/>
          <p:cNvCxnSpPr/>
          <p:nvPr/>
        </p:nvCxnSpPr>
        <p:spPr>
          <a:xfrm flipV="1">
            <a:off x="19786600" y="4051300"/>
            <a:ext cx="0" cy="3187700"/>
          </a:xfrm>
          <a:prstGeom prst="line">
            <a:avLst/>
          </a:prstGeom>
          <a:ln w="1524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>
            <a:off x="19786600" y="4051300"/>
            <a:ext cx="228600" cy="0"/>
          </a:xfrm>
          <a:prstGeom prst="line">
            <a:avLst/>
          </a:prstGeom>
          <a:ln w="1524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2" name="Freeform 571"/>
          <p:cNvSpPr/>
          <p:nvPr/>
        </p:nvSpPr>
        <p:spPr>
          <a:xfrm>
            <a:off x="20015200" y="40132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cxnSp>
        <p:nvCxnSpPr>
          <p:cNvPr id="573" name="Connector 572"/>
          <p:cNvCxnSpPr/>
          <p:nvPr/>
        </p:nvCxnSpPr>
        <p:spPr>
          <a:xfrm flipV="1">
            <a:off x="19786600" y="5219700"/>
            <a:ext cx="0" cy="2019300"/>
          </a:xfrm>
          <a:prstGeom prst="line">
            <a:avLst/>
          </a:prstGeom>
          <a:ln w="1524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19786600" y="5219700"/>
            <a:ext cx="228600" cy="0"/>
          </a:xfrm>
          <a:prstGeom prst="line">
            <a:avLst/>
          </a:prstGeom>
          <a:ln w="1524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5" name="Freeform 574"/>
          <p:cNvSpPr/>
          <p:nvPr/>
        </p:nvSpPr>
        <p:spPr>
          <a:xfrm>
            <a:off x="20015200" y="51816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76" name="Rounded Rectangle 575"/>
          <p:cNvSpPr/>
          <p:nvPr/>
        </p:nvSpPr>
        <p:spPr>
          <a:xfrm>
            <a:off x="215900" y="8102600"/>
            <a:ext cx="4635500" cy="2247900"/>
          </a:xfrm>
          <a:prstGeom prst="roundRect">
            <a:avLst>
              <a:gd name="adj" fmla="val 8000"/>
            </a:avLst>
          </a:prstGeom>
          <a:solidFill>
            <a:srgbClr val="FBFDFF"/>
          </a:solidFill>
          <a:ln w="12700">
            <a:solidFill>
              <a:srgbClr val="1D5E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577" name="TextBox 576"/>
          <p:cNvSpPr txBox="1"/>
          <p:nvPr/>
        </p:nvSpPr>
        <p:spPr>
          <a:xfrm>
            <a:off x="266700" y="8204200"/>
            <a:ext cx="4533900" cy="2413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062B68"/>
                </a:solidFill>
                <a:latin typeface="Arial"/>
              </a:rPr>
              <a:t>Physiological delay prior</a:t>
            </a:r>
          </a:p>
        </p:txBody>
      </p:sp>
      <p:sp>
        <p:nvSpPr>
          <p:cNvPr id="578" name="TextBox 577"/>
          <p:cNvSpPr txBox="1"/>
          <p:nvPr/>
        </p:nvSpPr>
        <p:spPr>
          <a:xfrm>
            <a:off x="431800" y="8724900"/>
            <a:ext cx="889000" cy="2032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Arial"/>
              </a:rPr>
              <a:t>ECG R-wave</a:t>
            </a:r>
          </a:p>
        </p:txBody>
      </p:sp>
      <p:sp>
        <p:nvSpPr>
          <p:cNvPr id="579" name="Freeform 578"/>
          <p:cNvSpPr/>
          <p:nvPr/>
        </p:nvSpPr>
        <p:spPr>
          <a:xfrm>
            <a:off x="825500" y="9042400"/>
            <a:ext cx="698500" cy="406400"/>
          </a:xfrm>
          <a:custGeom>
            <a:avLst/>
            <a:gdLst/>
            <a:ahLst/>
            <a:cxnLst/>
            <a:rect l="l" t="t" r="r" b="b"/>
            <a:pathLst>
              <a:path w="55" h="32">
                <a:moveTo>
                  <a:pt x="0" y="22"/>
                </a:moveTo>
                <a:lnTo>
                  <a:pt x="7" y="22"/>
                </a:lnTo>
                <a:lnTo>
                  <a:pt x="10" y="20"/>
                </a:lnTo>
                <a:lnTo>
                  <a:pt x="13" y="23"/>
                </a:lnTo>
                <a:lnTo>
                  <a:pt x="18" y="22"/>
                </a:lnTo>
                <a:lnTo>
                  <a:pt x="20" y="27"/>
                </a:lnTo>
                <a:lnTo>
                  <a:pt x="23" y="0"/>
                </a:lnTo>
                <a:lnTo>
                  <a:pt x="25" y="32"/>
                </a:lnTo>
                <a:lnTo>
                  <a:pt x="30" y="22"/>
                </a:lnTo>
                <a:lnTo>
                  <a:pt x="40" y="20"/>
                </a:lnTo>
                <a:lnTo>
                  <a:pt x="47" y="18"/>
                </a:lnTo>
                <a:lnTo>
                  <a:pt x="55" y="22"/>
                </a:lnTo>
              </a:path>
            </a:pathLst>
          </a:custGeom>
          <a:noFill/>
          <a:ln w="16510">
            <a:solidFill>
              <a:srgbClr val="2E8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580" name="TextBox 579"/>
          <p:cNvSpPr txBox="1"/>
          <p:nvPr/>
        </p:nvSpPr>
        <p:spPr>
          <a:xfrm>
            <a:off x="3949700" y="8724900"/>
            <a:ext cx="889000" cy="2032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Arial"/>
              </a:rPr>
              <a:t>PPG onset</a:t>
            </a:r>
          </a:p>
        </p:txBody>
      </p:sp>
      <p:sp>
        <p:nvSpPr>
          <p:cNvPr id="581" name="Freeform 580"/>
          <p:cNvSpPr/>
          <p:nvPr/>
        </p:nvSpPr>
        <p:spPr>
          <a:xfrm>
            <a:off x="4127500" y="9067800"/>
            <a:ext cx="571500" cy="368300"/>
          </a:xfrm>
          <a:custGeom>
            <a:avLst/>
            <a:gdLst/>
            <a:ahLst/>
            <a:cxnLst/>
            <a:rect l="l" t="t" r="r" b="b"/>
            <a:pathLst>
              <a:path w="45" h="29">
                <a:moveTo>
                  <a:pt x="0" y="24"/>
                </a:moveTo>
                <a:lnTo>
                  <a:pt x="4" y="21"/>
                </a:lnTo>
                <a:lnTo>
                  <a:pt x="8" y="0"/>
                </a:lnTo>
                <a:lnTo>
                  <a:pt x="13" y="15"/>
                </a:lnTo>
                <a:lnTo>
                  <a:pt x="19" y="24"/>
                </a:lnTo>
                <a:lnTo>
                  <a:pt x="25" y="29"/>
                </a:lnTo>
                <a:lnTo>
                  <a:pt x="31" y="23"/>
                </a:lnTo>
                <a:lnTo>
                  <a:pt x="34" y="25"/>
                </a:lnTo>
                <a:lnTo>
                  <a:pt x="45" y="25"/>
                </a:lnTo>
              </a:path>
            </a:pathLst>
          </a:custGeom>
          <a:noFill/>
          <a:ln w="17780">
            <a:solidFill>
              <a:srgbClr val="E33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cxnSp>
        <p:nvCxnSpPr>
          <p:cNvPr id="582" name="Connector 581"/>
          <p:cNvCxnSpPr/>
          <p:nvPr/>
        </p:nvCxnSpPr>
        <p:spPr>
          <a:xfrm>
            <a:off x="495300" y="10071100"/>
            <a:ext cx="3784600" cy="0"/>
          </a:xfrm>
          <a:prstGeom prst="line">
            <a:avLst/>
          </a:prstGeom>
          <a:ln w="1651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>
            <a:off x="4279900" y="10071100"/>
            <a:ext cx="50800" cy="0"/>
          </a:xfrm>
          <a:prstGeom prst="line">
            <a:avLst/>
          </a:prstGeom>
          <a:ln w="1651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4" name="Freeform 583"/>
          <p:cNvSpPr/>
          <p:nvPr/>
        </p:nvSpPr>
        <p:spPr>
          <a:xfrm>
            <a:off x="4330700" y="100203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585" name="TextBox 584"/>
          <p:cNvSpPr txBox="1"/>
          <p:nvPr/>
        </p:nvSpPr>
        <p:spPr>
          <a:xfrm>
            <a:off x="4495800" y="9969500"/>
            <a:ext cx="355600" cy="1778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01010"/>
                </a:solidFill>
                <a:latin typeface="Arial"/>
              </a:rPr>
              <a:t>time</a:t>
            </a:r>
          </a:p>
        </p:txBody>
      </p:sp>
      <p:cxnSp>
        <p:nvCxnSpPr>
          <p:cNvPr id="586" name="Connector 585"/>
          <p:cNvCxnSpPr/>
          <p:nvPr/>
        </p:nvCxnSpPr>
        <p:spPr>
          <a:xfrm>
            <a:off x="1130300" y="8890000"/>
            <a:ext cx="0" cy="977900"/>
          </a:xfrm>
          <a:prstGeom prst="line">
            <a:avLst/>
          </a:prstGeom>
          <a:ln w="1016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4191000" y="8890000"/>
            <a:ext cx="0" cy="977900"/>
          </a:xfrm>
          <a:prstGeom prst="line">
            <a:avLst/>
          </a:prstGeom>
          <a:ln w="1016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8" name="Rectangle 587"/>
          <p:cNvSpPr/>
          <p:nvPr/>
        </p:nvSpPr>
        <p:spPr>
          <a:xfrm>
            <a:off x="1955800" y="8940800"/>
            <a:ext cx="965200" cy="660400"/>
          </a:xfrm>
          <a:prstGeom prst="rect">
            <a:avLst/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589" name="Rectangle 588"/>
          <p:cNvSpPr/>
          <p:nvPr/>
        </p:nvSpPr>
        <p:spPr>
          <a:xfrm>
            <a:off x="1981200" y="8966200"/>
            <a:ext cx="914400" cy="609600"/>
          </a:xfrm>
          <a:prstGeom prst="rect">
            <a:avLst/>
          </a:prstGeom>
          <a:solidFill>
            <a:srgbClr val="FF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590" name="Rectangle 589"/>
          <p:cNvSpPr/>
          <p:nvPr/>
        </p:nvSpPr>
        <p:spPr>
          <a:xfrm>
            <a:off x="2006600" y="8991600"/>
            <a:ext cx="863600" cy="558800"/>
          </a:xfrm>
          <a:prstGeom prst="rect">
            <a:avLst/>
          </a:prstGeom>
          <a:solidFill>
            <a:srgbClr val="FF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591" name="Rectangle 590"/>
          <p:cNvSpPr/>
          <p:nvPr/>
        </p:nvSpPr>
        <p:spPr>
          <a:xfrm>
            <a:off x="1955800" y="8940800"/>
            <a:ext cx="965200" cy="660400"/>
          </a:xfrm>
          <a:prstGeom prst="rect">
            <a:avLst/>
          </a:prstGeom>
          <a:noFill/>
          <a:ln w="8890">
            <a:solidFill>
              <a:srgbClr val="F1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cxnSp>
        <p:nvCxnSpPr>
          <p:cNvPr id="592" name="Connector 591"/>
          <p:cNvCxnSpPr/>
          <p:nvPr/>
        </p:nvCxnSpPr>
        <p:spPr>
          <a:xfrm>
            <a:off x="1968500" y="9334500"/>
            <a:ext cx="0" cy="29210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2908300" y="9334500"/>
            <a:ext cx="0" cy="29210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1168400" y="9499600"/>
            <a:ext cx="736600" cy="0"/>
          </a:xfrm>
          <a:prstGeom prst="line">
            <a:avLst/>
          </a:prstGeom>
          <a:ln w="1270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5" name="Freeform 594"/>
          <p:cNvSpPr/>
          <p:nvPr/>
        </p:nvSpPr>
        <p:spPr>
          <a:xfrm>
            <a:off x="1905000" y="94742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5" y="2"/>
                </a:move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cxnSp>
        <p:nvCxnSpPr>
          <p:cNvPr id="596" name="Connector 595"/>
          <p:cNvCxnSpPr/>
          <p:nvPr/>
        </p:nvCxnSpPr>
        <p:spPr>
          <a:xfrm flipH="1">
            <a:off x="1231900" y="9499600"/>
            <a:ext cx="736600" cy="0"/>
          </a:xfrm>
          <a:prstGeom prst="line">
            <a:avLst/>
          </a:prstGeom>
          <a:ln w="1270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7" name="Freeform 596"/>
          <p:cNvSpPr/>
          <p:nvPr/>
        </p:nvSpPr>
        <p:spPr>
          <a:xfrm>
            <a:off x="1168400" y="94742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0" y="2"/>
                </a:moveTo>
                <a:lnTo>
                  <a:pt x="5" y="0"/>
                </a:lnTo>
                <a:lnTo>
                  <a:pt x="5" y="4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cxnSp>
        <p:nvCxnSpPr>
          <p:cNvPr id="598" name="Connector 597"/>
          <p:cNvCxnSpPr/>
          <p:nvPr/>
        </p:nvCxnSpPr>
        <p:spPr>
          <a:xfrm>
            <a:off x="2908300" y="9499600"/>
            <a:ext cx="1206500" cy="0"/>
          </a:xfrm>
          <a:prstGeom prst="line">
            <a:avLst/>
          </a:prstGeom>
          <a:ln w="1270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9" name="Freeform 598"/>
          <p:cNvSpPr/>
          <p:nvPr/>
        </p:nvSpPr>
        <p:spPr>
          <a:xfrm>
            <a:off x="4114800" y="94742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5" y="2"/>
                </a:move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cxnSp>
        <p:nvCxnSpPr>
          <p:cNvPr id="600" name="Connector 599"/>
          <p:cNvCxnSpPr/>
          <p:nvPr/>
        </p:nvCxnSpPr>
        <p:spPr>
          <a:xfrm flipH="1">
            <a:off x="2971800" y="9499600"/>
            <a:ext cx="1206500" cy="0"/>
          </a:xfrm>
          <a:prstGeom prst="line">
            <a:avLst/>
          </a:prstGeom>
          <a:ln w="1270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1" name="Freeform 600"/>
          <p:cNvSpPr/>
          <p:nvPr/>
        </p:nvSpPr>
        <p:spPr>
          <a:xfrm>
            <a:off x="2908300" y="94742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0" y="2"/>
                </a:moveTo>
                <a:lnTo>
                  <a:pt x="5" y="0"/>
                </a:lnTo>
                <a:lnTo>
                  <a:pt x="5" y="4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cxnSp>
        <p:nvCxnSpPr>
          <p:cNvPr id="602" name="Connector 601"/>
          <p:cNvCxnSpPr/>
          <p:nvPr/>
        </p:nvCxnSpPr>
        <p:spPr>
          <a:xfrm>
            <a:off x="1968500" y="9372600"/>
            <a:ext cx="8826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3" name="Freeform 602"/>
          <p:cNvSpPr/>
          <p:nvPr/>
        </p:nvSpPr>
        <p:spPr>
          <a:xfrm>
            <a:off x="2844800" y="93472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5" y="2"/>
                </a:move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cxnSp>
        <p:nvCxnSpPr>
          <p:cNvPr id="604" name="Connector 603"/>
          <p:cNvCxnSpPr/>
          <p:nvPr/>
        </p:nvCxnSpPr>
        <p:spPr>
          <a:xfrm flipH="1">
            <a:off x="2025650" y="9372600"/>
            <a:ext cx="882650" cy="0"/>
          </a:xfrm>
          <a:prstGeom prst="line">
            <a:avLst/>
          </a:prstGeom>
          <a:ln w="1143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5" name="Freeform 604"/>
          <p:cNvSpPr/>
          <p:nvPr/>
        </p:nvSpPr>
        <p:spPr>
          <a:xfrm>
            <a:off x="1968500" y="93472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0" y="2"/>
                </a:moveTo>
                <a:lnTo>
                  <a:pt x="5" y="0"/>
                </a:lnTo>
                <a:lnTo>
                  <a:pt x="5" y="4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06" name="TextBox 605"/>
          <p:cNvSpPr txBox="1"/>
          <p:nvPr/>
        </p:nvSpPr>
        <p:spPr>
          <a:xfrm>
            <a:off x="2044700" y="8991600"/>
            <a:ext cx="787400" cy="3683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Arial"/>
              </a:rPr>
              <a:t>120–450 ms</a:t>
            </a:r>
          </a:p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Arial"/>
              </a:rPr>
              <a:t>literature envelope</a:t>
            </a:r>
          </a:p>
        </p:txBody>
      </p:sp>
      <p:sp>
        <p:nvSpPr>
          <p:cNvPr id="607" name="TextBox 606"/>
          <p:cNvSpPr txBox="1"/>
          <p:nvPr/>
        </p:nvSpPr>
        <p:spPr>
          <a:xfrm>
            <a:off x="1168400" y="9245600"/>
            <a:ext cx="990600" cy="2286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Arial"/>
              </a:rPr>
              <a:t>Δₘᵢₙ = 0.12 s</a:t>
            </a:r>
          </a:p>
        </p:txBody>
      </p:sp>
      <p:sp>
        <p:nvSpPr>
          <p:cNvPr id="608" name="TextBox 607"/>
          <p:cNvSpPr txBox="1"/>
          <p:nvPr/>
        </p:nvSpPr>
        <p:spPr>
          <a:xfrm>
            <a:off x="2946400" y="9245600"/>
            <a:ext cx="1143000" cy="2286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Arial"/>
              </a:rPr>
              <a:t>Δₘₐₓ = 0.45 s</a:t>
            </a:r>
          </a:p>
        </p:txBody>
      </p:sp>
      <p:sp>
        <p:nvSpPr>
          <p:cNvPr id="609" name="Rounded Rectangle 608"/>
          <p:cNvSpPr/>
          <p:nvPr/>
        </p:nvSpPr>
        <p:spPr>
          <a:xfrm>
            <a:off x="5003800" y="8102600"/>
            <a:ext cx="5168900" cy="2247900"/>
          </a:xfrm>
          <a:prstGeom prst="roundRect">
            <a:avLst>
              <a:gd name="adj" fmla="val 8000"/>
            </a:avLst>
          </a:prstGeom>
          <a:solidFill>
            <a:srgbClr val="FBFDFF"/>
          </a:solidFill>
          <a:ln w="12700">
            <a:solidFill>
              <a:srgbClr val="1D5E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10" name="TextBox 609"/>
          <p:cNvSpPr txBox="1"/>
          <p:nvPr/>
        </p:nvSpPr>
        <p:spPr>
          <a:xfrm>
            <a:off x="5054600" y="8204200"/>
            <a:ext cx="5067300" cy="2413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062B68"/>
                </a:solidFill>
                <a:latin typeface="Arial"/>
              </a:rPr>
              <a:t>Mask intuition</a:t>
            </a:r>
          </a:p>
        </p:txBody>
      </p:sp>
      <p:sp>
        <p:nvSpPr>
          <p:cNvPr id="611" name="Rectangle 610"/>
          <p:cNvSpPr/>
          <p:nvPr/>
        </p:nvSpPr>
        <p:spPr>
          <a:xfrm>
            <a:off x="5664200" y="8864600"/>
            <a:ext cx="259080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12" name="Rectangle 611"/>
          <p:cNvSpPr/>
          <p:nvPr/>
        </p:nvSpPr>
        <p:spPr>
          <a:xfrm>
            <a:off x="5664200" y="886460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13" name="Rectangle 612"/>
          <p:cNvSpPr/>
          <p:nvPr/>
        </p:nvSpPr>
        <p:spPr>
          <a:xfrm>
            <a:off x="5899727" y="886460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14" name="Rectangle 613"/>
          <p:cNvSpPr/>
          <p:nvPr/>
        </p:nvSpPr>
        <p:spPr>
          <a:xfrm>
            <a:off x="6135254" y="886460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15" name="Rectangle 614"/>
          <p:cNvSpPr/>
          <p:nvPr/>
        </p:nvSpPr>
        <p:spPr>
          <a:xfrm>
            <a:off x="6370781" y="886460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16" name="Rectangle 615"/>
          <p:cNvSpPr/>
          <p:nvPr/>
        </p:nvSpPr>
        <p:spPr>
          <a:xfrm>
            <a:off x="6606309" y="886460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17" name="Rectangle 616"/>
          <p:cNvSpPr/>
          <p:nvPr/>
        </p:nvSpPr>
        <p:spPr>
          <a:xfrm>
            <a:off x="6841836" y="886460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18" name="Rectangle 617"/>
          <p:cNvSpPr/>
          <p:nvPr/>
        </p:nvSpPr>
        <p:spPr>
          <a:xfrm>
            <a:off x="7077363" y="886460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19" name="Rectangle 618"/>
          <p:cNvSpPr/>
          <p:nvPr/>
        </p:nvSpPr>
        <p:spPr>
          <a:xfrm>
            <a:off x="7312890" y="886460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20" name="Rectangle 619"/>
          <p:cNvSpPr/>
          <p:nvPr/>
        </p:nvSpPr>
        <p:spPr>
          <a:xfrm>
            <a:off x="7548418" y="886460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21" name="Rectangle 620"/>
          <p:cNvSpPr/>
          <p:nvPr/>
        </p:nvSpPr>
        <p:spPr>
          <a:xfrm>
            <a:off x="7783945" y="886460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22" name="Rectangle 621"/>
          <p:cNvSpPr/>
          <p:nvPr/>
        </p:nvSpPr>
        <p:spPr>
          <a:xfrm>
            <a:off x="8019472" y="886460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23" name="Rectangle 622"/>
          <p:cNvSpPr/>
          <p:nvPr/>
        </p:nvSpPr>
        <p:spPr>
          <a:xfrm>
            <a:off x="5664200" y="900747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24" name="Rectangle 623"/>
          <p:cNvSpPr/>
          <p:nvPr/>
        </p:nvSpPr>
        <p:spPr>
          <a:xfrm>
            <a:off x="5899727" y="900747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25" name="Rectangle 624"/>
          <p:cNvSpPr/>
          <p:nvPr/>
        </p:nvSpPr>
        <p:spPr>
          <a:xfrm>
            <a:off x="6135254" y="900747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26" name="Rectangle 625"/>
          <p:cNvSpPr/>
          <p:nvPr/>
        </p:nvSpPr>
        <p:spPr>
          <a:xfrm>
            <a:off x="6370781" y="900747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27" name="Rectangle 626"/>
          <p:cNvSpPr/>
          <p:nvPr/>
        </p:nvSpPr>
        <p:spPr>
          <a:xfrm>
            <a:off x="6606309" y="900747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28" name="Rectangle 627"/>
          <p:cNvSpPr/>
          <p:nvPr/>
        </p:nvSpPr>
        <p:spPr>
          <a:xfrm>
            <a:off x="6841836" y="900747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29" name="Rectangle 628"/>
          <p:cNvSpPr/>
          <p:nvPr/>
        </p:nvSpPr>
        <p:spPr>
          <a:xfrm>
            <a:off x="7077363" y="900747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30" name="Rectangle 629"/>
          <p:cNvSpPr/>
          <p:nvPr/>
        </p:nvSpPr>
        <p:spPr>
          <a:xfrm>
            <a:off x="7312890" y="900747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31" name="Rectangle 630"/>
          <p:cNvSpPr/>
          <p:nvPr/>
        </p:nvSpPr>
        <p:spPr>
          <a:xfrm>
            <a:off x="7548418" y="900747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32" name="Rectangle 631"/>
          <p:cNvSpPr/>
          <p:nvPr/>
        </p:nvSpPr>
        <p:spPr>
          <a:xfrm>
            <a:off x="7783945" y="900747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33" name="Rectangle 632"/>
          <p:cNvSpPr/>
          <p:nvPr/>
        </p:nvSpPr>
        <p:spPr>
          <a:xfrm>
            <a:off x="8019472" y="900747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34" name="Rectangle 633"/>
          <p:cNvSpPr/>
          <p:nvPr/>
        </p:nvSpPr>
        <p:spPr>
          <a:xfrm>
            <a:off x="5664200" y="915035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35" name="Rectangle 634"/>
          <p:cNvSpPr/>
          <p:nvPr/>
        </p:nvSpPr>
        <p:spPr>
          <a:xfrm>
            <a:off x="5899727" y="915035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36" name="Rectangle 635"/>
          <p:cNvSpPr/>
          <p:nvPr/>
        </p:nvSpPr>
        <p:spPr>
          <a:xfrm>
            <a:off x="6135254" y="915035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37" name="Rectangle 636"/>
          <p:cNvSpPr/>
          <p:nvPr/>
        </p:nvSpPr>
        <p:spPr>
          <a:xfrm>
            <a:off x="6370781" y="915035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38" name="Rectangle 637"/>
          <p:cNvSpPr/>
          <p:nvPr/>
        </p:nvSpPr>
        <p:spPr>
          <a:xfrm>
            <a:off x="6606309" y="915035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39" name="Rectangle 638"/>
          <p:cNvSpPr/>
          <p:nvPr/>
        </p:nvSpPr>
        <p:spPr>
          <a:xfrm>
            <a:off x="6841836" y="915035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40" name="Rectangle 639"/>
          <p:cNvSpPr/>
          <p:nvPr/>
        </p:nvSpPr>
        <p:spPr>
          <a:xfrm>
            <a:off x="7077363" y="915035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41" name="Rectangle 640"/>
          <p:cNvSpPr/>
          <p:nvPr/>
        </p:nvSpPr>
        <p:spPr>
          <a:xfrm>
            <a:off x="7312890" y="915035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42" name="Rectangle 641"/>
          <p:cNvSpPr/>
          <p:nvPr/>
        </p:nvSpPr>
        <p:spPr>
          <a:xfrm>
            <a:off x="7548418" y="915035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43" name="Rectangle 642"/>
          <p:cNvSpPr/>
          <p:nvPr/>
        </p:nvSpPr>
        <p:spPr>
          <a:xfrm>
            <a:off x="7783945" y="915035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44" name="Rectangle 643"/>
          <p:cNvSpPr/>
          <p:nvPr/>
        </p:nvSpPr>
        <p:spPr>
          <a:xfrm>
            <a:off x="8019472" y="915035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45" name="Rectangle 644"/>
          <p:cNvSpPr/>
          <p:nvPr/>
        </p:nvSpPr>
        <p:spPr>
          <a:xfrm>
            <a:off x="5664200" y="929322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46" name="Rectangle 645"/>
          <p:cNvSpPr/>
          <p:nvPr/>
        </p:nvSpPr>
        <p:spPr>
          <a:xfrm>
            <a:off x="5899727" y="929322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47" name="Rectangle 646"/>
          <p:cNvSpPr/>
          <p:nvPr/>
        </p:nvSpPr>
        <p:spPr>
          <a:xfrm>
            <a:off x="6135254" y="929322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48" name="Rectangle 647"/>
          <p:cNvSpPr/>
          <p:nvPr/>
        </p:nvSpPr>
        <p:spPr>
          <a:xfrm>
            <a:off x="6370781" y="929322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49" name="Rectangle 648"/>
          <p:cNvSpPr/>
          <p:nvPr/>
        </p:nvSpPr>
        <p:spPr>
          <a:xfrm>
            <a:off x="6606309" y="929322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50" name="Rectangle 649"/>
          <p:cNvSpPr/>
          <p:nvPr/>
        </p:nvSpPr>
        <p:spPr>
          <a:xfrm>
            <a:off x="6841836" y="929322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51" name="Rectangle 650"/>
          <p:cNvSpPr/>
          <p:nvPr/>
        </p:nvSpPr>
        <p:spPr>
          <a:xfrm>
            <a:off x="7077363" y="929322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52" name="Rectangle 651"/>
          <p:cNvSpPr/>
          <p:nvPr/>
        </p:nvSpPr>
        <p:spPr>
          <a:xfrm>
            <a:off x="7312890" y="929322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53" name="Rectangle 652"/>
          <p:cNvSpPr/>
          <p:nvPr/>
        </p:nvSpPr>
        <p:spPr>
          <a:xfrm>
            <a:off x="7548418" y="929322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54" name="Rectangle 653"/>
          <p:cNvSpPr/>
          <p:nvPr/>
        </p:nvSpPr>
        <p:spPr>
          <a:xfrm>
            <a:off x="7783945" y="929322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55" name="Rectangle 654"/>
          <p:cNvSpPr/>
          <p:nvPr/>
        </p:nvSpPr>
        <p:spPr>
          <a:xfrm>
            <a:off x="8019472" y="929322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56" name="Rectangle 655"/>
          <p:cNvSpPr/>
          <p:nvPr/>
        </p:nvSpPr>
        <p:spPr>
          <a:xfrm>
            <a:off x="5664200" y="943610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57" name="Rectangle 656"/>
          <p:cNvSpPr/>
          <p:nvPr/>
        </p:nvSpPr>
        <p:spPr>
          <a:xfrm>
            <a:off x="5899727" y="943610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58" name="Rectangle 657"/>
          <p:cNvSpPr/>
          <p:nvPr/>
        </p:nvSpPr>
        <p:spPr>
          <a:xfrm>
            <a:off x="6135254" y="943610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59" name="Rectangle 658"/>
          <p:cNvSpPr/>
          <p:nvPr/>
        </p:nvSpPr>
        <p:spPr>
          <a:xfrm>
            <a:off x="6370781" y="943610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60" name="Rectangle 659"/>
          <p:cNvSpPr/>
          <p:nvPr/>
        </p:nvSpPr>
        <p:spPr>
          <a:xfrm>
            <a:off x="6606309" y="943610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61" name="Rectangle 660"/>
          <p:cNvSpPr/>
          <p:nvPr/>
        </p:nvSpPr>
        <p:spPr>
          <a:xfrm>
            <a:off x="6841836" y="943610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62" name="Rectangle 661"/>
          <p:cNvSpPr/>
          <p:nvPr/>
        </p:nvSpPr>
        <p:spPr>
          <a:xfrm>
            <a:off x="7077363" y="943610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63" name="Rectangle 662"/>
          <p:cNvSpPr/>
          <p:nvPr/>
        </p:nvSpPr>
        <p:spPr>
          <a:xfrm>
            <a:off x="7312890" y="943610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64" name="Rectangle 663"/>
          <p:cNvSpPr/>
          <p:nvPr/>
        </p:nvSpPr>
        <p:spPr>
          <a:xfrm>
            <a:off x="7548418" y="943610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65" name="Rectangle 664"/>
          <p:cNvSpPr/>
          <p:nvPr/>
        </p:nvSpPr>
        <p:spPr>
          <a:xfrm>
            <a:off x="7783945" y="943610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66" name="Rectangle 665"/>
          <p:cNvSpPr/>
          <p:nvPr/>
        </p:nvSpPr>
        <p:spPr>
          <a:xfrm>
            <a:off x="8019472" y="943610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67" name="Rectangle 666"/>
          <p:cNvSpPr/>
          <p:nvPr/>
        </p:nvSpPr>
        <p:spPr>
          <a:xfrm>
            <a:off x="5664200" y="957897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68" name="Rectangle 667"/>
          <p:cNvSpPr/>
          <p:nvPr/>
        </p:nvSpPr>
        <p:spPr>
          <a:xfrm>
            <a:off x="5899727" y="957897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69" name="Rectangle 668"/>
          <p:cNvSpPr/>
          <p:nvPr/>
        </p:nvSpPr>
        <p:spPr>
          <a:xfrm>
            <a:off x="6135254" y="957897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70" name="Rectangle 669"/>
          <p:cNvSpPr/>
          <p:nvPr/>
        </p:nvSpPr>
        <p:spPr>
          <a:xfrm>
            <a:off x="6370781" y="957897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71" name="Rectangle 670"/>
          <p:cNvSpPr/>
          <p:nvPr/>
        </p:nvSpPr>
        <p:spPr>
          <a:xfrm>
            <a:off x="6606309" y="957897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72" name="Rectangle 671"/>
          <p:cNvSpPr/>
          <p:nvPr/>
        </p:nvSpPr>
        <p:spPr>
          <a:xfrm>
            <a:off x="6841836" y="957897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73" name="Rectangle 672"/>
          <p:cNvSpPr/>
          <p:nvPr/>
        </p:nvSpPr>
        <p:spPr>
          <a:xfrm>
            <a:off x="7077363" y="957897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74" name="Rectangle 673"/>
          <p:cNvSpPr/>
          <p:nvPr/>
        </p:nvSpPr>
        <p:spPr>
          <a:xfrm>
            <a:off x="7312890" y="957897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75" name="Rectangle 674"/>
          <p:cNvSpPr/>
          <p:nvPr/>
        </p:nvSpPr>
        <p:spPr>
          <a:xfrm>
            <a:off x="7548418" y="957897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76" name="Rectangle 675"/>
          <p:cNvSpPr/>
          <p:nvPr/>
        </p:nvSpPr>
        <p:spPr>
          <a:xfrm>
            <a:off x="7783945" y="957897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77" name="Rectangle 676"/>
          <p:cNvSpPr/>
          <p:nvPr/>
        </p:nvSpPr>
        <p:spPr>
          <a:xfrm>
            <a:off x="8019472" y="957897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78" name="Rectangle 677"/>
          <p:cNvSpPr/>
          <p:nvPr/>
        </p:nvSpPr>
        <p:spPr>
          <a:xfrm>
            <a:off x="5664200" y="972185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79" name="Rectangle 678"/>
          <p:cNvSpPr/>
          <p:nvPr/>
        </p:nvSpPr>
        <p:spPr>
          <a:xfrm>
            <a:off x="5899727" y="972185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80" name="Rectangle 679"/>
          <p:cNvSpPr/>
          <p:nvPr/>
        </p:nvSpPr>
        <p:spPr>
          <a:xfrm>
            <a:off x="6135254" y="972185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81" name="Rectangle 680"/>
          <p:cNvSpPr/>
          <p:nvPr/>
        </p:nvSpPr>
        <p:spPr>
          <a:xfrm>
            <a:off x="6370781" y="972185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82" name="Rectangle 681"/>
          <p:cNvSpPr/>
          <p:nvPr/>
        </p:nvSpPr>
        <p:spPr>
          <a:xfrm>
            <a:off x="6606309" y="972185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83" name="Rectangle 682"/>
          <p:cNvSpPr/>
          <p:nvPr/>
        </p:nvSpPr>
        <p:spPr>
          <a:xfrm>
            <a:off x="6841836" y="972185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84" name="Rectangle 683"/>
          <p:cNvSpPr/>
          <p:nvPr/>
        </p:nvSpPr>
        <p:spPr>
          <a:xfrm>
            <a:off x="7077363" y="972185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85" name="Rectangle 684"/>
          <p:cNvSpPr/>
          <p:nvPr/>
        </p:nvSpPr>
        <p:spPr>
          <a:xfrm>
            <a:off x="7312890" y="972185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86" name="Rectangle 685"/>
          <p:cNvSpPr/>
          <p:nvPr/>
        </p:nvSpPr>
        <p:spPr>
          <a:xfrm>
            <a:off x="7548418" y="972185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87" name="Rectangle 686"/>
          <p:cNvSpPr/>
          <p:nvPr/>
        </p:nvSpPr>
        <p:spPr>
          <a:xfrm>
            <a:off x="7783945" y="972185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88" name="Rectangle 687"/>
          <p:cNvSpPr/>
          <p:nvPr/>
        </p:nvSpPr>
        <p:spPr>
          <a:xfrm>
            <a:off x="8019472" y="9721850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89" name="Rectangle 688"/>
          <p:cNvSpPr/>
          <p:nvPr/>
        </p:nvSpPr>
        <p:spPr>
          <a:xfrm>
            <a:off x="5664200" y="986472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90" name="Rectangle 689"/>
          <p:cNvSpPr/>
          <p:nvPr/>
        </p:nvSpPr>
        <p:spPr>
          <a:xfrm>
            <a:off x="5899727" y="986472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91" name="Rectangle 690"/>
          <p:cNvSpPr/>
          <p:nvPr/>
        </p:nvSpPr>
        <p:spPr>
          <a:xfrm>
            <a:off x="6135254" y="986472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92" name="Rectangle 691"/>
          <p:cNvSpPr/>
          <p:nvPr/>
        </p:nvSpPr>
        <p:spPr>
          <a:xfrm>
            <a:off x="6370781" y="986472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93" name="Rectangle 692"/>
          <p:cNvSpPr/>
          <p:nvPr/>
        </p:nvSpPr>
        <p:spPr>
          <a:xfrm>
            <a:off x="6606309" y="986472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94" name="Rectangle 693"/>
          <p:cNvSpPr/>
          <p:nvPr/>
        </p:nvSpPr>
        <p:spPr>
          <a:xfrm>
            <a:off x="6841836" y="986472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95" name="Rectangle 694"/>
          <p:cNvSpPr/>
          <p:nvPr/>
        </p:nvSpPr>
        <p:spPr>
          <a:xfrm>
            <a:off x="7077363" y="986472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96" name="Rectangle 695"/>
          <p:cNvSpPr/>
          <p:nvPr/>
        </p:nvSpPr>
        <p:spPr>
          <a:xfrm>
            <a:off x="7312890" y="986472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97" name="Rectangle 696"/>
          <p:cNvSpPr/>
          <p:nvPr/>
        </p:nvSpPr>
        <p:spPr>
          <a:xfrm>
            <a:off x="7548418" y="986472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98" name="Rectangle 697"/>
          <p:cNvSpPr/>
          <p:nvPr/>
        </p:nvSpPr>
        <p:spPr>
          <a:xfrm>
            <a:off x="7783945" y="986472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99" name="Rectangle 698"/>
          <p:cNvSpPr/>
          <p:nvPr/>
        </p:nvSpPr>
        <p:spPr>
          <a:xfrm>
            <a:off x="8019472" y="9864725"/>
            <a:ext cx="235527" cy="142875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700" name="Rectangle 699"/>
          <p:cNvSpPr/>
          <p:nvPr/>
        </p:nvSpPr>
        <p:spPr>
          <a:xfrm>
            <a:off x="5899727" y="8864600"/>
            <a:ext cx="235527" cy="142875"/>
          </a:xfrm>
          <a:prstGeom prst="rect">
            <a:avLst/>
          </a:prstGeom>
          <a:solidFill>
            <a:srgbClr val="86B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701" name="Rectangle 700"/>
          <p:cNvSpPr/>
          <p:nvPr/>
        </p:nvSpPr>
        <p:spPr>
          <a:xfrm>
            <a:off x="6135254" y="8864600"/>
            <a:ext cx="235527" cy="142875"/>
          </a:xfrm>
          <a:prstGeom prst="rect">
            <a:avLst/>
          </a:prstGeom>
          <a:solidFill>
            <a:srgbClr val="479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702" name="Rectangle 701"/>
          <p:cNvSpPr/>
          <p:nvPr/>
        </p:nvSpPr>
        <p:spPr>
          <a:xfrm>
            <a:off x="6135254" y="9007475"/>
            <a:ext cx="235527" cy="142875"/>
          </a:xfrm>
          <a:prstGeom prst="rect">
            <a:avLst/>
          </a:prstGeom>
          <a:solidFill>
            <a:srgbClr val="86B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703" name="Rectangle 702"/>
          <p:cNvSpPr/>
          <p:nvPr/>
        </p:nvSpPr>
        <p:spPr>
          <a:xfrm>
            <a:off x="6370781" y="9007475"/>
            <a:ext cx="235527" cy="142875"/>
          </a:xfrm>
          <a:prstGeom prst="rect">
            <a:avLst/>
          </a:prstGeom>
          <a:solidFill>
            <a:srgbClr val="479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704" name="Rectangle 703"/>
          <p:cNvSpPr/>
          <p:nvPr/>
        </p:nvSpPr>
        <p:spPr>
          <a:xfrm>
            <a:off x="6370781" y="9150350"/>
            <a:ext cx="235527" cy="142875"/>
          </a:xfrm>
          <a:prstGeom prst="rect">
            <a:avLst/>
          </a:prstGeom>
          <a:solidFill>
            <a:srgbClr val="86B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705" name="Rectangle 704"/>
          <p:cNvSpPr/>
          <p:nvPr/>
        </p:nvSpPr>
        <p:spPr>
          <a:xfrm>
            <a:off x="6606309" y="9150350"/>
            <a:ext cx="235527" cy="142875"/>
          </a:xfrm>
          <a:prstGeom prst="rect">
            <a:avLst/>
          </a:prstGeom>
          <a:solidFill>
            <a:srgbClr val="479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706" name="Rectangle 705"/>
          <p:cNvSpPr/>
          <p:nvPr/>
        </p:nvSpPr>
        <p:spPr>
          <a:xfrm>
            <a:off x="6606309" y="9293225"/>
            <a:ext cx="235527" cy="142875"/>
          </a:xfrm>
          <a:prstGeom prst="rect">
            <a:avLst/>
          </a:prstGeom>
          <a:solidFill>
            <a:srgbClr val="86B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707" name="Rectangle 706"/>
          <p:cNvSpPr/>
          <p:nvPr/>
        </p:nvSpPr>
        <p:spPr>
          <a:xfrm>
            <a:off x="6841836" y="9293225"/>
            <a:ext cx="235527" cy="142875"/>
          </a:xfrm>
          <a:prstGeom prst="rect">
            <a:avLst/>
          </a:prstGeom>
          <a:solidFill>
            <a:srgbClr val="479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708" name="Rectangle 707"/>
          <p:cNvSpPr/>
          <p:nvPr/>
        </p:nvSpPr>
        <p:spPr>
          <a:xfrm>
            <a:off x="6841836" y="9436100"/>
            <a:ext cx="235527" cy="142875"/>
          </a:xfrm>
          <a:prstGeom prst="rect">
            <a:avLst/>
          </a:prstGeom>
          <a:solidFill>
            <a:srgbClr val="86B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709" name="Rectangle 708"/>
          <p:cNvSpPr/>
          <p:nvPr/>
        </p:nvSpPr>
        <p:spPr>
          <a:xfrm>
            <a:off x="7077363" y="9436100"/>
            <a:ext cx="235527" cy="142875"/>
          </a:xfrm>
          <a:prstGeom prst="rect">
            <a:avLst/>
          </a:prstGeom>
          <a:solidFill>
            <a:srgbClr val="479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710" name="Rectangle 709"/>
          <p:cNvSpPr/>
          <p:nvPr/>
        </p:nvSpPr>
        <p:spPr>
          <a:xfrm>
            <a:off x="7077363" y="9578975"/>
            <a:ext cx="235527" cy="142875"/>
          </a:xfrm>
          <a:prstGeom prst="rect">
            <a:avLst/>
          </a:prstGeom>
          <a:solidFill>
            <a:srgbClr val="86B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711" name="Rectangle 710"/>
          <p:cNvSpPr/>
          <p:nvPr/>
        </p:nvSpPr>
        <p:spPr>
          <a:xfrm>
            <a:off x="7312890" y="9578975"/>
            <a:ext cx="235527" cy="142875"/>
          </a:xfrm>
          <a:prstGeom prst="rect">
            <a:avLst/>
          </a:prstGeom>
          <a:solidFill>
            <a:srgbClr val="479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712" name="Rectangle 711"/>
          <p:cNvSpPr/>
          <p:nvPr/>
        </p:nvSpPr>
        <p:spPr>
          <a:xfrm>
            <a:off x="7312890" y="9721850"/>
            <a:ext cx="235527" cy="142875"/>
          </a:xfrm>
          <a:prstGeom prst="rect">
            <a:avLst/>
          </a:prstGeom>
          <a:solidFill>
            <a:srgbClr val="86B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713" name="Rectangle 712"/>
          <p:cNvSpPr/>
          <p:nvPr/>
        </p:nvSpPr>
        <p:spPr>
          <a:xfrm>
            <a:off x="7548418" y="9721850"/>
            <a:ext cx="235527" cy="142875"/>
          </a:xfrm>
          <a:prstGeom prst="rect">
            <a:avLst/>
          </a:prstGeom>
          <a:solidFill>
            <a:srgbClr val="479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714" name="Rectangle 713"/>
          <p:cNvSpPr/>
          <p:nvPr/>
        </p:nvSpPr>
        <p:spPr>
          <a:xfrm>
            <a:off x="7548418" y="9864725"/>
            <a:ext cx="235527" cy="142875"/>
          </a:xfrm>
          <a:prstGeom prst="rect">
            <a:avLst/>
          </a:prstGeom>
          <a:solidFill>
            <a:srgbClr val="86B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715" name="Rectangle 714"/>
          <p:cNvSpPr/>
          <p:nvPr/>
        </p:nvSpPr>
        <p:spPr>
          <a:xfrm>
            <a:off x="7783945" y="9864725"/>
            <a:ext cx="235527" cy="142875"/>
          </a:xfrm>
          <a:prstGeom prst="rect">
            <a:avLst/>
          </a:prstGeom>
          <a:solidFill>
            <a:srgbClr val="479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cxnSp>
        <p:nvCxnSpPr>
          <p:cNvPr id="716" name="Connector 715"/>
          <p:cNvCxnSpPr/>
          <p:nvPr/>
        </p:nvCxnSpPr>
        <p:spPr>
          <a:xfrm>
            <a:off x="5664200" y="8864600"/>
            <a:ext cx="0" cy="1143000"/>
          </a:xfrm>
          <a:prstGeom prst="line">
            <a:avLst/>
          </a:prstGeom>
          <a:ln w="5080">
            <a:solidFill>
              <a:srgbClr val="D7DD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>
            <a:off x="5899727" y="8864600"/>
            <a:ext cx="0" cy="1143000"/>
          </a:xfrm>
          <a:prstGeom prst="line">
            <a:avLst/>
          </a:prstGeom>
          <a:ln w="5080">
            <a:solidFill>
              <a:srgbClr val="D7DD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>
            <a:off x="6135254" y="8864600"/>
            <a:ext cx="0" cy="1143000"/>
          </a:xfrm>
          <a:prstGeom prst="line">
            <a:avLst/>
          </a:prstGeom>
          <a:ln w="5080">
            <a:solidFill>
              <a:srgbClr val="D7DD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>
            <a:off x="6370781" y="8864600"/>
            <a:ext cx="0" cy="1143000"/>
          </a:xfrm>
          <a:prstGeom prst="line">
            <a:avLst/>
          </a:prstGeom>
          <a:ln w="5080">
            <a:solidFill>
              <a:srgbClr val="D7DD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>
            <a:off x="6606309" y="8864600"/>
            <a:ext cx="0" cy="1143000"/>
          </a:xfrm>
          <a:prstGeom prst="line">
            <a:avLst/>
          </a:prstGeom>
          <a:ln w="5080">
            <a:solidFill>
              <a:srgbClr val="D7DD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>
            <a:off x="6841836" y="8864600"/>
            <a:ext cx="0" cy="1143000"/>
          </a:xfrm>
          <a:prstGeom prst="line">
            <a:avLst/>
          </a:prstGeom>
          <a:ln w="5080">
            <a:solidFill>
              <a:srgbClr val="D7DD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>
            <a:off x="7077363" y="8864600"/>
            <a:ext cx="0" cy="1143000"/>
          </a:xfrm>
          <a:prstGeom prst="line">
            <a:avLst/>
          </a:prstGeom>
          <a:ln w="5080">
            <a:solidFill>
              <a:srgbClr val="D7DD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7312890" y="8864600"/>
            <a:ext cx="0" cy="1143000"/>
          </a:xfrm>
          <a:prstGeom prst="line">
            <a:avLst/>
          </a:prstGeom>
          <a:ln w="5080">
            <a:solidFill>
              <a:srgbClr val="D7DD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>
            <a:off x="7548418" y="8864600"/>
            <a:ext cx="0" cy="1143000"/>
          </a:xfrm>
          <a:prstGeom prst="line">
            <a:avLst/>
          </a:prstGeom>
          <a:ln w="5080">
            <a:solidFill>
              <a:srgbClr val="D7DD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>
            <a:off x="7783945" y="8864600"/>
            <a:ext cx="0" cy="1143000"/>
          </a:xfrm>
          <a:prstGeom prst="line">
            <a:avLst/>
          </a:prstGeom>
          <a:ln w="5080">
            <a:solidFill>
              <a:srgbClr val="D7DD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8019472" y="8864600"/>
            <a:ext cx="0" cy="1143000"/>
          </a:xfrm>
          <a:prstGeom prst="line">
            <a:avLst/>
          </a:prstGeom>
          <a:ln w="5080">
            <a:solidFill>
              <a:srgbClr val="D7DD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>
            <a:off x="8255000" y="8864600"/>
            <a:ext cx="0" cy="1143000"/>
          </a:xfrm>
          <a:prstGeom prst="line">
            <a:avLst/>
          </a:prstGeom>
          <a:ln w="5080">
            <a:solidFill>
              <a:srgbClr val="D7DD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>
            <a:off x="5664200" y="8864600"/>
            <a:ext cx="2590800" cy="0"/>
          </a:xfrm>
          <a:prstGeom prst="line">
            <a:avLst/>
          </a:prstGeom>
          <a:ln w="5080">
            <a:solidFill>
              <a:srgbClr val="D7DD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Connector 728"/>
          <p:cNvCxnSpPr/>
          <p:nvPr/>
        </p:nvCxnSpPr>
        <p:spPr>
          <a:xfrm>
            <a:off x="5664200" y="9007475"/>
            <a:ext cx="2590800" cy="0"/>
          </a:xfrm>
          <a:prstGeom prst="line">
            <a:avLst/>
          </a:prstGeom>
          <a:ln w="5080">
            <a:solidFill>
              <a:srgbClr val="D7DD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>
            <a:off x="5664200" y="9150350"/>
            <a:ext cx="2590800" cy="0"/>
          </a:xfrm>
          <a:prstGeom prst="line">
            <a:avLst/>
          </a:prstGeom>
          <a:ln w="5080">
            <a:solidFill>
              <a:srgbClr val="D7DD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Connector 730"/>
          <p:cNvCxnSpPr/>
          <p:nvPr/>
        </p:nvCxnSpPr>
        <p:spPr>
          <a:xfrm>
            <a:off x="5664200" y="9293225"/>
            <a:ext cx="2590800" cy="0"/>
          </a:xfrm>
          <a:prstGeom prst="line">
            <a:avLst/>
          </a:prstGeom>
          <a:ln w="5080">
            <a:solidFill>
              <a:srgbClr val="D7DD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>
            <a:off x="5664200" y="9436100"/>
            <a:ext cx="2590800" cy="0"/>
          </a:xfrm>
          <a:prstGeom prst="line">
            <a:avLst/>
          </a:prstGeom>
          <a:ln w="5080">
            <a:solidFill>
              <a:srgbClr val="D7DD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>
            <a:off x="5664200" y="9578975"/>
            <a:ext cx="2590800" cy="0"/>
          </a:xfrm>
          <a:prstGeom prst="line">
            <a:avLst/>
          </a:prstGeom>
          <a:ln w="5080">
            <a:solidFill>
              <a:srgbClr val="D7DD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>
            <a:off x="5664200" y="9721850"/>
            <a:ext cx="2590800" cy="0"/>
          </a:xfrm>
          <a:prstGeom prst="line">
            <a:avLst/>
          </a:prstGeom>
          <a:ln w="5080">
            <a:solidFill>
              <a:srgbClr val="D7DD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>
            <a:off x="5664200" y="9864725"/>
            <a:ext cx="2590800" cy="0"/>
          </a:xfrm>
          <a:prstGeom prst="line">
            <a:avLst/>
          </a:prstGeom>
          <a:ln w="5080">
            <a:solidFill>
              <a:srgbClr val="D7DD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>
            <a:off x="5664200" y="10007600"/>
            <a:ext cx="2590800" cy="0"/>
          </a:xfrm>
          <a:prstGeom prst="line">
            <a:avLst/>
          </a:prstGeom>
          <a:ln w="5080">
            <a:solidFill>
              <a:srgbClr val="D7DD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7" name="Freeform 736"/>
          <p:cNvSpPr/>
          <p:nvPr/>
        </p:nvSpPr>
        <p:spPr>
          <a:xfrm>
            <a:off x="5664200" y="8864600"/>
            <a:ext cx="1651000" cy="1143000"/>
          </a:xfrm>
          <a:custGeom>
            <a:avLst/>
            <a:gdLst/>
            <a:ahLst/>
            <a:cxnLst/>
            <a:rect l="l" t="t" r="r" b="b"/>
            <a:pathLst>
              <a:path w="130" h="90">
                <a:moveTo>
                  <a:pt x="0" y="0"/>
                </a:moveTo>
                <a:lnTo>
                  <a:pt x="130" y="90"/>
                </a:lnTo>
              </a:path>
            </a:pathLst>
          </a:custGeom>
          <a:noFill/>
          <a:ln w="8255">
            <a:solidFill>
              <a:srgbClr val="9B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738" name="Freeform 737"/>
          <p:cNvSpPr/>
          <p:nvPr/>
        </p:nvSpPr>
        <p:spPr>
          <a:xfrm>
            <a:off x="5842000" y="8864600"/>
            <a:ext cx="1651000" cy="1143000"/>
          </a:xfrm>
          <a:custGeom>
            <a:avLst/>
            <a:gdLst/>
            <a:ahLst/>
            <a:cxnLst/>
            <a:rect l="l" t="t" r="r" b="b"/>
            <a:pathLst>
              <a:path w="130" h="90">
                <a:moveTo>
                  <a:pt x="0" y="0"/>
                </a:moveTo>
                <a:lnTo>
                  <a:pt x="130" y="90"/>
                </a:lnTo>
              </a:path>
            </a:pathLst>
          </a:custGeom>
          <a:noFill/>
          <a:ln w="11430">
            <a:solidFill>
              <a:srgbClr val="176A2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739" name="Freeform 738"/>
          <p:cNvSpPr/>
          <p:nvPr/>
        </p:nvSpPr>
        <p:spPr>
          <a:xfrm>
            <a:off x="6337300" y="8864600"/>
            <a:ext cx="1651000" cy="1143000"/>
          </a:xfrm>
          <a:custGeom>
            <a:avLst/>
            <a:gdLst/>
            <a:ahLst/>
            <a:cxnLst/>
            <a:rect l="l" t="t" r="r" b="b"/>
            <a:pathLst>
              <a:path w="130" h="90">
                <a:moveTo>
                  <a:pt x="0" y="0"/>
                </a:moveTo>
                <a:lnTo>
                  <a:pt x="130" y="90"/>
                </a:lnTo>
              </a:path>
            </a:pathLst>
          </a:custGeom>
          <a:noFill/>
          <a:ln w="11430">
            <a:solidFill>
              <a:srgbClr val="176A2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740" name="TextBox 739"/>
          <p:cNvSpPr txBox="1"/>
          <p:nvPr/>
        </p:nvSpPr>
        <p:spPr>
          <a:xfrm>
            <a:off x="5689600" y="8623300"/>
            <a:ext cx="203200" cy="1651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" b="1" i="0">
                <a:solidFill>
                  <a:srgbClr val="101010"/>
                </a:solidFill>
                <a:latin typeface="Arial"/>
              </a:rPr>
              <a:t/>
            </a:r>
          </a:p>
        </p:txBody>
      </p:sp>
      <p:sp>
        <p:nvSpPr>
          <p:cNvPr id="741" name="TextBox 740"/>
          <p:cNvSpPr txBox="1"/>
          <p:nvPr/>
        </p:nvSpPr>
        <p:spPr>
          <a:xfrm>
            <a:off x="5925127" y="8623300"/>
            <a:ext cx="203200" cy="1651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" b="1" i="0">
                <a:solidFill>
                  <a:srgbClr val="101010"/>
                </a:solidFill>
                <a:latin typeface="Arial"/>
              </a:rPr>
              <a:t/>
            </a:r>
          </a:p>
        </p:txBody>
      </p:sp>
      <p:sp>
        <p:nvSpPr>
          <p:cNvPr id="742" name="TextBox 741"/>
          <p:cNvSpPr txBox="1"/>
          <p:nvPr/>
        </p:nvSpPr>
        <p:spPr>
          <a:xfrm>
            <a:off x="6160654" y="8623300"/>
            <a:ext cx="203200" cy="1651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" b="1" i="0">
                <a:solidFill>
                  <a:srgbClr val="101010"/>
                </a:solidFill>
                <a:latin typeface="Arial"/>
              </a:rPr>
              <a:t/>
            </a:r>
          </a:p>
        </p:txBody>
      </p:sp>
      <p:sp>
        <p:nvSpPr>
          <p:cNvPr id="743" name="TextBox 742"/>
          <p:cNvSpPr txBox="1"/>
          <p:nvPr/>
        </p:nvSpPr>
        <p:spPr>
          <a:xfrm>
            <a:off x="6396181" y="8623300"/>
            <a:ext cx="203200" cy="1651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" b="1" i="0">
                <a:solidFill>
                  <a:srgbClr val="101010"/>
                </a:solidFill>
                <a:latin typeface="Arial"/>
              </a:rPr>
              <a:t/>
            </a:r>
          </a:p>
        </p:txBody>
      </p:sp>
      <p:sp>
        <p:nvSpPr>
          <p:cNvPr id="744" name="TextBox 743"/>
          <p:cNvSpPr txBox="1"/>
          <p:nvPr/>
        </p:nvSpPr>
        <p:spPr>
          <a:xfrm>
            <a:off x="6631709" y="8623300"/>
            <a:ext cx="203200" cy="1651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" b="1" i="0">
                <a:solidFill>
                  <a:srgbClr val="101010"/>
                </a:solidFill>
                <a:latin typeface="Arial"/>
              </a:rPr>
              <a:t/>
            </a:r>
          </a:p>
        </p:txBody>
      </p:sp>
      <p:sp>
        <p:nvSpPr>
          <p:cNvPr id="745" name="TextBox 744"/>
          <p:cNvSpPr txBox="1"/>
          <p:nvPr/>
        </p:nvSpPr>
        <p:spPr>
          <a:xfrm>
            <a:off x="6867236" y="8623300"/>
            <a:ext cx="203200" cy="1651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" b="1" i="0">
                <a:solidFill>
                  <a:srgbClr val="101010"/>
                </a:solidFill>
                <a:latin typeface="Arial"/>
              </a:rPr>
              <a:t/>
            </a:r>
          </a:p>
        </p:txBody>
      </p:sp>
      <p:sp>
        <p:nvSpPr>
          <p:cNvPr id="746" name="TextBox 745"/>
          <p:cNvSpPr txBox="1"/>
          <p:nvPr/>
        </p:nvSpPr>
        <p:spPr>
          <a:xfrm>
            <a:off x="7102763" y="8623300"/>
            <a:ext cx="203200" cy="1651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" b="1" i="0">
                <a:solidFill>
                  <a:srgbClr val="101010"/>
                </a:solidFill>
                <a:latin typeface="Arial"/>
              </a:rPr>
              <a:t/>
            </a:r>
          </a:p>
        </p:txBody>
      </p:sp>
      <p:sp>
        <p:nvSpPr>
          <p:cNvPr id="747" name="TextBox 746"/>
          <p:cNvSpPr txBox="1"/>
          <p:nvPr/>
        </p:nvSpPr>
        <p:spPr>
          <a:xfrm>
            <a:off x="7573818" y="8623300"/>
            <a:ext cx="203200" cy="1651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" b="1" i="0">
                <a:solidFill>
                  <a:srgbClr val="101010"/>
                </a:solidFill>
                <a:latin typeface="Arial"/>
              </a:rPr>
              <a:t/>
            </a:r>
          </a:p>
        </p:txBody>
      </p:sp>
      <p:sp>
        <p:nvSpPr>
          <p:cNvPr id="748" name="TextBox 747"/>
          <p:cNvSpPr txBox="1"/>
          <p:nvPr/>
        </p:nvSpPr>
        <p:spPr>
          <a:xfrm>
            <a:off x="8044872" y="8623300"/>
            <a:ext cx="203200" cy="1651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" b="1" i="0">
                <a:solidFill>
                  <a:srgbClr val="101010"/>
                </a:solidFill>
                <a:latin typeface="Arial"/>
              </a:rPr>
              <a:t/>
            </a:r>
          </a:p>
        </p:txBody>
      </p:sp>
      <p:sp>
        <p:nvSpPr>
          <p:cNvPr id="749" name="TextBox 748"/>
          <p:cNvSpPr txBox="1"/>
          <p:nvPr/>
        </p:nvSpPr>
        <p:spPr>
          <a:xfrm>
            <a:off x="5334000" y="8877300"/>
            <a:ext cx="228600" cy="1651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" b="1" i="0">
                <a:solidFill>
                  <a:srgbClr val="101010"/>
                </a:solidFill>
                <a:latin typeface="Arial"/>
              </a:rPr>
              <a:t/>
            </a:r>
          </a:p>
        </p:txBody>
      </p:sp>
      <p:sp>
        <p:nvSpPr>
          <p:cNvPr id="750" name="TextBox 749"/>
          <p:cNvSpPr txBox="1"/>
          <p:nvPr/>
        </p:nvSpPr>
        <p:spPr>
          <a:xfrm>
            <a:off x="5334000" y="9020175"/>
            <a:ext cx="228600" cy="1651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" b="1" i="0">
                <a:solidFill>
                  <a:srgbClr val="101010"/>
                </a:solidFill>
                <a:latin typeface="Arial"/>
              </a:rPr>
              <a:t/>
            </a:r>
          </a:p>
        </p:txBody>
      </p:sp>
      <p:sp>
        <p:nvSpPr>
          <p:cNvPr id="751" name="TextBox 750"/>
          <p:cNvSpPr txBox="1"/>
          <p:nvPr/>
        </p:nvSpPr>
        <p:spPr>
          <a:xfrm>
            <a:off x="5334000" y="9163050"/>
            <a:ext cx="228600" cy="1651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" b="1" i="0">
                <a:solidFill>
                  <a:srgbClr val="101010"/>
                </a:solidFill>
                <a:latin typeface="Arial"/>
              </a:rPr>
              <a:t/>
            </a:r>
          </a:p>
        </p:txBody>
      </p:sp>
      <p:sp>
        <p:nvSpPr>
          <p:cNvPr id="752" name="TextBox 751"/>
          <p:cNvSpPr txBox="1"/>
          <p:nvPr/>
        </p:nvSpPr>
        <p:spPr>
          <a:xfrm>
            <a:off x="5334000" y="9305925"/>
            <a:ext cx="228600" cy="1651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" b="1" i="0">
                <a:solidFill>
                  <a:srgbClr val="101010"/>
                </a:solidFill>
                <a:latin typeface="Arial"/>
              </a:rPr>
              <a:t/>
            </a:r>
          </a:p>
        </p:txBody>
      </p:sp>
      <p:sp>
        <p:nvSpPr>
          <p:cNvPr id="753" name="TextBox 752"/>
          <p:cNvSpPr txBox="1"/>
          <p:nvPr/>
        </p:nvSpPr>
        <p:spPr>
          <a:xfrm>
            <a:off x="5334000" y="9448800"/>
            <a:ext cx="228600" cy="1651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" b="1" i="0">
                <a:solidFill>
                  <a:srgbClr val="101010"/>
                </a:solidFill>
                <a:latin typeface="Arial"/>
              </a:rPr>
              <a:t/>
            </a:r>
          </a:p>
        </p:txBody>
      </p:sp>
      <p:sp>
        <p:nvSpPr>
          <p:cNvPr id="754" name="TextBox 753"/>
          <p:cNvSpPr txBox="1"/>
          <p:nvPr/>
        </p:nvSpPr>
        <p:spPr>
          <a:xfrm>
            <a:off x="5334000" y="9591675"/>
            <a:ext cx="228600" cy="1651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" b="1" i="0">
                <a:solidFill>
                  <a:srgbClr val="101010"/>
                </a:solidFill>
                <a:latin typeface="Arial"/>
              </a:rPr>
              <a:t/>
            </a:r>
          </a:p>
        </p:txBody>
      </p:sp>
      <p:sp>
        <p:nvSpPr>
          <p:cNvPr id="755" name="TextBox 754"/>
          <p:cNvSpPr txBox="1"/>
          <p:nvPr/>
        </p:nvSpPr>
        <p:spPr>
          <a:xfrm>
            <a:off x="5334000" y="9734550"/>
            <a:ext cx="228600" cy="1651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" b="1" i="0">
                <a:solidFill>
                  <a:srgbClr val="101010"/>
                </a:solidFill>
                <a:latin typeface="Arial"/>
              </a:rPr>
              <a:t/>
            </a:r>
          </a:p>
        </p:txBody>
      </p:sp>
      <p:sp>
        <p:nvSpPr>
          <p:cNvPr id="756" name="TextBox 755"/>
          <p:cNvSpPr txBox="1"/>
          <p:nvPr/>
        </p:nvSpPr>
        <p:spPr>
          <a:xfrm>
            <a:off x="5334000" y="9877425"/>
            <a:ext cx="228600" cy="1651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" b="1" i="0">
                <a:solidFill>
                  <a:srgbClr val="101010"/>
                </a:solidFill>
                <a:latin typeface="Arial"/>
              </a:rPr>
              <a:t/>
            </a:r>
          </a:p>
        </p:txBody>
      </p:sp>
      <p:sp>
        <p:nvSpPr>
          <p:cNvPr id="757" name="TextBox 756"/>
          <p:cNvSpPr txBox="1"/>
          <p:nvPr/>
        </p:nvSpPr>
        <p:spPr>
          <a:xfrm>
            <a:off x="6261100" y="8382000"/>
            <a:ext cx="1397000" cy="1778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Arial"/>
              </a:rPr>
              <a:t>PPG tokens (j →)</a:t>
            </a:r>
          </a:p>
        </p:txBody>
      </p:sp>
      <p:sp>
        <p:nvSpPr>
          <p:cNvPr id="758" name="TextBox 757"/>
          <p:cNvSpPr txBox="1"/>
          <p:nvPr/>
        </p:nvSpPr>
        <p:spPr>
          <a:xfrm rot="16200000">
            <a:off x="4940300" y="9093200"/>
            <a:ext cx="1270000" cy="1778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Arial"/>
              </a:rPr>
              <a:t>ECG tokens (i ↓)</a:t>
            </a:r>
          </a:p>
        </p:txBody>
      </p:sp>
      <p:sp>
        <p:nvSpPr>
          <p:cNvPr id="759" name="Rectangle 758"/>
          <p:cNvSpPr/>
          <p:nvPr/>
        </p:nvSpPr>
        <p:spPr>
          <a:xfrm>
            <a:off x="8394700" y="8978900"/>
            <a:ext cx="266700" cy="177800"/>
          </a:xfrm>
          <a:prstGeom prst="rect">
            <a:avLst/>
          </a:prstGeom>
          <a:solidFill>
            <a:srgbClr val="2E8B43"/>
          </a:solidFill>
          <a:ln w="6350">
            <a:solidFill>
              <a:srgbClr val="2E8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760" name="TextBox 759"/>
          <p:cNvSpPr txBox="1"/>
          <p:nvPr/>
        </p:nvSpPr>
        <p:spPr>
          <a:xfrm>
            <a:off x="8750300" y="8953500"/>
            <a:ext cx="1219200" cy="2032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Arial"/>
              </a:rPr>
              <a:t>allowed in band</a:t>
            </a:r>
          </a:p>
        </p:txBody>
      </p:sp>
      <p:sp>
        <p:nvSpPr>
          <p:cNvPr id="761" name="Rectangle 760"/>
          <p:cNvSpPr/>
          <p:nvPr/>
        </p:nvSpPr>
        <p:spPr>
          <a:xfrm>
            <a:off x="8394700" y="9347200"/>
            <a:ext cx="266700" cy="177800"/>
          </a:xfrm>
          <a:prstGeom prst="rect">
            <a:avLst/>
          </a:prstGeom>
          <a:solidFill>
            <a:srgbClr val="F3F4F6"/>
          </a:solidFill>
          <a:ln w="6350">
            <a:solidFill>
              <a:srgbClr val="B6BC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762" name="TextBox 761"/>
          <p:cNvSpPr txBox="1"/>
          <p:nvPr/>
        </p:nvSpPr>
        <p:spPr>
          <a:xfrm>
            <a:off x="8750300" y="9321800"/>
            <a:ext cx="1397000" cy="2032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Arial"/>
              </a:rPr>
              <a:t>masked out of band</a:t>
            </a:r>
          </a:p>
        </p:txBody>
      </p:sp>
      <p:cxnSp>
        <p:nvCxnSpPr>
          <p:cNvPr id="763" name="Connector 762"/>
          <p:cNvCxnSpPr/>
          <p:nvPr/>
        </p:nvCxnSpPr>
        <p:spPr>
          <a:xfrm>
            <a:off x="8394700" y="9753600"/>
            <a:ext cx="266700" cy="0"/>
          </a:xfrm>
          <a:prstGeom prst="line">
            <a:avLst/>
          </a:prstGeom>
          <a:ln w="12700">
            <a:solidFill>
              <a:srgbClr val="176A2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4" name="TextBox 763"/>
          <p:cNvSpPr txBox="1"/>
          <p:nvPr/>
        </p:nvSpPr>
        <p:spPr>
          <a:xfrm>
            <a:off x="8750300" y="9652000"/>
            <a:ext cx="1333500" cy="2032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Arial"/>
              </a:rPr>
              <a:t>delay boundary</a:t>
            </a:r>
          </a:p>
        </p:txBody>
      </p:sp>
      <p:cxnSp>
        <p:nvCxnSpPr>
          <p:cNvPr id="765" name="Connector 764"/>
          <p:cNvCxnSpPr/>
          <p:nvPr/>
        </p:nvCxnSpPr>
        <p:spPr>
          <a:xfrm>
            <a:off x="8394700" y="10045700"/>
            <a:ext cx="266700" cy="0"/>
          </a:xfrm>
          <a:prstGeom prst="line">
            <a:avLst/>
          </a:prstGeom>
          <a:ln w="11430">
            <a:solidFill>
              <a:srgbClr val="9BA3A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6" name="TextBox 765"/>
          <p:cNvSpPr txBox="1"/>
          <p:nvPr/>
        </p:nvSpPr>
        <p:spPr>
          <a:xfrm>
            <a:off x="8750300" y="9944100"/>
            <a:ext cx="1206500" cy="2032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01010"/>
                </a:solidFill>
                <a:latin typeface="Arial"/>
              </a:rPr>
              <a:t>zero-delay ref.</a:t>
            </a:r>
          </a:p>
        </p:txBody>
      </p:sp>
      <p:sp>
        <p:nvSpPr>
          <p:cNvPr id="767" name="Rounded Rectangle 766"/>
          <p:cNvSpPr/>
          <p:nvPr/>
        </p:nvSpPr>
        <p:spPr>
          <a:xfrm>
            <a:off x="10337800" y="8102600"/>
            <a:ext cx="2844800" cy="2247900"/>
          </a:xfrm>
          <a:prstGeom prst="roundRect">
            <a:avLst>
              <a:gd name="adj" fmla="val 8000"/>
            </a:avLst>
          </a:prstGeom>
          <a:solidFill>
            <a:srgbClr val="FBFDFF"/>
          </a:solidFill>
          <a:ln w="12700">
            <a:solidFill>
              <a:srgbClr val="1D5E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768" name="TextBox 767"/>
          <p:cNvSpPr txBox="1"/>
          <p:nvPr/>
        </p:nvSpPr>
        <p:spPr>
          <a:xfrm>
            <a:off x="10388600" y="8204200"/>
            <a:ext cx="2743200" cy="2413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062B68"/>
                </a:solidFill>
                <a:latin typeface="Arial"/>
              </a:rPr>
              <a:t>Key symbols</a:t>
            </a:r>
          </a:p>
        </p:txBody>
      </p:sp>
      <p:sp>
        <p:nvSpPr>
          <p:cNvPr id="769" name="TextBox 768"/>
          <p:cNvSpPr txBox="1"/>
          <p:nvPr/>
        </p:nvSpPr>
        <p:spPr>
          <a:xfrm>
            <a:off x="10553700" y="8648700"/>
            <a:ext cx="2463800" cy="2413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Arial"/>
              </a:rPr>
              <a:t>Q/K/V: projections</a:t>
            </a:r>
          </a:p>
        </p:txBody>
      </p:sp>
      <p:sp>
        <p:nvSpPr>
          <p:cNvPr id="770" name="TextBox 769"/>
          <p:cNvSpPr txBox="1"/>
          <p:nvPr/>
        </p:nvSpPr>
        <p:spPr>
          <a:xfrm>
            <a:off x="10553700" y="8940800"/>
            <a:ext cx="2463800" cy="2413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Arial"/>
              </a:rPr>
              <a:t>βᵢⱼ: edge-aligned weights</a:t>
            </a:r>
          </a:p>
        </p:txBody>
      </p:sp>
      <p:sp>
        <p:nvSpPr>
          <p:cNvPr id="771" name="TextBox 770"/>
          <p:cNvSpPr txBox="1"/>
          <p:nvPr/>
        </p:nvSpPr>
        <p:spPr>
          <a:xfrm>
            <a:off x="10553700" y="9232900"/>
            <a:ext cx="2463800" cy="2413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Arial"/>
              </a:rPr>
              <a:t>rᵢⱼ: pair reliability</a:t>
            </a:r>
          </a:p>
        </p:txBody>
      </p:sp>
      <p:sp>
        <p:nvSpPr>
          <p:cNvPr id="772" name="TextBox 771"/>
          <p:cNvSpPr txBox="1"/>
          <p:nvPr/>
        </p:nvSpPr>
        <p:spPr>
          <a:xfrm>
            <a:off x="10553700" y="9525000"/>
            <a:ext cx="2463800" cy="2413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Arial"/>
              </a:rPr>
              <a:t>Fᵢ: edge-aligned token</a:t>
            </a:r>
          </a:p>
        </p:txBody>
      </p:sp>
      <p:sp>
        <p:nvSpPr>
          <p:cNvPr id="773" name="TextBox 772"/>
          <p:cNvSpPr txBox="1"/>
          <p:nvPr/>
        </p:nvSpPr>
        <p:spPr>
          <a:xfrm>
            <a:off x="10553700" y="9817100"/>
            <a:ext cx="2463800" cy="2413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Arial"/>
              </a:rPr>
              <a:t>W*: learnable projection</a:t>
            </a:r>
          </a:p>
        </p:txBody>
      </p:sp>
      <p:sp>
        <p:nvSpPr>
          <p:cNvPr id="774" name="Rounded Rectangle 773"/>
          <p:cNvSpPr/>
          <p:nvPr/>
        </p:nvSpPr>
        <p:spPr>
          <a:xfrm>
            <a:off x="13335000" y="8102600"/>
            <a:ext cx="3581400" cy="2247900"/>
          </a:xfrm>
          <a:prstGeom prst="roundRect">
            <a:avLst>
              <a:gd name="adj" fmla="val 8000"/>
            </a:avLst>
          </a:prstGeom>
          <a:solidFill>
            <a:srgbClr val="FBFDFF"/>
          </a:solidFill>
          <a:ln w="12700">
            <a:solidFill>
              <a:srgbClr val="1D5E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775" name="TextBox 774"/>
          <p:cNvSpPr txBox="1"/>
          <p:nvPr/>
        </p:nvSpPr>
        <p:spPr>
          <a:xfrm>
            <a:off x="13385800" y="8204200"/>
            <a:ext cx="3479800" cy="2413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062B68"/>
                </a:solidFill>
                <a:latin typeface="Arial"/>
              </a:rPr>
              <a:t>Training objectives</a:t>
            </a:r>
          </a:p>
        </p:txBody>
      </p:sp>
      <p:sp>
        <p:nvSpPr>
          <p:cNvPr id="776" name="TextBox 775"/>
          <p:cNvSpPr txBox="1"/>
          <p:nvPr/>
        </p:nvSpPr>
        <p:spPr>
          <a:xfrm>
            <a:off x="13538200" y="8674100"/>
            <a:ext cx="2159000" cy="2286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01010"/>
                </a:solidFill>
                <a:latin typeface="Arial"/>
              </a:rPr>
              <a:t>Contrastive pre-training</a:t>
            </a:r>
          </a:p>
        </p:txBody>
      </p:sp>
      <p:sp>
        <p:nvSpPr>
          <p:cNvPr id="777" name="TextBox 776"/>
          <p:cNvSpPr txBox="1"/>
          <p:nvPr/>
        </p:nvSpPr>
        <p:spPr>
          <a:xfrm>
            <a:off x="13538200" y="9639300"/>
            <a:ext cx="2926080" cy="2286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01010"/>
                </a:solidFill>
                <a:latin typeface="Arial"/>
              </a:rPr>
              <a:t>Huber + physiological order constraint</a:t>
            </a:r>
          </a:p>
        </p:txBody>
      </p:sp>
      <p:sp>
        <p:nvSpPr>
          <p:cNvPr id="778" name="TextBox 777"/>
          <p:cNvSpPr txBox="1"/>
          <p:nvPr/>
        </p:nvSpPr>
        <p:spPr>
          <a:xfrm>
            <a:off x="13931900" y="9093200"/>
            <a:ext cx="153288" cy="279527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1">
                <a:solidFill>
                  <a:srgbClr val="101010"/>
                </a:solidFill>
                <a:latin typeface="Cambria Math"/>
              </a:rPr>
              <a:t>L</a:t>
            </a:r>
          </a:p>
        </p:txBody>
      </p:sp>
      <p:sp>
        <p:nvSpPr>
          <p:cNvPr id="779" name="TextBox 778"/>
          <p:cNvSpPr txBox="1"/>
          <p:nvPr/>
        </p:nvSpPr>
        <p:spPr>
          <a:xfrm>
            <a:off x="14043710" y="9219438"/>
            <a:ext cx="194995" cy="18034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Cambria Math"/>
              </a:rPr>
              <a:t>pre</a:t>
            </a:r>
          </a:p>
        </p:txBody>
      </p:sp>
      <p:sp>
        <p:nvSpPr>
          <p:cNvPr id="780" name="TextBox 779"/>
          <p:cNvSpPr txBox="1"/>
          <p:nvPr/>
        </p:nvSpPr>
        <p:spPr>
          <a:xfrm>
            <a:off x="14264106" y="9093200"/>
            <a:ext cx="151130" cy="271653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101010"/>
                </a:solidFill>
                <a:latin typeface="Cambria Math"/>
              </a:rPr>
              <a:t>=</a:t>
            </a:r>
          </a:p>
        </p:txBody>
      </p:sp>
      <p:sp>
        <p:nvSpPr>
          <p:cNvPr id="781" name="TextBox 780"/>
          <p:cNvSpPr txBox="1"/>
          <p:nvPr/>
        </p:nvSpPr>
        <p:spPr>
          <a:xfrm>
            <a:off x="14415236" y="9093200"/>
            <a:ext cx="153288" cy="279527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1">
                <a:solidFill>
                  <a:srgbClr val="101010"/>
                </a:solidFill>
                <a:latin typeface="Cambria Math"/>
              </a:rPr>
              <a:t>L</a:t>
            </a:r>
          </a:p>
        </p:txBody>
      </p:sp>
      <p:sp>
        <p:nvSpPr>
          <p:cNvPr id="782" name="TextBox 781"/>
          <p:cNvSpPr txBox="1"/>
          <p:nvPr/>
        </p:nvSpPr>
        <p:spPr>
          <a:xfrm>
            <a:off x="14527047" y="9057132"/>
            <a:ext cx="238926" cy="18034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Cambria Math"/>
              </a:rPr>
              <a:t>ECG</a:t>
            </a:r>
          </a:p>
        </p:txBody>
      </p:sp>
      <p:sp>
        <p:nvSpPr>
          <p:cNvPr id="783" name="TextBox 782"/>
          <p:cNvSpPr txBox="1"/>
          <p:nvPr/>
        </p:nvSpPr>
        <p:spPr>
          <a:xfrm>
            <a:off x="14527047" y="9219438"/>
            <a:ext cx="276581" cy="18034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Cambria Math"/>
              </a:rPr>
              <a:t>intra</a:t>
            </a:r>
          </a:p>
        </p:txBody>
      </p:sp>
      <p:sp>
        <p:nvSpPr>
          <p:cNvPr id="784" name="TextBox 783"/>
          <p:cNvSpPr txBox="1"/>
          <p:nvPr/>
        </p:nvSpPr>
        <p:spPr>
          <a:xfrm>
            <a:off x="14829029" y="9093200"/>
            <a:ext cx="151130" cy="271653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101010"/>
                </a:solidFill>
                <a:latin typeface="Cambria Math"/>
              </a:rPr>
              <a:t>+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14980159" y="9093200"/>
            <a:ext cx="153288" cy="279527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1">
                <a:solidFill>
                  <a:srgbClr val="101010"/>
                </a:solidFill>
                <a:latin typeface="Cambria Math"/>
              </a:rPr>
              <a:t>L</a:t>
            </a:r>
          </a:p>
        </p:txBody>
      </p:sp>
      <p:sp>
        <p:nvSpPr>
          <p:cNvPr id="786" name="TextBox 785"/>
          <p:cNvSpPr txBox="1"/>
          <p:nvPr/>
        </p:nvSpPr>
        <p:spPr>
          <a:xfrm>
            <a:off x="15091969" y="9057132"/>
            <a:ext cx="238926" cy="18034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Cambria Math"/>
              </a:rPr>
              <a:t>PPG</a:t>
            </a:r>
          </a:p>
        </p:txBody>
      </p:sp>
      <p:sp>
        <p:nvSpPr>
          <p:cNvPr id="787" name="TextBox 786"/>
          <p:cNvSpPr txBox="1"/>
          <p:nvPr/>
        </p:nvSpPr>
        <p:spPr>
          <a:xfrm>
            <a:off x="15091969" y="9219438"/>
            <a:ext cx="276581" cy="18034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Cambria Math"/>
              </a:rPr>
              <a:t>intra</a:t>
            </a:r>
          </a:p>
        </p:txBody>
      </p:sp>
      <p:sp>
        <p:nvSpPr>
          <p:cNvPr id="788" name="TextBox 787"/>
          <p:cNvSpPr txBox="1"/>
          <p:nvPr/>
        </p:nvSpPr>
        <p:spPr>
          <a:xfrm>
            <a:off x="14325600" y="9385300"/>
            <a:ext cx="287832" cy="271653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101010"/>
                </a:solidFill>
                <a:latin typeface="Cambria Math"/>
              </a:rPr>
              <a:t>+ η</a:t>
            </a:r>
          </a:p>
        </p:txBody>
      </p:sp>
      <p:sp>
        <p:nvSpPr>
          <p:cNvPr id="789" name="TextBox 788"/>
          <p:cNvSpPr txBox="1"/>
          <p:nvPr/>
        </p:nvSpPr>
        <p:spPr>
          <a:xfrm>
            <a:off x="14613432" y="9385300"/>
            <a:ext cx="153288" cy="279527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1">
                <a:solidFill>
                  <a:srgbClr val="101010"/>
                </a:solidFill>
                <a:latin typeface="Cambria Math"/>
              </a:rPr>
              <a:t>L</a:t>
            </a:r>
          </a:p>
        </p:txBody>
      </p:sp>
      <p:sp>
        <p:nvSpPr>
          <p:cNvPr id="790" name="TextBox 789"/>
          <p:cNvSpPr txBox="1"/>
          <p:nvPr/>
        </p:nvSpPr>
        <p:spPr>
          <a:xfrm>
            <a:off x="14725243" y="9349232"/>
            <a:ext cx="492051" cy="18034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Cambria Math"/>
              </a:rPr>
              <a:t>ECG-PPG</a:t>
            </a:r>
          </a:p>
        </p:txBody>
      </p:sp>
      <p:sp>
        <p:nvSpPr>
          <p:cNvPr id="791" name="TextBox 790"/>
          <p:cNvSpPr txBox="1"/>
          <p:nvPr/>
        </p:nvSpPr>
        <p:spPr>
          <a:xfrm>
            <a:off x="14725243" y="9511538"/>
            <a:ext cx="492051" cy="18034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Cambria Math"/>
              </a:rPr>
              <a:t>inter</a:t>
            </a:r>
          </a:p>
        </p:txBody>
      </p:sp>
      <p:sp>
        <p:nvSpPr>
          <p:cNvPr id="792" name="TextBox 791"/>
          <p:cNvSpPr txBox="1"/>
          <p:nvPr/>
        </p:nvSpPr>
        <p:spPr>
          <a:xfrm>
            <a:off x="13728700" y="9982200"/>
            <a:ext cx="151130" cy="27559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1">
                <a:solidFill>
                  <a:srgbClr val="101010"/>
                </a:solidFill>
                <a:latin typeface="Cambria Math"/>
              </a:rPr>
              <a:t>L</a:t>
            </a:r>
          </a:p>
        </p:txBody>
      </p:sp>
      <p:sp>
        <p:nvSpPr>
          <p:cNvPr id="793" name="TextBox 792"/>
          <p:cNvSpPr txBox="1"/>
          <p:nvPr/>
        </p:nvSpPr>
        <p:spPr>
          <a:xfrm>
            <a:off x="13902436" y="9982200"/>
            <a:ext cx="151130" cy="271653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101010"/>
                </a:solidFill>
                <a:latin typeface="Cambria Math"/>
              </a:rPr>
              <a:t>=</a:t>
            </a:r>
          </a:p>
        </p:txBody>
      </p:sp>
      <p:sp>
        <p:nvSpPr>
          <p:cNvPr id="794" name="TextBox 793"/>
          <p:cNvSpPr txBox="1"/>
          <p:nvPr/>
        </p:nvSpPr>
        <p:spPr>
          <a:xfrm>
            <a:off x="14053566" y="9982200"/>
            <a:ext cx="151130" cy="27559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1">
                <a:solidFill>
                  <a:srgbClr val="101010"/>
                </a:solidFill>
                <a:latin typeface="Cambria Math"/>
              </a:rPr>
              <a:t>L</a:t>
            </a:r>
          </a:p>
        </p:txBody>
      </p:sp>
      <p:sp>
        <p:nvSpPr>
          <p:cNvPr id="795" name="TextBox 794"/>
          <p:cNvSpPr txBox="1"/>
          <p:nvPr/>
        </p:nvSpPr>
        <p:spPr>
          <a:xfrm>
            <a:off x="14163802" y="10106660"/>
            <a:ext cx="310347" cy="1778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Cambria Math"/>
              </a:rPr>
              <a:t>Huber</a:t>
            </a:r>
          </a:p>
        </p:txBody>
      </p:sp>
      <p:sp>
        <p:nvSpPr>
          <p:cNvPr id="796" name="TextBox 795"/>
          <p:cNvSpPr txBox="1"/>
          <p:nvPr/>
        </p:nvSpPr>
        <p:spPr>
          <a:xfrm>
            <a:off x="14499549" y="9982200"/>
            <a:ext cx="287832" cy="271653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101010"/>
                </a:solidFill>
                <a:latin typeface="Cambria Math"/>
              </a:rPr>
              <a:t>+ β</a:t>
            </a:r>
          </a:p>
        </p:txBody>
      </p:sp>
      <p:sp>
        <p:nvSpPr>
          <p:cNvPr id="797" name="TextBox 796"/>
          <p:cNvSpPr txBox="1"/>
          <p:nvPr/>
        </p:nvSpPr>
        <p:spPr>
          <a:xfrm>
            <a:off x="14787382" y="9982200"/>
            <a:ext cx="151130" cy="27559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1">
                <a:solidFill>
                  <a:srgbClr val="101010"/>
                </a:solidFill>
                <a:latin typeface="Cambria Math"/>
              </a:rPr>
              <a:t>L</a:t>
            </a:r>
          </a:p>
        </p:txBody>
      </p:sp>
      <p:sp>
        <p:nvSpPr>
          <p:cNvPr id="798" name="TextBox 797"/>
          <p:cNvSpPr txBox="1"/>
          <p:nvPr/>
        </p:nvSpPr>
        <p:spPr>
          <a:xfrm>
            <a:off x="14897618" y="10106660"/>
            <a:ext cx="295909" cy="1778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Cambria Math"/>
              </a:rPr>
              <a:t>order</a:t>
            </a:r>
          </a:p>
        </p:txBody>
      </p:sp>
      <p:sp>
        <p:nvSpPr>
          <p:cNvPr id="799" name="TextBox 798"/>
          <p:cNvSpPr txBox="1"/>
          <p:nvPr/>
        </p:nvSpPr>
        <p:spPr>
          <a:xfrm>
            <a:off x="15218928" y="9982200"/>
            <a:ext cx="287832" cy="271653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101010"/>
                </a:solidFill>
                <a:latin typeface="Cambria Math"/>
              </a:rPr>
              <a:t/>
            </a:r>
          </a:p>
        </p:txBody>
      </p:sp>
      <p:sp>
        <p:nvSpPr>
          <p:cNvPr id="800" name="TextBox 799"/>
          <p:cNvSpPr txBox="1"/>
          <p:nvPr/>
        </p:nvSpPr>
        <p:spPr>
          <a:xfrm>
            <a:off x="15506760" y="9982200"/>
            <a:ext cx="151130" cy="27559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1">
                <a:solidFill>
                  <a:srgbClr val="101010"/>
                </a:solidFill>
                <a:latin typeface="Cambria Math"/>
              </a:rPr>
              <a:t/>
            </a:r>
          </a:p>
        </p:txBody>
      </p:sp>
      <p:sp>
        <p:nvSpPr>
          <p:cNvPr id="801" name="TextBox 800"/>
          <p:cNvSpPr txBox="1"/>
          <p:nvPr/>
        </p:nvSpPr>
        <p:spPr>
          <a:xfrm>
            <a:off x="15616996" y="10106660"/>
            <a:ext cx="295909" cy="1778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010"/>
                </a:solidFill>
                <a:latin typeface="Cambria Math"/>
              </a:rPr>
              <a:t/>
            </a:r>
          </a:p>
        </p:txBody>
      </p:sp>
      <p:sp>
        <p:nvSpPr>
          <p:cNvPr id="802" name="Rounded Rectangle 801"/>
          <p:cNvSpPr/>
          <p:nvPr/>
        </p:nvSpPr>
        <p:spPr>
          <a:xfrm>
            <a:off x="17081500" y="8102600"/>
            <a:ext cx="4229100" cy="2247900"/>
          </a:xfrm>
          <a:prstGeom prst="roundRect">
            <a:avLst>
              <a:gd name="adj" fmla="val 8000"/>
            </a:avLst>
          </a:prstGeom>
          <a:solidFill>
            <a:srgbClr val="FBFDFF"/>
          </a:solidFill>
          <a:ln w="12700">
            <a:solidFill>
              <a:srgbClr val="1D5E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803" name="TextBox 802"/>
          <p:cNvSpPr txBox="1"/>
          <p:nvPr/>
        </p:nvSpPr>
        <p:spPr>
          <a:xfrm>
            <a:off x="17132300" y="8204200"/>
            <a:ext cx="4127500" cy="241300"/>
          </a:xfrm>
          <a:prstGeom prst="rect">
            <a:avLst/>
          </a:prstGeom>
          <a:noFill/>
          <a:effectLst/>
        </p:spPr>
        <p:txBody>
          <a:bodyPr wrap="none" lIns="15240" rIns="15240" tIns="15240" bIns="1524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062B68"/>
                </a:solidFill>
                <a:latin typeface="Arial"/>
              </a:rPr>
              <a:t>Core takeaways</a:t>
            </a:r>
          </a:p>
        </p:txBody>
      </p:sp>
      <p:sp>
        <p:nvSpPr>
          <p:cNvPr id="804" name="Oval 803"/>
          <p:cNvSpPr/>
          <p:nvPr/>
        </p:nvSpPr>
        <p:spPr>
          <a:xfrm>
            <a:off x="17310100" y="8674100"/>
            <a:ext cx="190500" cy="1905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DA6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805" name="Freeform 804"/>
          <p:cNvSpPr/>
          <p:nvPr/>
        </p:nvSpPr>
        <p:spPr>
          <a:xfrm>
            <a:off x="17360900" y="8712200"/>
            <a:ext cx="127000" cy="114300"/>
          </a:xfrm>
          <a:custGeom>
            <a:avLst/>
            <a:gdLst/>
            <a:ahLst/>
            <a:cxnLst/>
            <a:rect l="l" t="t" r="r" b="b"/>
            <a:pathLst>
              <a:path w="10" h="9">
                <a:moveTo>
                  <a:pt x="0" y="5"/>
                </a:moveTo>
                <a:lnTo>
                  <a:pt x="4" y="9"/>
                </a:lnTo>
                <a:lnTo>
                  <a:pt x="10" y="0"/>
                </a:lnTo>
              </a:path>
            </a:pathLst>
          </a:custGeom>
          <a:noFill/>
          <a:ln w="17780">
            <a:solidFill>
              <a:srgbClr val="1DA6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806" name="TextBox 805"/>
          <p:cNvSpPr txBox="1"/>
          <p:nvPr/>
        </p:nvSpPr>
        <p:spPr>
          <a:xfrm>
            <a:off x="17627600" y="8636000"/>
            <a:ext cx="3429000" cy="2286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1010"/>
                </a:solidFill>
                <a:latin typeface="Arial"/>
              </a:rPr>
              <a:t>physiology-guided asymmetric fusion</a:t>
            </a:r>
          </a:p>
        </p:txBody>
      </p:sp>
      <p:sp>
        <p:nvSpPr>
          <p:cNvPr id="807" name="Oval 806"/>
          <p:cNvSpPr/>
          <p:nvPr/>
        </p:nvSpPr>
        <p:spPr>
          <a:xfrm>
            <a:off x="17310100" y="9093200"/>
            <a:ext cx="190500" cy="1905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DA6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808" name="Freeform 807"/>
          <p:cNvSpPr/>
          <p:nvPr/>
        </p:nvSpPr>
        <p:spPr>
          <a:xfrm>
            <a:off x="17360900" y="9131300"/>
            <a:ext cx="127000" cy="114300"/>
          </a:xfrm>
          <a:custGeom>
            <a:avLst/>
            <a:gdLst/>
            <a:ahLst/>
            <a:cxnLst/>
            <a:rect l="l" t="t" r="r" b="b"/>
            <a:pathLst>
              <a:path w="10" h="9">
                <a:moveTo>
                  <a:pt x="0" y="5"/>
                </a:moveTo>
                <a:lnTo>
                  <a:pt x="4" y="9"/>
                </a:lnTo>
                <a:lnTo>
                  <a:pt x="10" y="0"/>
                </a:lnTo>
              </a:path>
            </a:pathLst>
          </a:custGeom>
          <a:noFill/>
          <a:ln w="17780">
            <a:solidFill>
              <a:srgbClr val="1DA6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809" name="TextBox 808"/>
          <p:cNvSpPr txBox="1"/>
          <p:nvPr/>
        </p:nvSpPr>
        <p:spPr>
          <a:xfrm>
            <a:off x="17627600" y="9055100"/>
            <a:ext cx="3429000" cy="2286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1010"/>
                </a:solidFill>
                <a:latin typeface="Arial"/>
              </a:rPr>
              <a:t>SQI-related local reliability weighting</a:t>
            </a:r>
          </a:p>
        </p:txBody>
      </p:sp>
      <p:sp>
        <p:nvSpPr>
          <p:cNvPr id="810" name="Oval 809"/>
          <p:cNvSpPr/>
          <p:nvPr/>
        </p:nvSpPr>
        <p:spPr>
          <a:xfrm>
            <a:off x="17310100" y="9512300"/>
            <a:ext cx="190500" cy="1905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DA6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811" name="Freeform 810"/>
          <p:cNvSpPr/>
          <p:nvPr/>
        </p:nvSpPr>
        <p:spPr>
          <a:xfrm>
            <a:off x="17360900" y="9550400"/>
            <a:ext cx="127000" cy="114300"/>
          </a:xfrm>
          <a:custGeom>
            <a:avLst/>
            <a:gdLst/>
            <a:ahLst/>
            <a:cxnLst/>
            <a:rect l="l" t="t" r="r" b="b"/>
            <a:pathLst>
              <a:path w="10" h="9">
                <a:moveTo>
                  <a:pt x="0" y="5"/>
                </a:moveTo>
                <a:lnTo>
                  <a:pt x="4" y="9"/>
                </a:lnTo>
                <a:lnTo>
                  <a:pt x="10" y="0"/>
                </a:lnTo>
              </a:path>
            </a:pathLst>
          </a:custGeom>
          <a:noFill/>
          <a:ln w="17780">
            <a:solidFill>
              <a:srgbClr val="1DA6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812" name="TextBox 811"/>
          <p:cNvSpPr txBox="1"/>
          <p:nvPr/>
        </p:nvSpPr>
        <p:spPr>
          <a:xfrm>
            <a:off x="17627600" y="9474200"/>
            <a:ext cx="3429000" cy="2286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1010"/>
                </a:solidFill>
                <a:latin typeface="Arial"/>
              </a:rPr>
              <a:t>subject-aware contrastive objective</a:t>
            </a:r>
          </a:p>
        </p:txBody>
      </p:sp>
      <p:sp>
        <p:nvSpPr>
          <p:cNvPr id="813" name="Oval 812"/>
          <p:cNvSpPr/>
          <p:nvPr/>
        </p:nvSpPr>
        <p:spPr>
          <a:xfrm>
            <a:off x="17310100" y="9931400"/>
            <a:ext cx="190500" cy="1905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DA6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814" name="Freeform 813"/>
          <p:cNvSpPr/>
          <p:nvPr/>
        </p:nvSpPr>
        <p:spPr>
          <a:xfrm>
            <a:off x="17360900" y="9969500"/>
            <a:ext cx="127000" cy="114300"/>
          </a:xfrm>
          <a:custGeom>
            <a:avLst/>
            <a:gdLst/>
            <a:ahLst/>
            <a:cxnLst/>
            <a:rect l="l" t="t" r="r" b="b"/>
            <a:pathLst>
              <a:path w="10" h="9">
                <a:moveTo>
                  <a:pt x="0" y="5"/>
                </a:moveTo>
                <a:lnTo>
                  <a:pt x="4" y="9"/>
                </a:lnTo>
                <a:lnTo>
                  <a:pt x="10" y="0"/>
                </a:lnTo>
              </a:path>
            </a:pathLst>
          </a:custGeom>
          <a:noFill/>
          <a:ln w="17780">
            <a:solidFill>
              <a:srgbClr val="1DA6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815" name="TextBox 814"/>
          <p:cNvSpPr txBox="1"/>
          <p:nvPr/>
        </p:nvSpPr>
        <p:spPr>
          <a:xfrm>
            <a:off x="17627600" y="9893300"/>
            <a:ext cx="3429000" cy="2286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1010"/>
                </a:solidFill>
                <a:latin typeface="Arial"/>
              </a:rPr>
              <a:t>end-to-end differentiable and trainable</a:t>
            </a:r>
          </a:p>
        </p:txBody>
      </p:sp>
      <p:sp>
        <p:nvSpPr>
          <p:cNvPr id="816" name="TextBox 815"/>
          <p:cNvSpPr txBox="1"/>
          <p:nvPr/>
        </p:nvSpPr>
        <p:spPr>
          <a:xfrm>
            <a:off x="304800" y="10769600"/>
            <a:ext cx="1333500" cy="2032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62B68"/>
                </a:solidFill>
                <a:latin typeface="Arial"/>
              </a:rPr>
              <a:t>Data flow legend:</a:t>
            </a:r>
          </a:p>
        </p:txBody>
      </p:sp>
      <p:cxnSp>
        <p:nvCxnSpPr>
          <p:cNvPr id="817" name="Connector 816"/>
          <p:cNvCxnSpPr/>
          <p:nvPr/>
        </p:nvCxnSpPr>
        <p:spPr>
          <a:xfrm>
            <a:off x="1676400" y="10845800"/>
            <a:ext cx="469900" cy="0"/>
          </a:xfrm>
          <a:prstGeom prst="line">
            <a:avLst/>
          </a:prstGeom>
          <a:ln w="1524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8" name="Freeform 817"/>
          <p:cNvSpPr/>
          <p:nvPr/>
        </p:nvSpPr>
        <p:spPr>
          <a:xfrm>
            <a:off x="2146300" y="108077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819" name="TextBox 818"/>
          <p:cNvSpPr txBox="1"/>
          <p:nvPr/>
        </p:nvSpPr>
        <p:spPr>
          <a:xfrm>
            <a:off x="2362200" y="10744200"/>
            <a:ext cx="1778000" cy="2032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01010"/>
                </a:solidFill>
                <a:latin typeface="Arial"/>
              </a:rPr>
              <a:t>Main computational flow</a:t>
            </a:r>
          </a:p>
        </p:txBody>
      </p:sp>
      <p:cxnSp>
        <p:nvCxnSpPr>
          <p:cNvPr id="820" name="Connector 819"/>
          <p:cNvCxnSpPr/>
          <p:nvPr/>
        </p:nvCxnSpPr>
        <p:spPr>
          <a:xfrm>
            <a:off x="4254500" y="10845800"/>
            <a:ext cx="546100" cy="0"/>
          </a:xfrm>
          <a:prstGeom prst="line">
            <a:avLst/>
          </a:prstGeom>
          <a:ln w="15240">
            <a:solidFill>
              <a:srgbClr val="10101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1" name="Connector 820"/>
          <p:cNvCxnSpPr/>
          <p:nvPr/>
        </p:nvCxnSpPr>
        <p:spPr>
          <a:xfrm>
            <a:off x="4800600" y="10845800"/>
            <a:ext cx="63500" cy="0"/>
          </a:xfrm>
          <a:prstGeom prst="line">
            <a:avLst/>
          </a:prstGeom>
          <a:ln w="15240">
            <a:solidFill>
              <a:srgbClr val="101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2" name="Freeform 821"/>
          <p:cNvSpPr/>
          <p:nvPr/>
        </p:nvSpPr>
        <p:spPr>
          <a:xfrm>
            <a:off x="4864100" y="10807700"/>
            <a:ext cx="88900" cy="76200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6"/>
                </a:lnTo>
                <a:lnTo>
                  <a:pt x="0" y="0"/>
                </a:lnTo>
                <a:close/>
              </a:path>
            </a:pathLst>
          </a:custGeom>
          <a:solidFill>
            <a:srgbClr val="101010"/>
          </a:solidFill>
          <a:ln w="63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823" name="TextBox 822"/>
          <p:cNvSpPr txBox="1"/>
          <p:nvPr/>
        </p:nvSpPr>
        <p:spPr>
          <a:xfrm>
            <a:off x="5080000" y="10744200"/>
            <a:ext cx="1587500" cy="2032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01010"/>
                </a:solidFill>
                <a:latin typeface="Arial"/>
              </a:rPr>
              <a:t>SQI information flow</a:t>
            </a:r>
          </a:p>
        </p:txBody>
      </p:sp>
      <p:sp>
        <p:nvSpPr>
          <p:cNvPr id="824" name="Rectangle 823"/>
          <p:cNvSpPr/>
          <p:nvPr/>
        </p:nvSpPr>
        <p:spPr>
          <a:xfrm>
            <a:off x="6908800" y="10744200"/>
            <a:ext cx="190500" cy="1651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825" name="Rectangle 824"/>
          <p:cNvSpPr/>
          <p:nvPr/>
        </p:nvSpPr>
        <p:spPr>
          <a:xfrm>
            <a:off x="7124700" y="10744200"/>
            <a:ext cx="190500" cy="1651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826" name="Rectangle 825"/>
          <p:cNvSpPr/>
          <p:nvPr/>
        </p:nvSpPr>
        <p:spPr>
          <a:xfrm>
            <a:off x="7340600" y="10744200"/>
            <a:ext cx="190500" cy="1651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827" name="Rectangle 826"/>
          <p:cNvSpPr/>
          <p:nvPr/>
        </p:nvSpPr>
        <p:spPr>
          <a:xfrm>
            <a:off x="7556500" y="10744200"/>
            <a:ext cx="190500" cy="1651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828" name="Rectangle 827"/>
          <p:cNvSpPr/>
          <p:nvPr/>
        </p:nvSpPr>
        <p:spPr>
          <a:xfrm>
            <a:off x="7772400" y="10744200"/>
            <a:ext cx="190500" cy="165100"/>
          </a:xfrm>
          <a:prstGeom prst="rect">
            <a:avLst/>
          </a:prstGeom>
          <a:solidFill>
            <a:srgbClr val="B9DDAE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829" name="TextBox 828"/>
          <p:cNvSpPr txBox="1"/>
          <p:nvPr/>
        </p:nvSpPr>
        <p:spPr>
          <a:xfrm>
            <a:off x="8153400" y="10744200"/>
            <a:ext cx="1714500" cy="2032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01010"/>
                </a:solidFill>
                <a:latin typeface="Arial"/>
              </a:rPr>
              <a:t>ECG tokens / features</a:t>
            </a:r>
          </a:p>
        </p:txBody>
      </p:sp>
      <p:sp>
        <p:nvSpPr>
          <p:cNvPr id="830" name="Rectangle 829"/>
          <p:cNvSpPr/>
          <p:nvPr/>
        </p:nvSpPr>
        <p:spPr>
          <a:xfrm>
            <a:off x="9664700" y="10744200"/>
            <a:ext cx="190500" cy="165100"/>
          </a:xfrm>
          <a:prstGeom prst="rect">
            <a:avLst/>
          </a:prstGeom>
          <a:solidFill>
            <a:srgbClr val="F5837D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831" name="Rectangle 830"/>
          <p:cNvSpPr/>
          <p:nvPr/>
        </p:nvSpPr>
        <p:spPr>
          <a:xfrm>
            <a:off x="9880600" y="10744200"/>
            <a:ext cx="190500" cy="165100"/>
          </a:xfrm>
          <a:prstGeom prst="rect">
            <a:avLst/>
          </a:prstGeom>
          <a:solidFill>
            <a:srgbClr val="F5837D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832" name="Rectangle 831"/>
          <p:cNvSpPr/>
          <p:nvPr/>
        </p:nvSpPr>
        <p:spPr>
          <a:xfrm>
            <a:off x="10096500" y="10744200"/>
            <a:ext cx="190500" cy="165100"/>
          </a:xfrm>
          <a:prstGeom prst="rect">
            <a:avLst/>
          </a:prstGeom>
          <a:solidFill>
            <a:srgbClr val="F5837D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833" name="Rectangle 832"/>
          <p:cNvSpPr/>
          <p:nvPr/>
        </p:nvSpPr>
        <p:spPr>
          <a:xfrm>
            <a:off x="10312400" y="10744200"/>
            <a:ext cx="190500" cy="165100"/>
          </a:xfrm>
          <a:prstGeom prst="rect">
            <a:avLst/>
          </a:prstGeom>
          <a:solidFill>
            <a:srgbClr val="F5837D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834" name="Rectangle 833"/>
          <p:cNvSpPr/>
          <p:nvPr/>
        </p:nvSpPr>
        <p:spPr>
          <a:xfrm>
            <a:off x="10528300" y="10744200"/>
            <a:ext cx="190500" cy="165100"/>
          </a:xfrm>
          <a:prstGeom prst="rect">
            <a:avLst/>
          </a:prstGeom>
          <a:solidFill>
            <a:srgbClr val="F5837D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835" name="TextBox 834"/>
          <p:cNvSpPr txBox="1"/>
          <p:nvPr/>
        </p:nvSpPr>
        <p:spPr>
          <a:xfrm>
            <a:off x="10896600" y="10744200"/>
            <a:ext cx="1714500" cy="2032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01010"/>
                </a:solidFill>
                <a:latin typeface="Arial"/>
              </a:rPr>
              <a:t>PPG tokens / features</a:t>
            </a:r>
          </a:p>
        </p:txBody>
      </p:sp>
      <p:sp>
        <p:nvSpPr>
          <p:cNvPr id="836" name="Rectangle 835"/>
          <p:cNvSpPr/>
          <p:nvPr/>
        </p:nvSpPr>
        <p:spPr>
          <a:xfrm>
            <a:off x="12890500" y="10744200"/>
            <a:ext cx="190500" cy="165100"/>
          </a:xfrm>
          <a:prstGeom prst="rect">
            <a:avLst/>
          </a:prstGeom>
          <a:solidFill>
            <a:srgbClr val="B694D8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837" name="Rectangle 836"/>
          <p:cNvSpPr/>
          <p:nvPr/>
        </p:nvSpPr>
        <p:spPr>
          <a:xfrm>
            <a:off x="13106400" y="10744200"/>
            <a:ext cx="190500" cy="165100"/>
          </a:xfrm>
          <a:prstGeom prst="rect">
            <a:avLst/>
          </a:prstGeom>
          <a:solidFill>
            <a:srgbClr val="B694D8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838" name="Rectangle 837"/>
          <p:cNvSpPr/>
          <p:nvPr/>
        </p:nvSpPr>
        <p:spPr>
          <a:xfrm>
            <a:off x="13322300" y="10744200"/>
            <a:ext cx="190500" cy="165100"/>
          </a:xfrm>
          <a:prstGeom prst="rect">
            <a:avLst/>
          </a:prstGeom>
          <a:solidFill>
            <a:srgbClr val="B694D8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839" name="Rectangle 838"/>
          <p:cNvSpPr/>
          <p:nvPr/>
        </p:nvSpPr>
        <p:spPr>
          <a:xfrm>
            <a:off x="13538200" y="10744200"/>
            <a:ext cx="190500" cy="165100"/>
          </a:xfrm>
          <a:prstGeom prst="rect">
            <a:avLst/>
          </a:prstGeom>
          <a:solidFill>
            <a:srgbClr val="B694D8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840" name="Rectangle 839"/>
          <p:cNvSpPr/>
          <p:nvPr/>
        </p:nvSpPr>
        <p:spPr>
          <a:xfrm>
            <a:off x="13754100" y="10744200"/>
            <a:ext cx="190500" cy="165100"/>
          </a:xfrm>
          <a:prstGeom prst="rect">
            <a:avLst/>
          </a:prstGeom>
          <a:solidFill>
            <a:srgbClr val="B694D8"/>
          </a:solidFill>
          <a:ln w="7620">
            <a:solidFill>
              <a:srgbClr val="9A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841" name="TextBox 840"/>
          <p:cNvSpPr txBox="1"/>
          <p:nvPr/>
        </p:nvSpPr>
        <p:spPr>
          <a:xfrm>
            <a:off x="14135100" y="10744200"/>
            <a:ext cx="1714500" cy="203200"/>
          </a:xfrm>
          <a:prstGeom prst="rect">
            <a:avLst/>
          </a:prstGeom>
          <a:noFill/>
          <a:effectLst/>
        </p:spPr>
        <p:txBody>
          <a:bodyPr wrap="none" lIns="12700" rIns="12700" tIns="6350" bIns="635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01010"/>
                </a:solidFill>
                <a:latin typeface="Arial"/>
              </a:rPr>
              <a:t>Fused tokens / features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