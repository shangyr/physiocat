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640800" cy="117221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640800" cy="117221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8900" y="101600"/>
            <a:ext cx="4191000" cy="584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B9C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8900" y="101600"/>
            <a:ext cx="4191000" cy="393700"/>
          </a:xfrm>
          <a:prstGeom prst="rect">
            <a:avLst/>
          </a:prstGeom>
          <a:solidFill>
            <a:srgbClr val="062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7000" y="127000"/>
            <a:ext cx="4114800" cy="3429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A. Physiological Timing Prior &amp; Study Design</a:t>
            </a:r>
          </a:p>
        </p:txBody>
      </p:sp>
      <p:sp>
        <p:nvSpPr>
          <p:cNvPr id="937" name="HumanDetail_01"/>
          <p:cNvSpPr/>
          <p:nvPr/>
        </p:nvSpPr>
        <p:spPr>
          <a:xfrm>
            <a:off x="342900" y="876300"/>
            <a:ext cx="457200" cy="965200"/>
          </a:xfrm>
          <a:custGeom>
            <a:avLst/>
            <a:gdLst/>
            <a:ahLst/>
            <a:cxnLst/>
            <a:rect l="l" t="t" r="r" b="b"/>
            <a:pathLst>
              <a:path w="36" h="76">
                <a:moveTo>
                  <a:pt x="3" y="76"/>
                </a:moveTo>
                <a:lnTo>
                  <a:pt x="0" y="73"/>
                </a:lnTo>
                <a:lnTo>
                  <a:pt x="0" y="69"/>
                </a:lnTo>
                <a:lnTo>
                  <a:pt x="1" y="63"/>
                </a:lnTo>
                <a:lnTo>
                  <a:pt x="1" y="53"/>
                </a:lnTo>
                <a:lnTo>
                  <a:pt x="3" y="45"/>
                </a:lnTo>
                <a:lnTo>
                  <a:pt x="4" y="29"/>
                </a:lnTo>
                <a:lnTo>
                  <a:pt x="7" y="24"/>
                </a:lnTo>
                <a:lnTo>
                  <a:pt x="12" y="22"/>
                </a:lnTo>
                <a:lnTo>
                  <a:pt x="16" y="19"/>
                </a:lnTo>
                <a:lnTo>
                  <a:pt x="16" y="16"/>
                </a:lnTo>
                <a:lnTo>
                  <a:pt x="15" y="13"/>
                </a:lnTo>
                <a:lnTo>
                  <a:pt x="14" y="11"/>
                </a:lnTo>
                <a:lnTo>
                  <a:pt x="14" y="9"/>
                </a:lnTo>
                <a:lnTo>
                  <a:pt x="14" y="5"/>
                </a:lnTo>
                <a:lnTo>
                  <a:pt x="17" y="1"/>
                </a:lnTo>
                <a:lnTo>
                  <a:pt x="21" y="0"/>
                </a:lnTo>
                <a:lnTo>
                  <a:pt x="24" y="3"/>
                </a:lnTo>
                <a:lnTo>
                  <a:pt x="26" y="11"/>
                </a:lnTo>
                <a:lnTo>
                  <a:pt x="24" y="15"/>
                </a:lnTo>
                <a:lnTo>
                  <a:pt x="23" y="18"/>
                </a:lnTo>
                <a:lnTo>
                  <a:pt x="25" y="20"/>
                </a:lnTo>
                <a:lnTo>
                  <a:pt x="32" y="23"/>
                </a:lnTo>
                <a:lnTo>
                  <a:pt x="34" y="26"/>
                </a:lnTo>
                <a:lnTo>
                  <a:pt x="35" y="29"/>
                </a:lnTo>
                <a:lnTo>
                  <a:pt x="35" y="36"/>
                </a:lnTo>
                <a:lnTo>
                  <a:pt x="36" y="41"/>
                </a:lnTo>
              </a:path>
            </a:pathLst>
          </a:custGeom>
          <a:noFill/>
          <a:ln w="12065">
            <a:solidFill>
              <a:srgbClr val="2D41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8" name="HumanDetail_02"/>
          <p:cNvSpPr/>
          <p:nvPr/>
        </p:nvSpPr>
        <p:spPr>
          <a:xfrm>
            <a:off x="444500" y="1409700"/>
            <a:ext cx="25400" cy="762000"/>
          </a:xfrm>
          <a:custGeom>
            <a:avLst/>
            <a:gdLst/>
            <a:ahLst/>
            <a:cxnLst/>
            <a:rect l="l" t="t" r="r" b="b"/>
            <a:pathLst>
              <a:path w="2" h="60">
                <a:moveTo>
                  <a:pt x="2" y="60"/>
                </a:moveTo>
                <a:lnTo>
                  <a:pt x="2" y="46"/>
                </a:lnTo>
                <a:lnTo>
                  <a:pt x="1" y="40"/>
                </a:lnTo>
                <a:lnTo>
                  <a:pt x="0" y="30"/>
                </a:lnTo>
                <a:lnTo>
                  <a:pt x="0" y="22"/>
                </a:lnTo>
                <a:lnTo>
                  <a:pt x="2" y="11"/>
                </a:lnTo>
                <a:lnTo>
                  <a:pt x="2" y="0"/>
                </a:lnTo>
              </a:path>
            </a:pathLst>
          </a:custGeom>
          <a:noFill/>
          <a:ln w="12065">
            <a:solidFill>
              <a:srgbClr val="2D41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9" name="HumanDetail_03"/>
          <p:cNvSpPr/>
          <p:nvPr/>
        </p:nvSpPr>
        <p:spPr>
          <a:xfrm>
            <a:off x="711200" y="1435100"/>
            <a:ext cx="25400" cy="723900"/>
          </a:xfrm>
          <a:custGeom>
            <a:avLst/>
            <a:gdLst/>
            <a:ahLst/>
            <a:cxnLst/>
            <a:rect l="l" t="t" r="r" b="b"/>
            <a:pathLst>
              <a:path w="2" h="57">
                <a:moveTo>
                  <a:pt x="1" y="57"/>
                </a:moveTo>
                <a:lnTo>
                  <a:pt x="0" y="46"/>
                </a:lnTo>
                <a:lnTo>
                  <a:pt x="2" y="32"/>
                </a:lnTo>
                <a:lnTo>
                  <a:pt x="2" y="23"/>
                </a:lnTo>
                <a:lnTo>
                  <a:pt x="0" y="8"/>
                </a:lnTo>
                <a:lnTo>
                  <a:pt x="0" y="0"/>
                </a:lnTo>
              </a:path>
            </a:pathLst>
          </a:custGeom>
          <a:noFill/>
          <a:ln w="12065">
            <a:solidFill>
              <a:srgbClr val="2D41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0" name="HumanDetail_04"/>
          <p:cNvSpPr/>
          <p:nvPr/>
        </p:nvSpPr>
        <p:spPr>
          <a:xfrm>
            <a:off x="596900" y="1803400"/>
            <a:ext cx="25400" cy="355600"/>
          </a:xfrm>
          <a:custGeom>
            <a:avLst/>
            <a:gdLst/>
            <a:ahLst/>
            <a:cxnLst/>
            <a:rect l="l" t="t" r="r" b="b"/>
            <a:pathLst>
              <a:path w="2" h="28">
                <a:moveTo>
                  <a:pt x="0" y="0"/>
                </a:moveTo>
                <a:lnTo>
                  <a:pt x="2" y="28"/>
                </a:lnTo>
              </a:path>
            </a:pathLst>
          </a:custGeom>
          <a:noFill/>
          <a:ln w="12065">
            <a:solidFill>
              <a:srgbClr val="2D41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1" name="HumanDetail_05"/>
          <p:cNvSpPr/>
          <p:nvPr/>
        </p:nvSpPr>
        <p:spPr>
          <a:xfrm>
            <a:off x="812800" y="1549400"/>
            <a:ext cx="25400" cy="292100"/>
          </a:xfrm>
          <a:custGeom>
            <a:avLst/>
            <a:gdLst/>
            <a:ahLst/>
            <a:cxnLst/>
            <a:rect l="l" t="t" r="r" b="b"/>
            <a:pathLst>
              <a:path w="2" h="23">
                <a:moveTo>
                  <a:pt x="1" y="0"/>
                </a:moveTo>
                <a:lnTo>
                  <a:pt x="2" y="20"/>
                </a:lnTo>
                <a:lnTo>
                  <a:pt x="0" y="23"/>
                </a:lnTo>
              </a:path>
            </a:pathLst>
          </a:custGeom>
          <a:noFill/>
          <a:ln w="12065">
            <a:solidFill>
              <a:srgbClr val="2D41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2" name="HumanDetail_06"/>
          <p:cNvSpPr/>
          <p:nvPr/>
        </p:nvSpPr>
        <p:spPr>
          <a:xfrm>
            <a:off x="381000" y="1562100"/>
            <a:ext cx="50800" cy="241300"/>
          </a:xfrm>
          <a:custGeom>
            <a:avLst/>
            <a:gdLst/>
            <a:ahLst/>
            <a:cxnLst/>
            <a:rect l="l" t="t" r="r" b="b"/>
            <a:pathLst>
              <a:path w="4" h="19">
                <a:moveTo>
                  <a:pt x="4" y="0"/>
                </a:moveTo>
                <a:lnTo>
                  <a:pt x="0" y="10"/>
                </a:lnTo>
                <a:lnTo>
                  <a:pt x="2" y="18"/>
                </a:lnTo>
                <a:lnTo>
                  <a:pt x="1" y="19"/>
                </a:lnTo>
              </a:path>
            </a:pathLst>
          </a:custGeom>
          <a:noFill/>
          <a:ln w="12065">
            <a:solidFill>
              <a:srgbClr val="2D41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3" name="HumanDetail_07"/>
          <p:cNvSpPr/>
          <p:nvPr/>
        </p:nvSpPr>
        <p:spPr>
          <a:xfrm>
            <a:off x="774700" y="1612900"/>
            <a:ext cx="25400" cy="190500"/>
          </a:xfrm>
          <a:custGeom>
            <a:avLst/>
            <a:gdLst/>
            <a:ahLst/>
            <a:cxnLst/>
            <a:rect l="l" t="t" r="r" b="b"/>
            <a:pathLst>
              <a:path w="2" h="15">
                <a:moveTo>
                  <a:pt x="0" y="0"/>
                </a:moveTo>
                <a:lnTo>
                  <a:pt x="2" y="6"/>
                </a:lnTo>
                <a:lnTo>
                  <a:pt x="1" y="11"/>
                </a:lnTo>
                <a:lnTo>
                  <a:pt x="1" y="15"/>
                </a:lnTo>
              </a:path>
            </a:pathLst>
          </a:custGeom>
          <a:noFill/>
          <a:ln w="12065">
            <a:solidFill>
              <a:srgbClr val="2D41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4" name="HumanDetail_08"/>
          <p:cNvSpPr/>
          <p:nvPr/>
        </p:nvSpPr>
        <p:spPr>
          <a:xfrm>
            <a:off x="546100" y="1308100"/>
            <a:ext cx="50800" cy="152400"/>
          </a:xfrm>
          <a:custGeom>
            <a:avLst/>
            <a:gdLst/>
            <a:ahLst/>
            <a:cxnLst/>
            <a:rect l="l" t="t" r="r" b="b"/>
            <a:pathLst>
              <a:path w="4" h="12">
                <a:moveTo>
                  <a:pt x="3" y="0"/>
                </a:moveTo>
                <a:lnTo>
                  <a:pt x="4" y="2"/>
                </a:lnTo>
                <a:lnTo>
                  <a:pt x="2" y="6"/>
                </a:lnTo>
                <a:lnTo>
                  <a:pt x="2" y="8"/>
                </a:lnTo>
                <a:lnTo>
                  <a:pt x="0" y="9"/>
                </a:lnTo>
                <a:lnTo>
                  <a:pt x="0" y="12"/>
                </a:lnTo>
              </a:path>
            </a:pathLst>
          </a:custGeom>
          <a:noFill/>
          <a:ln w="12065">
            <a:solidFill>
              <a:srgbClr val="2D41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5" name="HumanDetail_09"/>
          <p:cNvSpPr/>
          <p:nvPr/>
        </p:nvSpPr>
        <p:spPr>
          <a:xfrm>
            <a:off x="838200" y="1447800"/>
            <a:ext cx="114300" cy="63500"/>
          </a:xfrm>
          <a:custGeom>
            <a:avLst/>
            <a:gdLst/>
            <a:ahLst/>
            <a:cxnLst/>
            <a:rect l="l" t="t" r="r" b="b"/>
            <a:pathLst>
              <a:path w="9" h="5">
                <a:moveTo>
                  <a:pt x="9" y="5"/>
                </a:moveTo>
                <a:lnTo>
                  <a:pt x="0" y="0"/>
                </a:lnTo>
              </a:path>
            </a:pathLst>
          </a:custGeom>
          <a:noFill/>
          <a:ln w="12065">
            <a:solidFill>
              <a:srgbClr val="2D41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6" name="HumanDetail_10"/>
          <p:cNvSpPr/>
          <p:nvPr/>
        </p:nvSpPr>
        <p:spPr>
          <a:xfrm>
            <a:off x="838200" y="1549400"/>
            <a:ext cx="101600" cy="88900"/>
          </a:xfrm>
          <a:custGeom>
            <a:avLst/>
            <a:gdLst/>
            <a:ahLst/>
            <a:cxnLst/>
            <a:rect l="l" t="t" r="r" b="b"/>
            <a:pathLst>
              <a:path w="8" h="7">
                <a:moveTo>
                  <a:pt x="8" y="7"/>
                </a:moveTo>
                <a:lnTo>
                  <a:pt x="7" y="7"/>
                </a:lnTo>
                <a:lnTo>
                  <a:pt x="0" y="0"/>
                </a:lnTo>
              </a:path>
            </a:pathLst>
          </a:custGeom>
          <a:noFill/>
          <a:ln w="12065">
            <a:solidFill>
              <a:srgbClr val="2D41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7" name="HumanDetail_11"/>
          <p:cNvSpPr/>
          <p:nvPr/>
        </p:nvSpPr>
        <p:spPr>
          <a:xfrm>
            <a:off x="977900" y="1257300"/>
            <a:ext cx="0" cy="101600"/>
          </a:xfrm>
          <a:custGeom>
            <a:avLst/>
            <a:gdLst/>
            <a:ahLst/>
            <a:cxnLst/>
            <a:rect l="l" t="t" r="r" b="b"/>
            <a:pathLst>
              <a:path w="0" h="8">
                <a:moveTo>
                  <a:pt x="0" y="0"/>
                </a:moveTo>
                <a:lnTo>
                  <a:pt x="0" y="8"/>
                </a:lnTo>
              </a:path>
            </a:pathLst>
          </a:custGeom>
          <a:noFill/>
          <a:ln w="12065">
            <a:solidFill>
              <a:srgbClr val="2D41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8" name="HumanDetail_12"/>
          <p:cNvSpPr/>
          <p:nvPr/>
        </p:nvSpPr>
        <p:spPr>
          <a:xfrm>
            <a:off x="977900" y="1765300"/>
            <a:ext cx="0" cy="88900"/>
          </a:xfrm>
          <a:custGeom>
            <a:avLst/>
            <a:gdLst/>
            <a:ahLst/>
            <a:cxnLst/>
            <a:rect l="l" t="t" r="r" b="b"/>
            <a:pathLst>
              <a:path w="0" h="7">
                <a:moveTo>
                  <a:pt x="0" y="0"/>
                </a:moveTo>
                <a:lnTo>
                  <a:pt x="0" y="7"/>
                </a:lnTo>
              </a:path>
            </a:pathLst>
          </a:custGeom>
          <a:noFill/>
          <a:ln w="12065">
            <a:solidFill>
              <a:srgbClr val="2D41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9" name="HumanDetail_13"/>
          <p:cNvSpPr/>
          <p:nvPr/>
        </p:nvSpPr>
        <p:spPr>
          <a:xfrm>
            <a:off x="812800" y="1447800"/>
            <a:ext cx="12700" cy="88900"/>
          </a:xfrm>
          <a:custGeom>
            <a:avLst/>
            <a:gdLst/>
            <a:ahLst/>
            <a:cxnLst/>
            <a:rect l="l" t="t" r="r" b="b"/>
            <a:pathLst>
              <a:path w="1" h="7">
                <a:moveTo>
                  <a:pt x="0" y="0"/>
                </a:moveTo>
                <a:lnTo>
                  <a:pt x="1" y="7"/>
                </a:lnTo>
              </a:path>
            </a:pathLst>
          </a:custGeom>
          <a:noFill/>
          <a:ln w="12065">
            <a:solidFill>
              <a:srgbClr val="2D41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0" name="HumanDetail_14"/>
          <p:cNvSpPr/>
          <p:nvPr/>
        </p:nvSpPr>
        <p:spPr>
          <a:xfrm>
            <a:off x="977900" y="1536700"/>
            <a:ext cx="0" cy="63500"/>
          </a:xfrm>
          <a:custGeom>
            <a:avLst/>
            <a:gdLst/>
            <a:ahLst/>
            <a:cxnLst/>
            <a:rect l="l" t="t" r="r" b="b"/>
            <a:pathLst>
              <a:path w="0" h="5">
                <a:moveTo>
                  <a:pt x="0" y="5"/>
                </a:moveTo>
                <a:lnTo>
                  <a:pt x="0" y="0"/>
                </a:lnTo>
              </a:path>
            </a:pathLst>
          </a:custGeom>
          <a:noFill/>
          <a:ln w="12065">
            <a:solidFill>
              <a:srgbClr val="2D41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1" name="HumanDetail_15"/>
          <p:cNvSpPr/>
          <p:nvPr/>
        </p:nvSpPr>
        <p:spPr>
          <a:xfrm>
            <a:off x="622300" y="1346200"/>
            <a:ext cx="25400" cy="63500"/>
          </a:xfrm>
          <a:custGeom>
            <a:avLst/>
            <a:gdLst/>
            <a:ahLst/>
            <a:cxnLst/>
            <a:rect l="l" t="t" r="r" b="b"/>
            <a:pathLst>
              <a:path w="2" h="5">
                <a:moveTo>
                  <a:pt x="2" y="5"/>
                </a:moveTo>
                <a:lnTo>
                  <a:pt x="1" y="1"/>
                </a:lnTo>
                <a:lnTo>
                  <a:pt x="0" y="0"/>
                </a:lnTo>
              </a:path>
            </a:pathLst>
          </a:custGeom>
          <a:noFill/>
          <a:ln w="12065">
            <a:solidFill>
              <a:srgbClr val="2D41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2" name="HumanDetail_16"/>
          <p:cNvSpPr/>
          <p:nvPr/>
        </p:nvSpPr>
        <p:spPr>
          <a:xfrm>
            <a:off x="800100" y="1778000"/>
            <a:ext cx="12700" cy="50800"/>
          </a:xfrm>
          <a:custGeom>
            <a:avLst/>
            <a:gdLst/>
            <a:ahLst/>
            <a:cxnLst/>
            <a:rect l="l" t="t" r="r" b="b"/>
            <a:pathLst>
              <a:path w="1" h="4">
                <a:moveTo>
                  <a:pt x="1" y="4"/>
                </a:moveTo>
                <a:lnTo>
                  <a:pt x="0" y="0"/>
                </a:lnTo>
              </a:path>
            </a:pathLst>
          </a:custGeom>
          <a:noFill/>
          <a:ln w="12065">
            <a:solidFill>
              <a:srgbClr val="2D41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3" name="HumanDetail_17"/>
          <p:cNvSpPr/>
          <p:nvPr/>
        </p:nvSpPr>
        <p:spPr>
          <a:xfrm>
            <a:off x="914400" y="13462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3" y="0"/>
                </a:moveTo>
                <a:lnTo>
                  <a:pt x="0" y="1"/>
                </a:lnTo>
              </a:path>
            </a:pathLst>
          </a:custGeom>
          <a:noFill/>
          <a:ln w="12065">
            <a:solidFill>
              <a:srgbClr val="2D41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4" name="HumanDetail_18"/>
          <p:cNvSpPr/>
          <p:nvPr/>
        </p:nvSpPr>
        <p:spPr>
          <a:xfrm>
            <a:off x="812800" y="1397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3" y="0"/>
                </a:moveTo>
                <a:lnTo>
                  <a:pt x="0" y="1"/>
                </a:lnTo>
              </a:path>
            </a:pathLst>
          </a:custGeom>
          <a:noFill/>
          <a:ln w="12065">
            <a:solidFill>
              <a:srgbClr val="2D41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5" name="HumanDetail_19"/>
          <p:cNvSpPr/>
          <p:nvPr/>
        </p:nvSpPr>
        <p:spPr>
          <a:xfrm>
            <a:off x="381000" y="1803400"/>
            <a:ext cx="0" cy="38100"/>
          </a:xfrm>
          <a:custGeom>
            <a:avLst/>
            <a:gdLst/>
            <a:ahLst/>
            <a:cxnLst/>
            <a:rect l="l" t="t" r="r" b="b"/>
            <a:pathLst>
              <a:path w="0" h="3">
                <a:moveTo>
                  <a:pt x="0" y="0"/>
                </a:moveTo>
                <a:lnTo>
                  <a:pt x="0" y="3"/>
                </a:lnTo>
              </a:path>
            </a:pathLst>
          </a:custGeom>
          <a:noFill/>
          <a:ln w="12065">
            <a:solidFill>
              <a:srgbClr val="2D41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6" name="HumanDetail_20"/>
          <p:cNvSpPr/>
          <p:nvPr/>
        </p:nvSpPr>
        <p:spPr>
          <a:xfrm>
            <a:off x="711200" y="1384300"/>
            <a:ext cx="12700" cy="38100"/>
          </a:xfrm>
          <a:custGeom>
            <a:avLst/>
            <a:gdLst/>
            <a:ahLst/>
            <a:cxnLst/>
            <a:rect l="l" t="t" r="r" b="b"/>
            <a:pathLst>
              <a:path w="1" h="3">
                <a:moveTo>
                  <a:pt x="1" y="0"/>
                </a:moveTo>
                <a:lnTo>
                  <a:pt x="0" y="3"/>
                </a:lnTo>
              </a:path>
            </a:pathLst>
          </a:custGeom>
          <a:noFill/>
          <a:ln w="12065">
            <a:solidFill>
              <a:srgbClr val="2D41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7" name="HumanDetail_21"/>
          <p:cNvSpPr/>
          <p:nvPr/>
        </p:nvSpPr>
        <p:spPr>
          <a:xfrm>
            <a:off x="558800" y="1244600"/>
            <a:ext cx="0" cy="25400"/>
          </a:xfrm>
          <a:custGeom>
            <a:avLst/>
            <a:gdLst/>
            <a:ahLst/>
            <a:cxnLst/>
            <a:rect l="l" t="t" r="r" b="b"/>
            <a:pathLst>
              <a:path w="0" h="2">
                <a:moveTo>
                  <a:pt x="0" y="2"/>
                </a:moveTo>
                <a:lnTo>
                  <a:pt x="0" y="0"/>
                </a:lnTo>
              </a:path>
            </a:pathLst>
          </a:custGeom>
          <a:noFill/>
          <a:ln w="12065">
            <a:solidFill>
              <a:srgbClr val="2D41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8" name="HumanDetail_22"/>
          <p:cNvSpPr/>
          <p:nvPr/>
        </p:nvSpPr>
        <p:spPr>
          <a:xfrm>
            <a:off x="876300" y="1371600"/>
            <a:ext cx="25400" cy="12700"/>
          </a:xfrm>
          <a:custGeom>
            <a:avLst/>
            <a:gdLst/>
            <a:ahLst/>
            <a:cxnLst/>
            <a:rect l="l" t="t" r="r" b="b"/>
            <a:pathLst>
              <a:path w="2" h="1">
                <a:moveTo>
                  <a:pt x="0" y="1"/>
                </a:moveTo>
                <a:lnTo>
                  <a:pt x="2" y="0"/>
                </a:lnTo>
              </a:path>
            </a:pathLst>
          </a:custGeom>
          <a:noFill/>
          <a:ln w="12065">
            <a:solidFill>
              <a:srgbClr val="2D41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9" name="HumanDetail_23"/>
          <p:cNvSpPr/>
          <p:nvPr/>
        </p:nvSpPr>
        <p:spPr>
          <a:xfrm>
            <a:off x="762000" y="1422400"/>
            <a:ext cx="12700" cy="0"/>
          </a:xfrm>
          <a:custGeom>
            <a:avLst/>
            <a:gdLst/>
            <a:ahLst/>
            <a:cxnLst/>
            <a:rect l="l" t="t" r="r" b="b"/>
            <a:pathLst>
              <a:path w="1" h="0">
                <a:moveTo>
                  <a:pt x="0" y="0"/>
                </a:moveTo>
                <a:lnTo>
                  <a:pt x="1" y="0"/>
                </a:lnTo>
              </a:path>
            </a:pathLst>
          </a:custGeom>
          <a:noFill/>
          <a:ln w="12065">
            <a:solidFill>
              <a:srgbClr val="2D41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0" name="HumanDetail_24"/>
          <p:cNvSpPr/>
          <p:nvPr/>
        </p:nvSpPr>
        <p:spPr>
          <a:xfrm>
            <a:off x="381000" y="1841500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">
                <a:moveTo>
                  <a:pt x="0" y="0"/>
                </a:moveTo>
                <a:lnTo>
                  <a:pt x="0" y="1"/>
                </a:lnTo>
                <a:lnTo>
                  <a:pt x="0" y="0"/>
                </a:lnTo>
              </a:path>
            </a:pathLst>
          </a:custGeom>
          <a:noFill/>
          <a:ln w="12065">
            <a:solidFill>
              <a:srgbClr val="2D41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1" name="HumanDetail_25"/>
          <p:cNvSpPr/>
          <p:nvPr/>
        </p:nvSpPr>
        <p:spPr>
          <a:xfrm>
            <a:off x="787400" y="1435100"/>
            <a:ext cx="12700" cy="0"/>
          </a:xfrm>
          <a:custGeom>
            <a:avLst/>
            <a:gdLst/>
            <a:ahLst/>
            <a:cxnLst/>
            <a:rect l="l" t="t" r="r" b="b"/>
            <a:pathLst>
              <a:path w="1" h="0">
                <a:moveTo>
                  <a:pt x="1" y="0"/>
                </a:moveTo>
                <a:lnTo>
                  <a:pt x="0" y="0"/>
                </a:lnTo>
              </a:path>
            </a:pathLst>
          </a:custGeom>
          <a:noFill/>
          <a:ln w="12065">
            <a:solidFill>
              <a:srgbClr val="2D41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2" name="HumanDetail_26"/>
          <p:cNvSpPr/>
          <p:nvPr/>
        </p:nvSpPr>
        <p:spPr>
          <a:xfrm>
            <a:off x="800100" y="1841500"/>
            <a:ext cx="12700" cy="0"/>
          </a:xfrm>
          <a:custGeom>
            <a:avLst/>
            <a:gdLst/>
            <a:ahLst/>
            <a:cxnLst/>
            <a:rect l="l" t="t" r="r" b="b"/>
            <a:pathLst>
              <a:path w="1" h="0">
                <a:moveTo>
                  <a:pt x="0" y="0"/>
                </a:moveTo>
                <a:lnTo>
                  <a:pt x="0" y="0"/>
                </a:lnTo>
                <a:lnTo>
                  <a:pt x="1" y="0"/>
                </a:lnTo>
              </a:path>
            </a:pathLst>
          </a:custGeom>
          <a:noFill/>
          <a:ln w="12065">
            <a:solidFill>
              <a:srgbClr val="2D41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3" name="HumanDetail_27"/>
          <p:cNvSpPr/>
          <p:nvPr/>
        </p:nvSpPr>
        <p:spPr>
          <a:xfrm>
            <a:off x="685800" y="1422400"/>
            <a:ext cx="25400" cy="0"/>
          </a:xfrm>
          <a:custGeom>
            <a:avLst/>
            <a:gdLst/>
            <a:ahLst/>
            <a:cxnLst/>
            <a:rect l="l" t="t" r="r" b="b"/>
            <a:pathLst>
              <a:path w="2" h="0">
                <a:moveTo>
                  <a:pt x="0" y="0"/>
                </a:moveTo>
                <a:lnTo>
                  <a:pt x="2" y="0"/>
                </a:lnTo>
              </a:path>
            </a:pathLst>
          </a:custGeom>
          <a:noFill/>
          <a:ln w="12065">
            <a:solidFill>
              <a:srgbClr val="2D41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5900" y="2298700"/>
            <a:ext cx="939800" cy="1651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ctr"/>
            <a:r>
              <a:rPr sz="837" b="1" i="0">
                <a:solidFill>
                  <a:srgbClr val="062B68"/>
                </a:solidFill>
                <a:latin typeface="Arial"/>
              </a:rPr>
              <a:t>ECG + PPG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17600" y="635000"/>
            <a:ext cx="2946400" cy="2565400"/>
          </a:xfrm>
          <a:prstGeom prst="roundRect">
            <a:avLst>
              <a:gd name="adj" fmla="val 8000"/>
            </a:avLst>
          </a:prstGeom>
          <a:solidFill>
            <a:srgbClr val="F8FBFF"/>
          </a:solidFill>
          <a:ln w="12065">
            <a:solidFill>
              <a:srgbClr val="B7C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93800" y="711200"/>
            <a:ext cx="2794000" cy="2159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ctr"/>
            <a:r>
              <a:rPr sz="975" b="1" i="0">
                <a:solidFill>
                  <a:srgbClr val="062B68"/>
                </a:solidFill>
                <a:latin typeface="Arial"/>
              </a:rPr>
              <a:t>ECG leads peripheral PPG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32907" y="1041400"/>
            <a:ext cx="1399494" cy="1270000"/>
          </a:xfrm>
          <a:prstGeom prst="rect">
            <a:avLst/>
          </a:prstGeom>
          <a:solidFill>
            <a:srgbClr val="DFF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2032907" y="1041400"/>
            <a:ext cx="0" cy="1270000"/>
          </a:xfrm>
          <a:prstGeom prst="line">
            <a:avLst/>
          </a:prstGeom>
          <a:ln w="10160">
            <a:solidFill>
              <a:srgbClr val="007A32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432401" y="1041400"/>
            <a:ext cx="0" cy="1270000"/>
          </a:xfrm>
          <a:prstGeom prst="line">
            <a:avLst/>
          </a:prstGeom>
          <a:ln w="10160">
            <a:solidFill>
              <a:srgbClr val="007A32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058307" y="1054100"/>
            <a:ext cx="1348694" cy="3556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ctr"/>
            <a:r>
              <a:rPr sz="768" b="1" i="0">
                <a:solidFill>
                  <a:srgbClr val="007A32"/>
                </a:solidFill>
                <a:latin typeface="Arial"/>
              </a:rPr>
              <a:t>120–450 ms</a:t>
            </a:r>
          </a:p>
          <a:p>
            <a:pPr algn="ctr"/>
            <a:r>
              <a:rPr sz="768" b="1" i="0">
                <a:solidFill>
                  <a:srgbClr val="007A32"/>
                </a:solidFill>
                <a:latin typeface="Arial"/>
              </a:rPr>
              <a:t>literature envelope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8400" y="1397000"/>
            <a:ext cx="330200" cy="1778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r"/>
            <a:r>
              <a:rPr sz="862" b="1" i="0">
                <a:solidFill>
                  <a:srgbClr val="2D6CDF"/>
                </a:solidFill>
                <a:latin typeface="Arial"/>
              </a:rPr>
              <a:t>ECG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68400" y="1993900"/>
            <a:ext cx="330200" cy="1778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r"/>
            <a:r>
              <a:rPr sz="862" b="1" i="0">
                <a:solidFill>
                  <a:srgbClr val="D82020"/>
                </a:solidFill>
                <a:latin typeface="Arial"/>
              </a:rPr>
              <a:t>PPG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422400" y="1549400"/>
            <a:ext cx="2540000" cy="0"/>
          </a:xfrm>
          <a:prstGeom prst="line">
            <a:avLst/>
          </a:prstGeom>
          <a:ln w="6985">
            <a:solidFill>
              <a:srgbClr val="D5DE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422400" y="2146300"/>
            <a:ext cx="2540000" cy="0"/>
          </a:xfrm>
          <a:prstGeom prst="line">
            <a:avLst/>
          </a:prstGeom>
          <a:ln w="6985">
            <a:solidFill>
              <a:srgbClr val="D5DE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Freeform 19"/>
          <p:cNvSpPr/>
          <p:nvPr/>
        </p:nvSpPr>
        <p:spPr>
          <a:xfrm>
            <a:off x="1079500" y="1143000"/>
            <a:ext cx="2654300" cy="584200"/>
          </a:xfrm>
          <a:custGeom>
            <a:avLst/>
            <a:gdLst/>
            <a:ahLst/>
            <a:cxnLst/>
            <a:rect l="l" t="t" r="r" b="b"/>
            <a:pathLst>
              <a:path w="209" h="46">
                <a:moveTo>
                  <a:pt x="0" y="32"/>
                </a:moveTo>
                <a:lnTo>
                  <a:pt x="13" y="32"/>
                </a:lnTo>
                <a:lnTo>
                  <a:pt x="19" y="28"/>
                </a:lnTo>
                <a:lnTo>
                  <a:pt x="24" y="34"/>
                </a:lnTo>
                <a:lnTo>
                  <a:pt x="30" y="32"/>
                </a:lnTo>
                <a:lnTo>
                  <a:pt x="34" y="32"/>
                </a:lnTo>
                <a:lnTo>
                  <a:pt x="35" y="0"/>
                </a:lnTo>
                <a:lnTo>
                  <a:pt x="36" y="46"/>
                </a:lnTo>
                <a:lnTo>
                  <a:pt x="38" y="34"/>
                </a:lnTo>
                <a:lnTo>
                  <a:pt x="42" y="32"/>
                </a:lnTo>
                <a:lnTo>
                  <a:pt x="47" y="28"/>
                </a:lnTo>
                <a:lnTo>
                  <a:pt x="53" y="24"/>
                </a:lnTo>
                <a:lnTo>
                  <a:pt x="61" y="32"/>
                </a:lnTo>
                <a:lnTo>
                  <a:pt x="72" y="32"/>
                </a:lnTo>
                <a:lnTo>
                  <a:pt x="85" y="32"/>
                </a:lnTo>
                <a:lnTo>
                  <a:pt x="103" y="32"/>
                </a:lnTo>
                <a:lnTo>
                  <a:pt x="123" y="32"/>
                </a:lnTo>
                <a:lnTo>
                  <a:pt x="144" y="32"/>
                </a:lnTo>
                <a:lnTo>
                  <a:pt x="165" y="32"/>
                </a:lnTo>
                <a:lnTo>
                  <a:pt x="187" y="32"/>
                </a:lnTo>
                <a:lnTo>
                  <a:pt x="209" y="32"/>
                </a:lnTo>
              </a:path>
            </a:pathLst>
          </a:custGeom>
          <a:noFill/>
          <a:ln w="17145">
            <a:solidFill>
              <a:srgbClr val="2D6C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1524000" y="1079500"/>
            <a:ext cx="0" cy="1295400"/>
          </a:xfrm>
          <a:prstGeom prst="line">
            <a:avLst/>
          </a:prstGeom>
          <a:ln w="10160">
            <a:solidFill>
              <a:srgbClr val="2D6CD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282700" y="1016000"/>
            <a:ext cx="635000" cy="1651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ctr"/>
            <a:r>
              <a:rPr sz="768" b="1" i="0">
                <a:solidFill>
                  <a:srgbClr val="2D6CDF"/>
                </a:solidFill>
                <a:latin typeface="Arial"/>
              </a:rPr>
              <a:t>R-wave</a:t>
            </a:r>
          </a:p>
        </p:txBody>
      </p:sp>
      <p:sp>
        <p:nvSpPr>
          <p:cNvPr id="23" name="Freeform 22"/>
          <p:cNvSpPr/>
          <p:nvPr/>
        </p:nvSpPr>
        <p:spPr>
          <a:xfrm>
            <a:off x="1993900" y="1765300"/>
            <a:ext cx="1905000" cy="558800"/>
          </a:xfrm>
          <a:custGeom>
            <a:avLst/>
            <a:gdLst/>
            <a:ahLst/>
            <a:cxnLst/>
            <a:rect l="l" t="t" r="r" b="b"/>
            <a:pathLst>
              <a:path w="150" h="44">
                <a:moveTo>
                  <a:pt x="0" y="35"/>
                </a:moveTo>
                <a:lnTo>
                  <a:pt x="13" y="35"/>
                </a:lnTo>
                <a:lnTo>
                  <a:pt x="26" y="34"/>
                </a:lnTo>
                <a:lnTo>
                  <a:pt x="40" y="32"/>
                </a:lnTo>
                <a:lnTo>
                  <a:pt x="49" y="30"/>
                </a:lnTo>
                <a:lnTo>
                  <a:pt x="58" y="0"/>
                </a:lnTo>
                <a:lnTo>
                  <a:pt x="67" y="15"/>
                </a:lnTo>
                <a:lnTo>
                  <a:pt x="79" y="32"/>
                </a:lnTo>
                <a:lnTo>
                  <a:pt x="93" y="41"/>
                </a:lnTo>
                <a:lnTo>
                  <a:pt x="107" y="44"/>
                </a:lnTo>
                <a:lnTo>
                  <a:pt x="119" y="39"/>
                </a:lnTo>
                <a:lnTo>
                  <a:pt x="128" y="42"/>
                </a:lnTo>
                <a:lnTo>
                  <a:pt x="140" y="44"/>
                </a:lnTo>
                <a:lnTo>
                  <a:pt x="150" y="40"/>
                </a:lnTo>
              </a:path>
            </a:pathLst>
          </a:custGeom>
          <a:noFill/>
          <a:ln w="18415">
            <a:solidFill>
              <a:srgbClr val="D82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2728413" y="1397000"/>
            <a:ext cx="0" cy="977900"/>
          </a:xfrm>
          <a:prstGeom prst="line">
            <a:avLst/>
          </a:prstGeom>
          <a:ln w="10160">
            <a:solidFill>
              <a:srgbClr val="D8202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207713" y="2324100"/>
            <a:ext cx="1041400" cy="1778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ctr"/>
            <a:r>
              <a:rPr sz="768" b="1" i="0">
                <a:solidFill>
                  <a:srgbClr val="D82020"/>
                </a:solidFill>
                <a:latin typeface="Arial"/>
              </a:rPr>
              <a:t>PPG upstroke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562100" y="2514600"/>
            <a:ext cx="1064713" cy="0"/>
          </a:xfrm>
          <a:prstGeom prst="line">
            <a:avLst/>
          </a:prstGeom>
          <a:ln w="12065">
            <a:solidFill>
              <a:srgbClr val="007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2628900" y="2489200"/>
            <a:ext cx="63500" cy="50800"/>
          </a:xfrm>
          <a:custGeom>
            <a:avLst/>
            <a:gdLst/>
            <a:ahLst/>
            <a:cxnLst/>
            <a:rect l="l" t="t" r="r" b="b"/>
            <a:pathLst>
              <a:path w="5" h="4">
                <a:moveTo>
                  <a:pt x="5" y="2"/>
                </a:moveTo>
                <a:lnTo>
                  <a:pt x="0" y="4"/>
                </a:lnTo>
                <a:lnTo>
                  <a:pt x="0" y="0"/>
                </a:lnTo>
                <a:close/>
              </a:path>
            </a:pathLst>
          </a:custGeom>
          <a:solidFill>
            <a:srgbClr val="007A32"/>
          </a:solidFill>
          <a:ln w="6350">
            <a:solidFill>
              <a:srgbClr val="007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 flipH="1">
            <a:off x="1625600" y="2514600"/>
            <a:ext cx="1064713" cy="0"/>
          </a:xfrm>
          <a:prstGeom prst="line">
            <a:avLst/>
          </a:prstGeom>
          <a:ln w="12065">
            <a:solidFill>
              <a:srgbClr val="007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Freeform 28"/>
          <p:cNvSpPr/>
          <p:nvPr/>
        </p:nvSpPr>
        <p:spPr>
          <a:xfrm>
            <a:off x="1562100" y="2489200"/>
            <a:ext cx="63500" cy="50800"/>
          </a:xfrm>
          <a:custGeom>
            <a:avLst/>
            <a:gdLst/>
            <a:ahLst/>
            <a:cxnLst/>
            <a:rect l="l" t="t" r="r" b="b"/>
            <a:pathLst>
              <a:path w="5" h="4">
                <a:moveTo>
                  <a:pt x="0" y="2"/>
                </a:moveTo>
                <a:lnTo>
                  <a:pt x="5" y="0"/>
                </a:lnTo>
                <a:lnTo>
                  <a:pt x="5" y="4"/>
                </a:lnTo>
                <a:close/>
              </a:path>
            </a:pathLst>
          </a:custGeom>
          <a:solidFill>
            <a:srgbClr val="007A32"/>
          </a:solidFill>
          <a:ln w="6350">
            <a:solidFill>
              <a:srgbClr val="007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49400" y="2578100"/>
            <a:ext cx="1966413" cy="1778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ctr"/>
            <a:r>
              <a:rPr sz="768" b="1" i="0">
                <a:solidFill>
                  <a:srgbClr val="007A32"/>
                </a:solidFill>
                <a:latin typeface="Arial"/>
              </a:rPr>
              <a:t>learn within plausible delay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524000" y="2908300"/>
            <a:ext cx="2374900" cy="0"/>
          </a:xfrm>
          <a:prstGeom prst="line">
            <a:avLst/>
          </a:prstGeom>
          <a:ln w="10160">
            <a:solidFill>
              <a:srgbClr val="91A2B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524000" y="2870200"/>
            <a:ext cx="0" cy="88900"/>
          </a:xfrm>
          <a:prstGeom prst="line">
            <a:avLst/>
          </a:prstGeom>
          <a:ln w="10160">
            <a:solidFill>
              <a:srgbClr val="91A2B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333500" y="2984500"/>
            <a:ext cx="381000" cy="1397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ctr"/>
            <a:r>
              <a:rPr sz="693" b="0" i="0">
                <a:solidFill>
                  <a:srgbClr val="5D6470"/>
                </a:solidFill>
                <a:latin typeface="Arial"/>
              </a:rPr>
              <a:t>0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032907" y="2870200"/>
            <a:ext cx="0" cy="88900"/>
          </a:xfrm>
          <a:prstGeom prst="line">
            <a:avLst/>
          </a:prstGeom>
          <a:ln w="10160">
            <a:solidFill>
              <a:srgbClr val="91A2B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842407" y="2984500"/>
            <a:ext cx="381000" cy="1397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ctr"/>
            <a:r>
              <a:rPr sz="693" b="0" i="0">
                <a:solidFill>
                  <a:srgbClr val="5D6470"/>
                </a:solidFill>
                <a:latin typeface="Arial"/>
              </a:rPr>
              <a:t>120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432401" y="2870200"/>
            <a:ext cx="0" cy="88900"/>
          </a:xfrm>
          <a:prstGeom prst="line">
            <a:avLst/>
          </a:prstGeom>
          <a:ln w="10160">
            <a:solidFill>
              <a:srgbClr val="91A2B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3241901" y="2984500"/>
            <a:ext cx="381000" cy="1397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ctr"/>
            <a:r>
              <a:rPr sz="693" b="0" i="0">
                <a:solidFill>
                  <a:srgbClr val="5D6470"/>
                </a:solidFill>
                <a:latin typeface="Arial"/>
              </a:rPr>
              <a:t>450 ms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28600" y="3454400"/>
            <a:ext cx="3860800" cy="1422400"/>
          </a:xfrm>
          <a:prstGeom prst="roundRect">
            <a:avLst>
              <a:gd name="adj" fmla="val 8000"/>
            </a:avLst>
          </a:prstGeom>
          <a:solidFill>
            <a:srgbClr val="F8FBFF"/>
          </a:solidFill>
          <a:ln w="12065">
            <a:solidFill>
              <a:srgbClr val="B7C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8300" y="3543300"/>
            <a:ext cx="1066800" cy="1778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l"/>
            <a:r>
              <a:rPr sz="937" b="1" i="0">
                <a:solidFill>
                  <a:srgbClr val="062B68"/>
                </a:solidFill>
                <a:latin typeface="Arial"/>
              </a:rPr>
              <a:t>Study design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68300" y="3848100"/>
            <a:ext cx="736600" cy="609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4D1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457200" y="3962400"/>
            <a:ext cx="533400" cy="101600"/>
          </a:xfrm>
          <a:custGeom>
            <a:avLst/>
            <a:gdLst/>
            <a:ahLst/>
            <a:cxnLst/>
            <a:rect l="l" t="t" r="r" b="b"/>
            <a:pathLst>
              <a:path w="42" h="8">
                <a:moveTo>
                  <a:pt x="0" y="6"/>
                </a:moveTo>
                <a:lnTo>
                  <a:pt x="4" y="6"/>
                </a:lnTo>
                <a:lnTo>
                  <a:pt x="7" y="5"/>
                </a:lnTo>
                <a:lnTo>
                  <a:pt x="9" y="6"/>
                </a:lnTo>
                <a:lnTo>
                  <a:pt x="12" y="6"/>
                </a:lnTo>
                <a:lnTo>
                  <a:pt x="14" y="6"/>
                </a:lnTo>
                <a:lnTo>
                  <a:pt x="16" y="7"/>
                </a:lnTo>
                <a:lnTo>
                  <a:pt x="18" y="0"/>
                </a:lnTo>
                <a:lnTo>
                  <a:pt x="19" y="8"/>
                </a:lnTo>
                <a:lnTo>
                  <a:pt x="21" y="6"/>
                </a:lnTo>
                <a:lnTo>
                  <a:pt x="25" y="6"/>
                </a:lnTo>
                <a:lnTo>
                  <a:pt x="29" y="5"/>
                </a:lnTo>
                <a:lnTo>
                  <a:pt x="34" y="5"/>
                </a:lnTo>
                <a:lnTo>
                  <a:pt x="40" y="6"/>
                </a:lnTo>
                <a:lnTo>
                  <a:pt x="42" y="6"/>
                </a:lnTo>
              </a:path>
            </a:pathLst>
          </a:custGeom>
          <a:noFill/>
          <a:ln w="11430">
            <a:solidFill>
              <a:srgbClr val="2D6C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457200" y="4203700"/>
            <a:ext cx="533400" cy="88900"/>
          </a:xfrm>
          <a:custGeom>
            <a:avLst/>
            <a:gdLst/>
            <a:ahLst/>
            <a:cxnLst/>
            <a:rect l="l" t="t" r="r" b="b"/>
            <a:pathLst>
              <a:path w="42" h="7">
                <a:moveTo>
                  <a:pt x="0" y="5"/>
                </a:moveTo>
                <a:lnTo>
                  <a:pt x="3" y="5"/>
                </a:lnTo>
                <a:lnTo>
                  <a:pt x="6" y="0"/>
                </a:lnTo>
                <a:lnTo>
                  <a:pt x="11" y="4"/>
                </a:lnTo>
                <a:lnTo>
                  <a:pt x="18" y="6"/>
                </a:lnTo>
                <a:lnTo>
                  <a:pt x="24" y="7"/>
                </a:lnTo>
                <a:lnTo>
                  <a:pt x="29" y="6"/>
                </a:lnTo>
                <a:lnTo>
                  <a:pt x="32" y="7"/>
                </a:lnTo>
                <a:lnTo>
                  <a:pt x="37" y="7"/>
                </a:lnTo>
                <a:lnTo>
                  <a:pt x="42" y="6"/>
                </a:lnTo>
              </a:path>
            </a:pathLst>
          </a:custGeom>
          <a:noFill/>
          <a:ln w="11430">
            <a:solidFill>
              <a:srgbClr val="D82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8300" y="4495800"/>
            <a:ext cx="736600" cy="1143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ctr"/>
            <a:r>
              <a:rPr sz="681" b="1" i="0">
                <a:solidFill>
                  <a:srgbClr val="062B68"/>
                </a:solidFill>
                <a:latin typeface="Arial"/>
              </a:rPr>
              <a:t>ECG + PPG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1181100" y="4152900"/>
            <a:ext cx="304800" cy="0"/>
          </a:xfrm>
          <a:prstGeom prst="line">
            <a:avLst/>
          </a:prstGeom>
          <a:ln w="13970">
            <a:solidFill>
              <a:srgbClr val="062B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Freeform 44"/>
          <p:cNvSpPr/>
          <p:nvPr/>
        </p:nvSpPr>
        <p:spPr>
          <a:xfrm>
            <a:off x="1485900" y="4127500"/>
            <a:ext cx="63500" cy="50800"/>
          </a:xfrm>
          <a:custGeom>
            <a:avLst/>
            <a:gdLst/>
            <a:ahLst/>
            <a:cxnLst/>
            <a:rect l="l" t="t" r="r" b="b"/>
            <a:pathLst>
              <a:path w="5" h="4">
                <a:moveTo>
                  <a:pt x="5" y="2"/>
                </a:moveTo>
                <a:lnTo>
                  <a:pt x="0" y="4"/>
                </a:lnTo>
                <a:lnTo>
                  <a:pt x="0" y="0"/>
                </a:lnTo>
                <a:close/>
              </a:path>
            </a:pathLst>
          </a:custGeom>
          <a:solidFill>
            <a:srgbClr val="062B68"/>
          </a:solidFill>
          <a:ln w="6350">
            <a:solidFill>
              <a:srgbClr val="062B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562100" y="3733800"/>
            <a:ext cx="1498600" cy="990600"/>
          </a:xfrm>
          <a:prstGeom prst="roundRect">
            <a:avLst>
              <a:gd name="adj" fmla="val 8000"/>
            </a:avLst>
          </a:prstGeom>
          <a:solidFill>
            <a:srgbClr val="F7FAFF"/>
          </a:solidFill>
          <a:ln w="11430">
            <a:solidFill>
              <a:srgbClr val="8DB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25600" y="3797300"/>
            <a:ext cx="1371600" cy="1778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ctr"/>
            <a:r>
              <a:rPr sz="837" b="1" i="0">
                <a:solidFill>
                  <a:srgbClr val="062B68"/>
                </a:solidFill>
                <a:latin typeface="Arial"/>
              </a:rPr>
              <a:t>Token-pair mask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790700" y="4051300"/>
            <a:ext cx="1066800" cy="419100"/>
          </a:xfrm>
          <a:prstGeom prst="rect">
            <a:avLst/>
          </a:prstGeom>
          <a:solidFill>
            <a:srgbClr val="FFFFFF"/>
          </a:solidFill>
          <a:ln w="6985">
            <a:solidFill>
              <a:srgbClr val="CC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>
            <a:off x="1790700" y="4051300"/>
            <a:ext cx="0" cy="419100"/>
          </a:xfrm>
          <a:prstGeom prst="line">
            <a:avLst/>
          </a:prstGeom>
          <a:ln w="4826">
            <a:solidFill>
              <a:srgbClr val="D8DE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790700" y="4051300"/>
            <a:ext cx="1066800" cy="0"/>
          </a:xfrm>
          <a:prstGeom prst="line">
            <a:avLst/>
          </a:prstGeom>
          <a:ln w="4826">
            <a:solidFill>
              <a:srgbClr val="D8DE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897380" y="4051300"/>
            <a:ext cx="0" cy="419100"/>
          </a:xfrm>
          <a:prstGeom prst="line">
            <a:avLst/>
          </a:prstGeom>
          <a:ln w="4826">
            <a:solidFill>
              <a:srgbClr val="D8DE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790700" y="4093210"/>
            <a:ext cx="1066800" cy="0"/>
          </a:xfrm>
          <a:prstGeom prst="line">
            <a:avLst/>
          </a:prstGeom>
          <a:ln w="4826">
            <a:solidFill>
              <a:srgbClr val="D8DE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2004060" y="4051300"/>
            <a:ext cx="0" cy="419100"/>
          </a:xfrm>
          <a:prstGeom prst="line">
            <a:avLst/>
          </a:prstGeom>
          <a:ln w="4826">
            <a:solidFill>
              <a:srgbClr val="D8DE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790700" y="4135120"/>
            <a:ext cx="1066800" cy="0"/>
          </a:xfrm>
          <a:prstGeom prst="line">
            <a:avLst/>
          </a:prstGeom>
          <a:ln w="4826">
            <a:solidFill>
              <a:srgbClr val="D8DE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2110740" y="4051300"/>
            <a:ext cx="0" cy="419100"/>
          </a:xfrm>
          <a:prstGeom prst="line">
            <a:avLst/>
          </a:prstGeom>
          <a:ln w="4826">
            <a:solidFill>
              <a:srgbClr val="D8DE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790700" y="4177029"/>
            <a:ext cx="1066800" cy="0"/>
          </a:xfrm>
          <a:prstGeom prst="line">
            <a:avLst/>
          </a:prstGeom>
          <a:ln w="4826">
            <a:solidFill>
              <a:srgbClr val="D8DE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2217420" y="4051300"/>
            <a:ext cx="0" cy="419100"/>
          </a:xfrm>
          <a:prstGeom prst="line">
            <a:avLst/>
          </a:prstGeom>
          <a:ln w="4826">
            <a:solidFill>
              <a:srgbClr val="D8DE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790700" y="4218940"/>
            <a:ext cx="1066800" cy="0"/>
          </a:xfrm>
          <a:prstGeom prst="line">
            <a:avLst/>
          </a:prstGeom>
          <a:ln w="4826">
            <a:solidFill>
              <a:srgbClr val="D8DE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2324100" y="4051300"/>
            <a:ext cx="0" cy="419100"/>
          </a:xfrm>
          <a:prstGeom prst="line">
            <a:avLst/>
          </a:prstGeom>
          <a:ln w="4826">
            <a:solidFill>
              <a:srgbClr val="D8DE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790700" y="4260850"/>
            <a:ext cx="1066800" cy="0"/>
          </a:xfrm>
          <a:prstGeom prst="line">
            <a:avLst/>
          </a:prstGeom>
          <a:ln w="4826">
            <a:solidFill>
              <a:srgbClr val="D8DE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2430780" y="4051300"/>
            <a:ext cx="0" cy="419100"/>
          </a:xfrm>
          <a:prstGeom prst="line">
            <a:avLst/>
          </a:prstGeom>
          <a:ln w="4826">
            <a:solidFill>
              <a:srgbClr val="D8DE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790700" y="4302760"/>
            <a:ext cx="1066800" cy="0"/>
          </a:xfrm>
          <a:prstGeom prst="line">
            <a:avLst/>
          </a:prstGeom>
          <a:ln w="4826">
            <a:solidFill>
              <a:srgbClr val="D8DE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2537460" y="4051300"/>
            <a:ext cx="0" cy="419100"/>
          </a:xfrm>
          <a:prstGeom prst="line">
            <a:avLst/>
          </a:prstGeom>
          <a:ln w="4826">
            <a:solidFill>
              <a:srgbClr val="D8DE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1790700" y="4344670"/>
            <a:ext cx="1066800" cy="0"/>
          </a:xfrm>
          <a:prstGeom prst="line">
            <a:avLst/>
          </a:prstGeom>
          <a:ln w="4826">
            <a:solidFill>
              <a:srgbClr val="D8DE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2644140" y="4051300"/>
            <a:ext cx="0" cy="419100"/>
          </a:xfrm>
          <a:prstGeom prst="line">
            <a:avLst/>
          </a:prstGeom>
          <a:ln w="4826">
            <a:solidFill>
              <a:srgbClr val="D8DE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1790700" y="4386580"/>
            <a:ext cx="1066800" cy="0"/>
          </a:xfrm>
          <a:prstGeom prst="line">
            <a:avLst/>
          </a:prstGeom>
          <a:ln w="4826">
            <a:solidFill>
              <a:srgbClr val="D8DE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2750820" y="4051300"/>
            <a:ext cx="0" cy="419100"/>
          </a:xfrm>
          <a:prstGeom prst="line">
            <a:avLst/>
          </a:prstGeom>
          <a:ln w="4826">
            <a:solidFill>
              <a:srgbClr val="D8DE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1790700" y="4428490"/>
            <a:ext cx="1066800" cy="0"/>
          </a:xfrm>
          <a:prstGeom prst="line">
            <a:avLst/>
          </a:prstGeom>
          <a:ln w="4826">
            <a:solidFill>
              <a:srgbClr val="D8DE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2857500" y="4051300"/>
            <a:ext cx="0" cy="419100"/>
          </a:xfrm>
          <a:prstGeom prst="line">
            <a:avLst/>
          </a:prstGeom>
          <a:ln w="4826">
            <a:solidFill>
              <a:srgbClr val="D8DE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1790700" y="4470400"/>
            <a:ext cx="1066800" cy="0"/>
          </a:xfrm>
          <a:prstGeom prst="line">
            <a:avLst/>
          </a:prstGeom>
          <a:ln w="4826">
            <a:solidFill>
              <a:srgbClr val="D8DE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ectangle 70"/>
          <p:cNvSpPr/>
          <p:nvPr/>
        </p:nvSpPr>
        <p:spPr>
          <a:xfrm>
            <a:off x="1799589" y="4060190"/>
            <a:ext cx="88900" cy="2413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906270" y="4060190"/>
            <a:ext cx="88900" cy="2413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2012950" y="4060190"/>
            <a:ext cx="88900" cy="24130"/>
          </a:xfrm>
          <a:prstGeom prst="rect">
            <a:avLst/>
          </a:prstGeom>
          <a:solidFill>
            <a:srgbClr val="9FD3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2119629" y="4060190"/>
            <a:ext cx="88900" cy="24130"/>
          </a:xfrm>
          <a:prstGeom prst="rect">
            <a:avLst/>
          </a:prstGeom>
          <a:solidFill>
            <a:srgbClr val="68B8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2226310" y="4060190"/>
            <a:ext cx="88900" cy="24130"/>
          </a:xfrm>
          <a:prstGeom prst="rect">
            <a:avLst/>
          </a:prstGeom>
          <a:solidFill>
            <a:srgbClr val="2F94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2332990" y="4060190"/>
            <a:ext cx="88900" cy="24130"/>
          </a:xfrm>
          <a:prstGeom prst="rect">
            <a:avLst/>
          </a:prstGeom>
          <a:solidFill>
            <a:srgbClr val="68B8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2439670" y="4060190"/>
            <a:ext cx="88900" cy="24130"/>
          </a:xfrm>
          <a:prstGeom prst="rect">
            <a:avLst/>
          </a:prstGeom>
          <a:solidFill>
            <a:srgbClr val="9FD3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2546350" y="4060190"/>
            <a:ext cx="88900" cy="2413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2653029" y="4060190"/>
            <a:ext cx="88900" cy="2413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2759710" y="4060190"/>
            <a:ext cx="88900" cy="2413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1799589" y="4102100"/>
            <a:ext cx="88900" cy="2413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906270" y="4102100"/>
            <a:ext cx="88900" cy="2413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2012950" y="4102100"/>
            <a:ext cx="88900" cy="2413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2119629" y="4102100"/>
            <a:ext cx="88900" cy="24130"/>
          </a:xfrm>
          <a:prstGeom prst="rect">
            <a:avLst/>
          </a:prstGeom>
          <a:solidFill>
            <a:srgbClr val="9FD3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2226310" y="4102100"/>
            <a:ext cx="88900" cy="24130"/>
          </a:xfrm>
          <a:prstGeom prst="rect">
            <a:avLst/>
          </a:prstGeom>
          <a:solidFill>
            <a:srgbClr val="68B8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2332990" y="4102100"/>
            <a:ext cx="88900" cy="24130"/>
          </a:xfrm>
          <a:prstGeom prst="rect">
            <a:avLst/>
          </a:prstGeom>
          <a:solidFill>
            <a:srgbClr val="2F94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2439670" y="4102100"/>
            <a:ext cx="88900" cy="24130"/>
          </a:xfrm>
          <a:prstGeom prst="rect">
            <a:avLst/>
          </a:prstGeom>
          <a:solidFill>
            <a:srgbClr val="68B8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2546350" y="4102100"/>
            <a:ext cx="88900" cy="24130"/>
          </a:xfrm>
          <a:prstGeom prst="rect">
            <a:avLst/>
          </a:prstGeom>
          <a:solidFill>
            <a:srgbClr val="9FD3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2653029" y="4102100"/>
            <a:ext cx="88900" cy="2413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2759710" y="4102100"/>
            <a:ext cx="88900" cy="2413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799589" y="4144010"/>
            <a:ext cx="88900" cy="2413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906270" y="4144010"/>
            <a:ext cx="88900" cy="2413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2012950" y="4144010"/>
            <a:ext cx="88900" cy="2413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2119629" y="4144010"/>
            <a:ext cx="88900" cy="2413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2226310" y="4144010"/>
            <a:ext cx="88900" cy="24130"/>
          </a:xfrm>
          <a:prstGeom prst="rect">
            <a:avLst/>
          </a:prstGeom>
          <a:solidFill>
            <a:srgbClr val="9FD3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2332990" y="4144010"/>
            <a:ext cx="88900" cy="24130"/>
          </a:xfrm>
          <a:prstGeom prst="rect">
            <a:avLst/>
          </a:prstGeom>
          <a:solidFill>
            <a:srgbClr val="68B8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2439670" y="4144010"/>
            <a:ext cx="88900" cy="24130"/>
          </a:xfrm>
          <a:prstGeom prst="rect">
            <a:avLst/>
          </a:prstGeom>
          <a:solidFill>
            <a:srgbClr val="2F94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2546350" y="4144010"/>
            <a:ext cx="88900" cy="24130"/>
          </a:xfrm>
          <a:prstGeom prst="rect">
            <a:avLst/>
          </a:prstGeom>
          <a:solidFill>
            <a:srgbClr val="68B8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2653029" y="4144010"/>
            <a:ext cx="88900" cy="24130"/>
          </a:xfrm>
          <a:prstGeom prst="rect">
            <a:avLst/>
          </a:prstGeom>
          <a:solidFill>
            <a:srgbClr val="9FD3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2759710" y="4144010"/>
            <a:ext cx="88900" cy="2413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799589" y="4185919"/>
            <a:ext cx="88900" cy="2413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906270" y="4185919"/>
            <a:ext cx="88900" cy="2413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2012950" y="4185919"/>
            <a:ext cx="88900" cy="2413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2119629" y="4185919"/>
            <a:ext cx="88900" cy="2413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2226310" y="4185919"/>
            <a:ext cx="88900" cy="2413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2332990" y="4185919"/>
            <a:ext cx="88900" cy="24130"/>
          </a:xfrm>
          <a:prstGeom prst="rect">
            <a:avLst/>
          </a:prstGeom>
          <a:solidFill>
            <a:srgbClr val="9FD3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2439670" y="4185919"/>
            <a:ext cx="88900" cy="24130"/>
          </a:xfrm>
          <a:prstGeom prst="rect">
            <a:avLst/>
          </a:prstGeom>
          <a:solidFill>
            <a:srgbClr val="68B8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2546350" y="4185919"/>
            <a:ext cx="88900" cy="24130"/>
          </a:xfrm>
          <a:prstGeom prst="rect">
            <a:avLst/>
          </a:prstGeom>
          <a:solidFill>
            <a:srgbClr val="2F94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2653029" y="4185919"/>
            <a:ext cx="88900" cy="24130"/>
          </a:xfrm>
          <a:prstGeom prst="rect">
            <a:avLst/>
          </a:prstGeom>
          <a:solidFill>
            <a:srgbClr val="68B8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2759710" y="4185919"/>
            <a:ext cx="88900" cy="24130"/>
          </a:xfrm>
          <a:prstGeom prst="rect">
            <a:avLst/>
          </a:prstGeom>
          <a:solidFill>
            <a:srgbClr val="9FD3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1799589" y="4227830"/>
            <a:ext cx="88900" cy="2413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906270" y="4227830"/>
            <a:ext cx="88900" cy="2413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2012950" y="4227830"/>
            <a:ext cx="88900" cy="2413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2119629" y="4227830"/>
            <a:ext cx="88900" cy="2413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226310" y="4227830"/>
            <a:ext cx="88900" cy="2413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2332990" y="4227830"/>
            <a:ext cx="88900" cy="2413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2439670" y="4227830"/>
            <a:ext cx="88900" cy="24130"/>
          </a:xfrm>
          <a:prstGeom prst="rect">
            <a:avLst/>
          </a:prstGeom>
          <a:solidFill>
            <a:srgbClr val="9FD3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2546350" y="4227830"/>
            <a:ext cx="88900" cy="24130"/>
          </a:xfrm>
          <a:prstGeom prst="rect">
            <a:avLst/>
          </a:prstGeom>
          <a:solidFill>
            <a:srgbClr val="68B8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2653029" y="4227830"/>
            <a:ext cx="88900" cy="24130"/>
          </a:xfrm>
          <a:prstGeom prst="rect">
            <a:avLst/>
          </a:prstGeom>
          <a:solidFill>
            <a:srgbClr val="2F94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2759710" y="4227830"/>
            <a:ext cx="88900" cy="24130"/>
          </a:xfrm>
          <a:prstGeom prst="rect">
            <a:avLst/>
          </a:prstGeom>
          <a:solidFill>
            <a:srgbClr val="68B8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1799589" y="4269740"/>
            <a:ext cx="88900" cy="2413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1906270" y="4269740"/>
            <a:ext cx="88900" cy="2413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2012950" y="4269740"/>
            <a:ext cx="88900" cy="2413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2119629" y="4269740"/>
            <a:ext cx="88900" cy="2413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2226310" y="4269740"/>
            <a:ext cx="88900" cy="2413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2332990" y="4269740"/>
            <a:ext cx="88900" cy="2413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2439670" y="4269740"/>
            <a:ext cx="88900" cy="2413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2546350" y="4269740"/>
            <a:ext cx="88900" cy="24130"/>
          </a:xfrm>
          <a:prstGeom prst="rect">
            <a:avLst/>
          </a:prstGeom>
          <a:solidFill>
            <a:srgbClr val="9FD3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2653029" y="4269740"/>
            <a:ext cx="88900" cy="24130"/>
          </a:xfrm>
          <a:prstGeom prst="rect">
            <a:avLst/>
          </a:prstGeom>
          <a:solidFill>
            <a:srgbClr val="68B8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2759710" y="4269740"/>
            <a:ext cx="88900" cy="24130"/>
          </a:xfrm>
          <a:prstGeom prst="rect">
            <a:avLst/>
          </a:prstGeom>
          <a:solidFill>
            <a:srgbClr val="2F94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1799589" y="4311650"/>
            <a:ext cx="88900" cy="2413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1906270" y="4311650"/>
            <a:ext cx="88900" cy="2413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2012950" y="4311650"/>
            <a:ext cx="88900" cy="2413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2119629" y="4311650"/>
            <a:ext cx="88900" cy="2413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2226310" y="4311650"/>
            <a:ext cx="88900" cy="2413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2332990" y="4311650"/>
            <a:ext cx="88900" cy="2413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2439670" y="4311650"/>
            <a:ext cx="88900" cy="2413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2546350" y="4311650"/>
            <a:ext cx="88900" cy="2413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2653029" y="4311650"/>
            <a:ext cx="88900" cy="24130"/>
          </a:xfrm>
          <a:prstGeom prst="rect">
            <a:avLst/>
          </a:prstGeom>
          <a:solidFill>
            <a:srgbClr val="9FD3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2759710" y="4311650"/>
            <a:ext cx="88900" cy="24130"/>
          </a:xfrm>
          <a:prstGeom prst="rect">
            <a:avLst/>
          </a:prstGeom>
          <a:solidFill>
            <a:srgbClr val="68B8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1799589" y="4353560"/>
            <a:ext cx="88900" cy="2413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1906270" y="4353560"/>
            <a:ext cx="88900" cy="2413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2012950" y="4353560"/>
            <a:ext cx="88900" cy="2413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2119629" y="4353560"/>
            <a:ext cx="88900" cy="2413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2226310" y="4353560"/>
            <a:ext cx="88900" cy="2413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2332990" y="4353560"/>
            <a:ext cx="88900" cy="2413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2439670" y="4353560"/>
            <a:ext cx="88900" cy="2413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2546350" y="4353560"/>
            <a:ext cx="88900" cy="2413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2653029" y="4353560"/>
            <a:ext cx="88900" cy="2413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2759710" y="4353560"/>
            <a:ext cx="88900" cy="24130"/>
          </a:xfrm>
          <a:prstGeom prst="rect">
            <a:avLst/>
          </a:prstGeom>
          <a:solidFill>
            <a:srgbClr val="9FD3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1799589" y="4395470"/>
            <a:ext cx="88900" cy="2413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1906270" y="4395470"/>
            <a:ext cx="88900" cy="2413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2012950" y="4395470"/>
            <a:ext cx="88900" cy="2413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2119629" y="4395470"/>
            <a:ext cx="88900" cy="2413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2226310" y="4395470"/>
            <a:ext cx="88900" cy="2413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2332990" y="4395470"/>
            <a:ext cx="88900" cy="2413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2439670" y="4395470"/>
            <a:ext cx="88900" cy="2413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2546350" y="4395470"/>
            <a:ext cx="88900" cy="2413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2653029" y="4395470"/>
            <a:ext cx="88900" cy="2413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2759710" y="4395470"/>
            <a:ext cx="88900" cy="2413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1799589" y="4437380"/>
            <a:ext cx="88900" cy="2413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1906270" y="4437380"/>
            <a:ext cx="88900" cy="2413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2012950" y="4437380"/>
            <a:ext cx="88900" cy="2413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2119629" y="4437380"/>
            <a:ext cx="88900" cy="2413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2226310" y="4437380"/>
            <a:ext cx="88900" cy="2413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2332990" y="4437380"/>
            <a:ext cx="88900" cy="2413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2439670" y="4437380"/>
            <a:ext cx="88900" cy="2413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2546350" y="4437380"/>
            <a:ext cx="88900" cy="2413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2653029" y="4437380"/>
            <a:ext cx="88900" cy="2413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2759710" y="4437380"/>
            <a:ext cx="88900" cy="2413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Freeform 170"/>
          <p:cNvSpPr/>
          <p:nvPr/>
        </p:nvSpPr>
        <p:spPr>
          <a:xfrm>
            <a:off x="2006600" y="4051300"/>
            <a:ext cx="850900" cy="330200"/>
          </a:xfrm>
          <a:custGeom>
            <a:avLst/>
            <a:gdLst/>
            <a:ahLst/>
            <a:cxnLst/>
            <a:rect l="l" t="t" r="r" b="b"/>
            <a:pathLst>
              <a:path w="67" h="26">
                <a:moveTo>
                  <a:pt x="0" y="0"/>
                </a:moveTo>
                <a:lnTo>
                  <a:pt x="67" y="26"/>
                </a:lnTo>
              </a:path>
            </a:pathLst>
          </a:custGeom>
          <a:noFill/>
          <a:ln w="12065">
            <a:solidFill>
              <a:srgbClr val="007A3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Freeform 171"/>
          <p:cNvSpPr/>
          <p:nvPr/>
        </p:nvSpPr>
        <p:spPr>
          <a:xfrm>
            <a:off x="2425700" y="4051300"/>
            <a:ext cx="431800" cy="165100"/>
          </a:xfrm>
          <a:custGeom>
            <a:avLst/>
            <a:gdLst/>
            <a:ahLst/>
            <a:cxnLst/>
            <a:rect l="l" t="t" r="r" b="b"/>
            <a:pathLst>
              <a:path w="34" h="13">
                <a:moveTo>
                  <a:pt x="0" y="0"/>
                </a:moveTo>
                <a:lnTo>
                  <a:pt x="34" y="13"/>
                </a:lnTo>
              </a:path>
            </a:pathLst>
          </a:custGeom>
          <a:noFill/>
          <a:ln w="12065">
            <a:solidFill>
              <a:srgbClr val="007A3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3" name="Connector 172"/>
          <p:cNvCxnSpPr/>
          <p:nvPr/>
        </p:nvCxnSpPr>
        <p:spPr>
          <a:xfrm>
            <a:off x="1790700" y="4521200"/>
            <a:ext cx="1066800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" name="Freeform 173"/>
          <p:cNvSpPr/>
          <p:nvPr/>
        </p:nvSpPr>
        <p:spPr>
          <a:xfrm>
            <a:off x="2806700" y="4470400"/>
            <a:ext cx="88900" cy="101600"/>
          </a:xfrm>
          <a:custGeom>
            <a:avLst/>
            <a:gdLst/>
            <a:ahLst/>
            <a:cxnLst/>
            <a:rect l="l" t="t" r="r" b="b"/>
            <a:pathLst>
              <a:path w="7" h="8">
                <a:moveTo>
                  <a:pt x="7" y="4"/>
                </a:move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111111"/>
          </a:solidFill>
          <a:ln w="254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5" name="Connector 174"/>
          <p:cNvCxnSpPr/>
          <p:nvPr/>
        </p:nvCxnSpPr>
        <p:spPr>
          <a:xfrm flipV="1">
            <a:off x="1739900" y="4051300"/>
            <a:ext cx="0" cy="41910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6" name="Freeform 175"/>
          <p:cNvSpPr/>
          <p:nvPr/>
        </p:nvSpPr>
        <p:spPr>
          <a:xfrm>
            <a:off x="1689100" y="4013200"/>
            <a:ext cx="101600" cy="88900"/>
          </a:xfrm>
          <a:custGeom>
            <a:avLst/>
            <a:gdLst/>
            <a:ahLst/>
            <a:cxnLst/>
            <a:rect l="l" t="t" r="r" b="b"/>
            <a:pathLst>
              <a:path w="8" h="7">
                <a:moveTo>
                  <a:pt x="4" y="0"/>
                </a:moveTo>
                <a:lnTo>
                  <a:pt x="0" y="7"/>
                </a:lnTo>
                <a:lnTo>
                  <a:pt x="8" y="7"/>
                </a:lnTo>
                <a:close/>
              </a:path>
            </a:pathLst>
          </a:custGeom>
          <a:solidFill>
            <a:srgbClr val="111111"/>
          </a:solidFill>
          <a:ln w="254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1892300" y="4533900"/>
            <a:ext cx="939800" cy="1143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ctr"/>
            <a:r>
              <a:rPr sz="625" b="0" i="0">
                <a:solidFill>
                  <a:srgbClr val="111111"/>
                </a:solidFill>
                <a:latin typeface="Arial"/>
              </a:rPr>
              <a:t>PPG time</a:t>
            </a:r>
          </a:p>
        </p:txBody>
      </p:sp>
      <p:sp>
        <p:nvSpPr>
          <p:cNvPr id="178" name="TextBox 177"/>
          <p:cNvSpPr txBox="1"/>
          <p:nvPr/>
        </p:nvSpPr>
        <p:spPr>
          <a:xfrm rot="16200000">
            <a:off x="1587500" y="4127500"/>
            <a:ext cx="431800" cy="1143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ctr"/>
            <a:r>
              <a:rPr sz="625" b="0" i="0">
                <a:solidFill>
                  <a:srgbClr val="111111"/>
                </a:solidFill>
                <a:latin typeface="Arial"/>
              </a:rPr>
              <a:t>ECG time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1625600" y="4381500"/>
            <a:ext cx="1371600" cy="1270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ctr"/>
            <a:r>
              <a:rPr sz="675" b="1" i="0">
                <a:solidFill>
                  <a:srgbClr val="007A32"/>
                </a:solidFill>
                <a:latin typeface="Arial"/>
              </a:rPr>
              <a:t>allowed band</a:t>
            </a:r>
          </a:p>
        </p:txBody>
      </p:sp>
      <p:cxnSp>
        <p:nvCxnSpPr>
          <p:cNvPr id="180" name="Connector 179"/>
          <p:cNvCxnSpPr/>
          <p:nvPr/>
        </p:nvCxnSpPr>
        <p:spPr>
          <a:xfrm>
            <a:off x="3098800" y="4152900"/>
            <a:ext cx="228600" cy="0"/>
          </a:xfrm>
          <a:prstGeom prst="line">
            <a:avLst/>
          </a:prstGeom>
          <a:ln w="13970">
            <a:solidFill>
              <a:srgbClr val="062B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1" name="Freeform 180"/>
          <p:cNvSpPr/>
          <p:nvPr/>
        </p:nvSpPr>
        <p:spPr>
          <a:xfrm>
            <a:off x="3327400" y="4127500"/>
            <a:ext cx="63500" cy="50800"/>
          </a:xfrm>
          <a:custGeom>
            <a:avLst/>
            <a:gdLst/>
            <a:ahLst/>
            <a:cxnLst/>
            <a:rect l="l" t="t" r="r" b="b"/>
            <a:pathLst>
              <a:path w="5" h="4">
                <a:moveTo>
                  <a:pt x="5" y="2"/>
                </a:moveTo>
                <a:lnTo>
                  <a:pt x="0" y="4"/>
                </a:lnTo>
                <a:lnTo>
                  <a:pt x="0" y="0"/>
                </a:lnTo>
                <a:close/>
              </a:path>
            </a:pathLst>
          </a:custGeom>
          <a:solidFill>
            <a:srgbClr val="062B68"/>
          </a:solidFill>
          <a:ln w="6350">
            <a:solidFill>
              <a:srgbClr val="062B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ounded Rectangle 181"/>
          <p:cNvSpPr/>
          <p:nvPr/>
        </p:nvSpPr>
        <p:spPr>
          <a:xfrm>
            <a:off x="3416300" y="3848100"/>
            <a:ext cx="546100" cy="609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4D1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3467100" y="3937000"/>
            <a:ext cx="444500" cy="1651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ctr"/>
            <a:r>
              <a:rPr sz="1000" b="1" i="0">
                <a:solidFill>
                  <a:srgbClr val="062B68"/>
                </a:solidFill>
                <a:latin typeface="Arial"/>
              </a:rPr>
              <a:t>SBP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3467100" y="4229100"/>
            <a:ext cx="444500" cy="1651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ctr"/>
            <a:r>
              <a:rPr sz="1000" b="1" i="0">
                <a:solidFill>
                  <a:srgbClr val="062B68"/>
                </a:solidFill>
                <a:latin typeface="Arial"/>
              </a:rPr>
              <a:t>DBP</a:t>
            </a:r>
          </a:p>
        </p:txBody>
      </p:sp>
      <p:sp>
        <p:nvSpPr>
          <p:cNvPr id="185" name="Oval 184"/>
          <p:cNvSpPr/>
          <p:nvPr/>
        </p:nvSpPr>
        <p:spPr>
          <a:xfrm>
            <a:off x="355600" y="5080000"/>
            <a:ext cx="211328" cy="211328"/>
          </a:xfrm>
          <a:prstGeom prst="ellipse">
            <a:avLst/>
          </a:prstGeom>
          <a:noFill/>
          <a:ln w="13004">
            <a:solidFill>
              <a:srgbClr val="062B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388112" y="5112512"/>
            <a:ext cx="146304" cy="146304"/>
          </a:xfrm>
          <a:prstGeom prst="ellipse">
            <a:avLst/>
          </a:prstGeom>
          <a:noFill/>
          <a:ln w="13004">
            <a:solidFill>
              <a:srgbClr val="062B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420623" y="5145024"/>
            <a:ext cx="81280" cy="81280"/>
          </a:xfrm>
          <a:prstGeom prst="ellipse">
            <a:avLst/>
          </a:prstGeom>
          <a:noFill/>
          <a:ln w="13004">
            <a:solidFill>
              <a:srgbClr val="062B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8" name="Connector 187"/>
          <p:cNvCxnSpPr/>
          <p:nvPr/>
        </p:nvCxnSpPr>
        <p:spPr>
          <a:xfrm flipV="1">
            <a:off x="534416" y="5084352"/>
            <a:ext cx="28159" cy="28160"/>
          </a:xfrm>
          <a:prstGeom prst="line">
            <a:avLst/>
          </a:prstGeom>
          <a:ln w="9753">
            <a:solidFill>
              <a:srgbClr val="062B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9" name="Freeform 188"/>
          <p:cNvSpPr/>
          <p:nvPr/>
        </p:nvSpPr>
        <p:spPr>
          <a:xfrm>
            <a:off x="546100" y="50546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0"/>
                </a:moveTo>
                <a:lnTo>
                  <a:pt x="2" y="3"/>
                </a:lnTo>
                <a:lnTo>
                  <a:pt x="0" y="1"/>
                </a:lnTo>
                <a:close/>
              </a:path>
            </a:pathLst>
          </a:custGeom>
          <a:solidFill>
            <a:srgbClr val="062B68"/>
          </a:solidFill>
          <a:ln w="6350">
            <a:solidFill>
              <a:srgbClr val="062B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698500" y="5041900"/>
            <a:ext cx="3302000" cy="3175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l"/>
            <a:r>
              <a:rPr sz="1125" b="1" i="0">
                <a:solidFill>
                  <a:srgbClr val="062B68"/>
                </a:solidFill>
                <a:latin typeface="Arial"/>
              </a:rPr>
              <a:t>Subject-independent cuffless BP estimation</a:t>
            </a:r>
          </a:p>
        </p:txBody>
      </p:sp>
      <p:sp>
        <p:nvSpPr>
          <p:cNvPr id="191" name="Freeform 190"/>
          <p:cNvSpPr/>
          <p:nvPr/>
        </p:nvSpPr>
        <p:spPr>
          <a:xfrm>
            <a:off x="368300" y="5435600"/>
            <a:ext cx="241300" cy="304800"/>
          </a:xfrm>
          <a:custGeom>
            <a:avLst/>
            <a:gdLst/>
            <a:ahLst/>
            <a:cxnLst/>
            <a:rect l="l" t="t" r="r" b="b"/>
            <a:pathLst>
              <a:path w="19" h="24">
                <a:moveTo>
                  <a:pt x="9" y="0"/>
                </a:moveTo>
                <a:lnTo>
                  <a:pt x="19" y="4"/>
                </a:lnTo>
                <a:lnTo>
                  <a:pt x="16" y="19"/>
                </a:lnTo>
                <a:lnTo>
                  <a:pt x="9" y="24"/>
                </a:lnTo>
                <a:lnTo>
                  <a:pt x="2" y="19"/>
                </a:lnTo>
                <a:lnTo>
                  <a:pt x="0" y="4"/>
                </a:lnTo>
                <a:close/>
              </a:path>
            </a:pathLst>
          </a:custGeom>
          <a:solidFill>
            <a:srgbClr val="062B68"/>
          </a:solidFill>
          <a:ln w="12700">
            <a:solidFill>
              <a:srgbClr val="062B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Freeform 191"/>
          <p:cNvSpPr/>
          <p:nvPr/>
        </p:nvSpPr>
        <p:spPr>
          <a:xfrm>
            <a:off x="431800" y="5537200"/>
            <a:ext cx="114300" cy="88900"/>
          </a:xfrm>
          <a:custGeom>
            <a:avLst/>
            <a:gdLst/>
            <a:ahLst/>
            <a:cxnLst/>
            <a:rect l="l" t="t" r="r" b="b"/>
            <a:pathLst>
              <a:path w="9" h="7">
                <a:moveTo>
                  <a:pt x="0" y="4"/>
                </a:moveTo>
                <a:lnTo>
                  <a:pt x="3" y="7"/>
                </a:lnTo>
                <a:lnTo>
                  <a:pt x="9" y="0"/>
                </a:lnTo>
              </a:path>
            </a:pathLst>
          </a:custGeom>
          <a:noFill/>
          <a:ln w="17881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698500" y="5397500"/>
            <a:ext cx="3302000" cy="3175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l"/>
            <a:r>
              <a:rPr sz="1056" b="1" i="0">
                <a:solidFill>
                  <a:srgbClr val="062B68"/>
                </a:solidFill>
                <a:latin typeface="Arial"/>
              </a:rPr>
              <a:t>Physiology-guided token interaction</a:t>
            </a:r>
          </a:p>
        </p:txBody>
      </p:sp>
      <p:sp>
        <p:nvSpPr>
          <p:cNvPr id="194" name="Right Arrow 193"/>
          <p:cNvSpPr/>
          <p:nvPr/>
        </p:nvSpPr>
        <p:spPr>
          <a:xfrm>
            <a:off x="4089400" y="2755900"/>
            <a:ext cx="457200" cy="355600"/>
          </a:xfrm>
          <a:prstGeom prst="rightArrow">
            <a:avLst/>
          </a:prstGeom>
          <a:solidFill>
            <a:srgbClr val="062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ounded Rectangle 194"/>
          <p:cNvSpPr/>
          <p:nvPr/>
        </p:nvSpPr>
        <p:spPr>
          <a:xfrm>
            <a:off x="4419600" y="101600"/>
            <a:ext cx="11963400" cy="584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B9C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4419600" y="101600"/>
            <a:ext cx="11963400" cy="393700"/>
          </a:xfrm>
          <a:prstGeom prst="rect">
            <a:avLst/>
          </a:prstGeom>
          <a:solidFill>
            <a:srgbClr val="062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4457700" y="127000"/>
            <a:ext cx="11887200" cy="3429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ctr"/>
            <a:r>
              <a:rPr sz="1875" b="1" i="0">
                <a:solidFill>
                  <a:srgbClr val="FFFFFF"/>
                </a:solidFill>
                <a:latin typeface="Arial"/>
              </a:rPr>
              <a:t>B. Dataset Preprocessing Pipeline</a:t>
            </a:r>
          </a:p>
        </p:txBody>
      </p:sp>
      <p:sp>
        <p:nvSpPr>
          <p:cNvPr id="198" name="Rounded Rectangle 197"/>
          <p:cNvSpPr/>
          <p:nvPr/>
        </p:nvSpPr>
        <p:spPr>
          <a:xfrm>
            <a:off x="4495800" y="1066800"/>
            <a:ext cx="1905000" cy="4559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A7B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4495800" y="1066800"/>
            <a:ext cx="1905000" cy="355600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4533900" y="1104900"/>
            <a:ext cx="1828800" cy="2540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ctr"/>
            <a:r>
              <a:rPr sz="1312" b="1" i="0">
                <a:solidFill>
                  <a:srgbClr val="FFFFFF"/>
                </a:solidFill>
                <a:latin typeface="Arial"/>
              </a:rPr>
              <a:t>1. Cohort Inputs</a:t>
            </a:r>
          </a:p>
        </p:txBody>
      </p:sp>
      <p:sp>
        <p:nvSpPr>
          <p:cNvPr id="201" name="Rounded Rectangle 200"/>
          <p:cNvSpPr/>
          <p:nvPr/>
        </p:nvSpPr>
        <p:spPr>
          <a:xfrm>
            <a:off x="6553200" y="1066800"/>
            <a:ext cx="2311400" cy="4559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A7B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6553200" y="1066800"/>
            <a:ext cx="2311400" cy="355600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6591300" y="1104900"/>
            <a:ext cx="2235200" cy="2540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ctr"/>
            <a:r>
              <a:rPr sz="1312" b="1" i="0">
                <a:solidFill>
                  <a:srgbClr val="FFFFFF"/>
                </a:solidFill>
                <a:latin typeface="Arial"/>
              </a:rPr>
              <a:t>2. Signal Processing</a:t>
            </a:r>
          </a:p>
        </p:txBody>
      </p:sp>
      <p:sp>
        <p:nvSpPr>
          <p:cNvPr id="204" name="Rounded Rectangle 203"/>
          <p:cNvSpPr/>
          <p:nvPr/>
        </p:nvSpPr>
        <p:spPr>
          <a:xfrm>
            <a:off x="9042400" y="1066800"/>
            <a:ext cx="2349500" cy="4559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A7B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9042400" y="1066800"/>
            <a:ext cx="2349500" cy="355600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9080500" y="1104900"/>
            <a:ext cx="2273300" cy="2540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ctr"/>
            <a:r>
              <a:rPr sz="1312" b="1" i="0">
                <a:solidFill>
                  <a:srgbClr val="FFFFFF"/>
                </a:solidFill>
                <a:latin typeface="Arial"/>
              </a:rPr>
              <a:t>3. Paired-Stream &amp; SQI Checks</a:t>
            </a:r>
          </a:p>
        </p:txBody>
      </p:sp>
      <p:sp>
        <p:nvSpPr>
          <p:cNvPr id="207" name="Rounded Rectangle 206"/>
          <p:cNvSpPr/>
          <p:nvPr/>
        </p:nvSpPr>
        <p:spPr>
          <a:xfrm>
            <a:off x="11569700" y="1066800"/>
            <a:ext cx="2501900" cy="4559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A7B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11569700" y="1066800"/>
            <a:ext cx="2501900" cy="355600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TextBox 208"/>
          <p:cNvSpPr txBox="1"/>
          <p:nvPr/>
        </p:nvSpPr>
        <p:spPr>
          <a:xfrm>
            <a:off x="11607800" y="1104900"/>
            <a:ext cx="2425700" cy="2540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ctr"/>
            <a:r>
              <a:rPr sz="1312" b="1" i="0">
                <a:solidFill>
                  <a:srgbClr val="FFFFFF"/>
                </a:solidFill>
                <a:latin typeface="Arial"/>
              </a:rPr>
              <a:t>4. Windowing &amp; Scalar Targets</a:t>
            </a:r>
          </a:p>
        </p:txBody>
      </p:sp>
      <p:sp>
        <p:nvSpPr>
          <p:cNvPr id="210" name="Rounded Rectangle 209"/>
          <p:cNvSpPr/>
          <p:nvPr/>
        </p:nvSpPr>
        <p:spPr>
          <a:xfrm>
            <a:off x="14312900" y="1066800"/>
            <a:ext cx="2006600" cy="4559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A7B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14312900" y="1066800"/>
            <a:ext cx="2006600" cy="355600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14351000" y="1104900"/>
            <a:ext cx="1930400" cy="2540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ctr"/>
            <a:r>
              <a:rPr sz="1312" b="1" i="0">
                <a:solidFill>
                  <a:srgbClr val="FFFFFF"/>
                </a:solidFill>
                <a:latin typeface="Arial"/>
              </a:rPr>
              <a:t>5. Filtering &amp; Balancing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4521200" y="1422400"/>
            <a:ext cx="1854200" cy="1435100"/>
          </a:xfrm>
          <a:prstGeom prst="rect">
            <a:avLst/>
          </a:prstGeom>
          <a:solidFill>
            <a:srgbClr val="EE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Can 213"/>
          <p:cNvSpPr/>
          <p:nvPr/>
        </p:nvSpPr>
        <p:spPr>
          <a:xfrm>
            <a:off x="4711700" y="1778000"/>
            <a:ext cx="330200" cy="381000"/>
          </a:xfrm>
          <a:prstGeom prst="can">
            <a:avLst/>
          </a:prstGeom>
          <a:solidFill>
            <a:srgbClr val="F7FAFF"/>
          </a:solidFill>
          <a:ln w="20320">
            <a:solidFill>
              <a:srgbClr val="1D5E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5" name="Connector 214"/>
          <p:cNvCxnSpPr/>
          <p:nvPr/>
        </p:nvCxnSpPr>
        <p:spPr>
          <a:xfrm>
            <a:off x="4737100" y="1905000"/>
            <a:ext cx="279400" cy="0"/>
          </a:xfrm>
          <a:prstGeom prst="line">
            <a:avLst/>
          </a:prstGeom>
          <a:ln w="11430">
            <a:solidFill>
              <a:srgbClr val="1D5E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>
            <a:off x="4749800" y="2032000"/>
            <a:ext cx="254000" cy="0"/>
          </a:xfrm>
          <a:prstGeom prst="line">
            <a:avLst/>
          </a:prstGeom>
          <a:ln w="11430">
            <a:solidFill>
              <a:srgbClr val="1D5E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7" name="TextBox 216"/>
          <p:cNvSpPr txBox="1"/>
          <p:nvPr/>
        </p:nvSpPr>
        <p:spPr>
          <a:xfrm>
            <a:off x="5168900" y="1701800"/>
            <a:ext cx="1092200" cy="4826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ctr"/>
            <a:r>
              <a:rPr sz="1150" b="1" i="0">
                <a:solidFill>
                  <a:srgbClr val="1D5EBB"/>
                </a:solidFill>
                <a:latin typeface="Arial"/>
              </a:rPr>
              <a:t>PulseDB-Vital</a:t>
            </a:r>
          </a:p>
          <a:p>
            <a:pPr algn="ctr"/>
            <a:r>
              <a:rPr sz="1150" b="1" i="0">
                <a:solidFill>
                  <a:srgbClr val="1D5EBB"/>
                </a:solidFill>
                <a:latin typeface="Arial"/>
              </a:rPr>
              <a:t>(source-indexed pool)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5156200" y="2209800"/>
            <a:ext cx="1117600" cy="4318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ctr"/>
            <a:r>
              <a:rPr sz="1125" b="1" i="0">
                <a:solidFill>
                  <a:srgbClr val="111111"/>
                </a:solidFill>
                <a:latin typeface="Arial"/>
              </a:rPr>
              <a:t>2,714 subjects</a:t>
            </a:r>
          </a:p>
          <a:p>
            <a:pPr algn="ctr"/>
            <a:r>
              <a:rPr sz="1125" b="1" i="0">
                <a:solidFill>
                  <a:srgbClr val="111111"/>
                </a:solidFill>
                <a:latin typeface="Arial"/>
              </a:rPr>
              <a:t>240,428 indexed segments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4521200" y="2857500"/>
            <a:ext cx="1854200" cy="1308100"/>
          </a:xfrm>
          <a:prstGeom prst="rect">
            <a:avLst/>
          </a:prstGeom>
          <a:solidFill>
            <a:srgbClr val="FF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Can 219"/>
          <p:cNvSpPr/>
          <p:nvPr/>
        </p:nvSpPr>
        <p:spPr>
          <a:xfrm>
            <a:off x="4711700" y="3213100"/>
            <a:ext cx="330200" cy="381000"/>
          </a:xfrm>
          <a:prstGeom prst="can">
            <a:avLst/>
          </a:prstGeom>
          <a:solidFill>
            <a:srgbClr val="F7FAFF"/>
          </a:solidFill>
          <a:ln w="20320">
            <a:solidFill>
              <a:srgbClr val="D82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1" name="Connector 220"/>
          <p:cNvCxnSpPr/>
          <p:nvPr/>
        </p:nvCxnSpPr>
        <p:spPr>
          <a:xfrm>
            <a:off x="4737100" y="3340100"/>
            <a:ext cx="279400" cy="0"/>
          </a:xfrm>
          <a:prstGeom prst="line">
            <a:avLst/>
          </a:prstGeom>
          <a:ln w="11430">
            <a:solidFill>
              <a:srgbClr val="D820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>
            <a:off x="4749800" y="3467100"/>
            <a:ext cx="254000" cy="0"/>
          </a:xfrm>
          <a:prstGeom prst="line">
            <a:avLst/>
          </a:prstGeom>
          <a:ln w="11430">
            <a:solidFill>
              <a:srgbClr val="D820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3" name="TextBox 222"/>
          <p:cNvSpPr txBox="1"/>
          <p:nvPr/>
        </p:nvSpPr>
        <p:spPr>
          <a:xfrm>
            <a:off x="5168900" y="3136900"/>
            <a:ext cx="1092200" cy="4826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ctr"/>
            <a:r>
              <a:rPr sz="1150" b="1" i="0">
                <a:solidFill>
                  <a:srgbClr val="D82020"/>
                </a:solidFill>
                <a:latin typeface="Arial"/>
              </a:rPr>
              <a:t>PulseDB-MIMIC</a:t>
            </a:r>
          </a:p>
          <a:p>
            <a:pPr algn="ctr"/>
            <a:r>
              <a:rPr sz="1150" b="1" i="0">
                <a:solidFill>
                  <a:srgbClr val="D82020"/>
                </a:solidFill>
                <a:latin typeface="Arial"/>
              </a:rPr>
              <a:t>(retained external)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5156200" y="3644900"/>
            <a:ext cx="1117600" cy="4318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ctr"/>
            <a:r>
              <a:rPr sz="1125" b="1" i="0">
                <a:solidFill>
                  <a:srgbClr val="111111"/>
                </a:solidFill>
                <a:latin typeface="Arial"/>
              </a:rPr>
              <a:t>2,201 subjects</a:t>
            </a:r>
          </a:p>
          <a:p>
            <a:pPr algn="ctr"/>
            <a:r>
              <a:rPr sz="1125" b="1" i="0">
                <a:solidFill>
                  <a:srgbClr val="111111"/>
                </a:solidFill>
                <a:latin typeface="Arial"/>
              </a:rPr>
              <a:t>164,882 windows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4521200" y="4165600"/>
            <a:ext cx="1854200" cy="1219200"/>
          </a:xfrm>
          <a:prstGeom prst="rect">
            <a:avLst/>
          </a:prstGeom>
          <a:solidFill>
            <a:srgbClr val="EAF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Can 225"/>
          <p:cNvSpPr/>
          <p:nvPr/>
        </p:nvSpPr>
        <p:spPr>
          <a:xfrm>
            <a:off x="4711700" y="4521200"/>
            <a:ext cx="330200" cy="381000"/>
          </a:xfrm>
          <a:prstGeom prst="can">
            <a:avLst/>
          </a:prstGeom>
          <a:solidFill>
            <a:srgbClr val="F7FAFF"/>
          </a:solidFill>
          <a:ln w="20320">
            <a:solidFill>
              <a:srgbClr val="007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7" name="Connector 226"/>
          <p:cNvCxnSpPr/>
          <p:nvPr/>
        </p:nvCxnSpPr>
        <p:spPr>
          <a:xfrm>
            <a:off x="4737100" y="4648200"/>
            <a:ext cx="279400" cy="0"/>
          </a:xfrm>
          <a:prstGeom prst="line">
            <a:avLst/>
          </a:prstGeom>
          <a:ln w="11430">
            <a:solidFill>
              <a:srgbClr val="007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Connector 227"/>
          <p:cNvCxnSpPr/>
          <p:nvPr/>
        </p:nvCxnSpPr>
        <p:spPr>
          <a:xfrm>
            <a:off x="4749800" y="4775200"/>
            <a:ext cx="254000" cy="0"/>
          </a:xfrm>
          <a:prstGeom prst="line">
            <a:avLst/>
          </a:prstGeom>
          <a:ln w="11430">
            <a:solidFill>
              <a:srgbClr val="007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9" name="TextBox 228"/>
          <p:cNvSpPr txBox="1"/>
          <p:nvPr/>
        </p:nvSpPr>
        <p:spPr>
          <a:xfrm>
            <a:off x="5168900" y="4445000"/>
            <a:ext cx="1092200" cy="4826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ctr"/>
            <a:r>
              <a:rPr sz="1150" b="1" i="0">
                <a:solidFill>
                  <a:srgbClr val="007A32"/>
                </a:solidFill>
                <a:latin typeface="Arial"/>
              </a:rPr>
              <a:t>MIMIC-BP</a:t>
            </a:r>
          </a:p>
          <a:p>
            <a:pPr algn="ctr"/>
            <a:r>
              <a:rPr sz="1150" b="1" i="0">
                <a:solidFill>
                  <a:srgbClr val="007A32"/>
                </a:solidFill>
                <a:latin typeface="Arial"/>
              </a:rPr>
              <a:t>(retained external)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5156200" y="4953000"/>
            <a:ext cx="1117600" cy="4318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ctr"/>
            <a:r>
              <a:rPr sz="1125" b="1" i="0">
                <a:solidFill>
                  <a:srgbClr val="111111"/>
                </a:solidFill>
                <a:latin typeface="Arial"/>
              </a:rPr>
              <a:t>1,524 subjects</a:t>
            </a:r>
          </a:p>
          <a:p>
            <a:pPr algn="ctr"/>
            <a:r>
              <a:rPr sz="1125" b="1" i="0">
                <a:solidFill>
                  <a:srgbClr val="111111"/>
                </a:solidFill>
                <a:latin typeface="Arial"/>
              </a:rPr>
              <a:t>39,498 windows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6781800" y="1854200"/>
            <a:ext cx="558800" cy="2540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l"/>
            <a:r>
              <a:rPr sz="1375" b="1" i="0">
                <a:solidFill>
                  <a:srgbClr val="2D6CDF"/>
                </a:solidFill>
                <a:latin typeface="Arial"/>
              </a:rPr>
              <a:t>ECG</a:t>
            </a:r>
          </a:p>
        </p:txBody>
      </p:sp>
      <p:sp>
        <p:nvSpPr>
          <p:cNvPr id="232" name="Freeform 231"/>
          <p:cNvSpPr/>
          <p:nvPr/>
        </p:nvSpPr>
        <p:spPr>
          <a:xfrm>
            <a:off x="6692900" y="2451100"/>
            <a:ext cx="800100" cy="228600"/>
          </a:xfrm>
          <a:custGeom>
            <a:avLst/>
            <a:gdLst/>
            <a:ahLst/>
            <a:cxnLst/>
            <a:rect l="l" t="t" r="r" b="b"/>
            <a:pathLst>
              <a:path w="63" h="18">
                <a:moveTo>
                  <a:pt x="0" y="13"/>
                </a:moveTo>
                <a:lnTo>
                  <a:pt x="2" y="13"/>
                </a:lnTo>
                <a:lnTo>
                  <a:pt x="3" y="12"/>
                </a:lnTo>
                <a:lnTo>
                  <a:pt x="4" y="14"/>
                </a:lnTo>
                <a:lnTo>
                  <a:pt x="6" y="13"/>
                </a:lnTo>
                <a:lnTo>
                  <a:pt x="7" y="13"/>
                </a:lnTo>
                <a:lnTo>
                  <a:pt x="8" y="16"/>
                </a:lnTo>
                <a:lnTo>
                  <a:pt x="9" y="0"/>
                </a:lnTo>
                <a:lnTo>
                  <a:pt x="10" y="18"/>
                </a:lnTo>
                <a:lnTo>
                  <a:pt x="11" y="14"/>
                </a:lnTo>
                <a:lnTo>
                  <a:pt x="12" y="13"/>
                </a:lnTo>
                <a:lnTo>
                  <a:pt x="15" y="12"/>
                </a:lnTo>
                <a:lnTo>
                  <a:pt x="17" y="11"/>
                </a:lnTo>
                <a:lnTo>
                  <a:pt x="20" y="13"/>
                </a:lnTo>
                <a:lnTo>
                  <a:pt x="21" y="13"/>
                </a:lnTo>
                <a:lnTo>
                  <a:pt x="21" y="13"/>
                </a:lnTo>
                <a:lnTo>
                  <a:pt x="23" y="13"/>
                </a:lnTo>
                <a:lnTo>
                  <a:pt x="24" y="12"/>
                </a:lnTo>
                <a:lnTo>
                  <a:pt x="25" y="14"/>
                </a:lnTo>
                <a:lnTo>
                  <a:pt x="27" y="13"/>
                </a:lnTo>
                <a:lnTo>
                  <a:pt x="28" y="13"/>
                </a:lnTo>
                <a:lnTo>
                  <a:pt x="29" y="16"/>
                </a:lnTo>
                <a:lnTo>
                  <a:pt x="30" y="0"/>
                </a:lnTo>
                <a:lnTo>
                  <a:pt x="31" y="18"/>
                </a:lnTo>
                <a:lnTo>
                  <a:pt x="31" y="14"/>
                </a:lnTo>
                <a:lnTo>
                  <a:pt x="33" y="13"/>
                </a:lnTo>
                <a:lnTo>
                  <a:pt x="36" y="12"/>
                </a:lnTo>
                <a:lnTo>
                  <a:pt x="38" y="11"/>
                </a:lnTo>
                <a:lnTo>
                  <a:pt x="41" y="13"/>
                </a:lnTo>
                <a:lnTo>
                  <a:pt x="42" y="13"/>
                </a:lnTo>
                <a:lnTo>
                  <a:pt x="42" y="13"/>
                </a:lnTo>
                <a:lnTo>
                  <a:pt x="44" y="13"/>
                </a:lnTo>
                <a:lnTo>
                  <a:pt x="45" y="12"/>
                </a:lnTo>
                <a:lnTo>
                  <a:pt x="46" y="14"/>
                </a:lnTo>
                <a:lnTo>
                  <a:pt x="48" y="13"/>
                </a:lnTo>
                <a:lnTo>
                  <a:pt x="49" y="13"/>
                </a:lnTo>
                <a:lnTo>
                  <a:pt x="50" y="16"/>
                </a:lnTo>
                <a:lnTo>
                  <a:pt x="51" y="0"/>
                </a:lnTo>
                <a:lnTo>
                  <a:pt x="52" y="18"/>
                </a:lnTo>
                <a:lnTo>
                  <a:pt x="53" y="14"/>
                </a:lnTo>
                <a:lnTo>
                  <a:pt x="54" y="13"/>
                </a:lnTo>
                <a:lnTo>
                  <a:pt x="57" y="12"/>
                </a:lnTo>
                <a:lnTo>
                  <a:pt x="59" y="11"/>
                </a:lnTo>
                <a:lnTo>
                  <a:pt x="62" y="13"/>
                </a:lnTo>
                <a:lnTo>
                  <a:pt x="63" y="13"/>
                </a:lnTo>
              </a:path>
            </a:pathLst>
          </a:custGeom>
          <a:noFill/>
          <a:ln w="14604">
            <a:solidFill>
              <a:srgbClr val="2D6C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TextBox 232"/>
          <p:cNvSpPr txBox="1"/>
          <p:nvPr/>
        </p:nvSpPr>
        <p:spPr>
          <a:xfrm>
            <a:off x="7442200" y="1778000"/>
            <a:ext cx="1384300" cy="13462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t">
            <a:spAutoFit/>
          </a:bodyPr>
          <a:lstStyle/>
          <a:p>
            <a:pPr algn="l"/>
            <a:r>
              <a:rPr sz="1068" b="1" i="0">
                <a:solidFill>
                  <a:srgbClr val="111111"/>
                </a:solidFill>
                <a:latin typeface="Arial"/>
              </a:rPr>
              <a:t>• Shared 250 Hz grid</a:t>
            </a:r>
          </a:p>
          <a:p>
            <a:pPr algn="l"/>
            <a:r>
              <a:rPr sz="1068" b="1" i="0">
                <a:solidFill>
                  <a:srgbClr val="111111"/>
                </a:solidFill>
                <a:latin typeface="Arial"/>
              </a:rPr>
              <a:t/>
            </a:r>
          </a:p>
          <a:p>
            <a:pPr algn="l"/>
            <a:r>
              <a:rPr sz="1068" b="1" i="0">
                <a:solidFill>
                  <a:srgbClr val="111111"/>
                </a:solidFill>
                <a:latin typeface="Arial"/>
              </a:rPr>
              <a:t>• Analysis: filter + wavelet</a:t>
            </a:r>
          </a:p>
          <a:p>
            <a:pPr algn="l"/>
            <a:r>
              <a:rPr sz="1068" b="1" i="0">
                <a:solidFill>
                  <a:srgbClr val="111111"/>
                </a:solidFill>
                <a:latin typeface="Arial"/>
              </a:rPr>
              <a:t/>
            </a:r>
          </a:p>
          <a:p>
            <a:pPr algn="l"/>
            <a:r>
              <a:rPr sz="1068" b="1" i="0">
                <a:solidFill>
                  <a:srgbClr val="111111"/>
                </a:solidFill>
                <a:latin typeface="Arial"/>
              </a:rPr>
              <a:t>• Model: whole-window robust input</a:t>
            </a:r>
          </a:p>
          <a:p>
            <a:pPr algn="l"/>
            <a:r>
              <a:rPr sz="1068" b="1" i="0">
                <a:solidFill>
                  <a:srgbClr val="111111"/>
                </a:solidFill>
                <a:latin typeface="Arial"/>
              </a:rPr>
              <a:t/>
            </a:r>
          </a:p>
          <a:p>
            <a:pPr algn="l"/>
            <a:r>
              <a:rPr sz="1068" b="1" i="0">
                <a:solidFill>
                  <a:srgbClr val="111111"/>
                </a:solidFill>
                <a:latin typeface="Arial"/>
              </a:rPr>
              <a:t>• R peaks + SQI</a:t>
            </a:r>
          </a:p>
        </p:txBody>
      </p:sp>
      <p:cxnSp>
        <p:nvCxnSpPr>
          <p:cNvPr id="234" name="Connector 233"/>
          <p:cNvCxnSpPr/>
          <p:nvPr/>
        </p:nvCxnSpPr>
        <p:spPr>
          <a:xfrm>
            <a:off x="6553200" y="3340100"/>
            <a:ext cx="2311400" cy="0"/>
          </a:xfrm>
          <a:prstGeom prst="line">
            <a:avLst/>
          </a:prstGeom>
          <a:ln w="10160">
            <a:solidFill>
              <a:srgbClr val="D8DF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5" name="TextBox 234"/>
          <p:cNvSpPr txBox="1"/>
          <p:nvPr/>
        </p:nvSpPr>
        <p:spPr>
          <a:xfrm>
            <a:off x="6781800" y="3784600"/>
            <a:ext cx="558800" cy="2540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l"/>
            <a:r>
              <a:rPr sz="1375" b="1" i="0">
                <a:solidFill>
                  <a:srgbClr val="D82020"/>
                </a:solidFill>
                <a:latin typeface="Arial"/>
              </a:rPr>
              <a:t>PPG</a:t>
            </a:r>
          </a:p>
        </p:txBody>
      </p:sp>
      <p:sp>
        <p:nvSpPr>
          <p:cNvPr id="236" name="Freeform 235"/>
          <p:cNvSpPr/>
          <p:nvPr/>
        </p:nvSpPr>
        <p:spPr>
          <a:xfrm>
            <a:off x="6692900" y="4381500"/>
            <a:ext cx="800100" cy="228600"/>
          </a:xfrm>
          <a:custGeom>
            <a:avLst/>
            <a:gdLst/>
            <a:ahLst/>
            <a:cxnLst/>
            <a:rect l="l" t="t" r="r" b="b"/>
            <a:pathLst>
              <a:path w="63" h="18">
                <a:moveTo>
                  <a:pt x="0" y="13"/>
                </a:moveTo>
                <a:lnTo>
                  <a:pt x="2" y="12"/>
                </a:lnTo>
                <a:lnTo>
                  <a:pt x="3" y="0"/>
                </a:lnTo>
                <a:lnTo>
                  <a:pt x="5" y="10"/>
                </a:lnTo>
                <a:lnTo>
                  <a:pt x="9" y="15"/>
                </a:lnTo>
                <a:lnTo>
                  <a:pt x="12" y="18"/>
                </a:lnTo>
                <a:lnTo>
                  <a:pt x="14" y="14"/>
                </a:lnTo>
                <a:lnTo>
                  <a:pt x="16" y="16"/>
                </a:lnTo>
                <a:lnTo>
                  <a:pt x="18" y="17"/>
                </a:lnTo>
                <a:lnTo>
                  <a:pt x="21" y="14"/>
                </a:lnTo>
                <a:lnTo>
                  <a:pt x="21" y="13"/>
                </a:lnTo>
                <a:lnTo>
                  <a:pt x="23" y="12"/>
                </a:lnTo>
                <a:lnTo>
                  <a:pt x="24" y="0"/>
                </a:lnTo>
                <a:lnTo>
                  <a:pt x="26" y="10"/>
                </a:lnTo>
                <a:lnTo>
                  <a:pt x="30" y="15"/>
                </a:lnTo>
                <a:lnTo>
                  <a:pt x="33" y="18"/>
                </a:lnTo>
                <a:lnTo>
                  <a:pt x="35" y="14"/>
                </a:lnTo>
                <a:lnTo>
                  <a:pt x="37" y="16"/>
                </a:lnTo>
                <a:lnTo>
                  <a:pt x="39" y="17"/>
                </a:lnTo>
                <a:lnTo>
                  <a:pt x="42" y="14"/>
                </a:lnTo>
                <a:lnTo>
                  <a:pt x="42" y="13"/>
                </a:lnTo>
                <a:lnTo>
                  <a:pt x="44" y="12"/>
                </a:lnTo>
                <a:lnTo>
                  <a:pt x="45" y="0"/>
                </a:lnTo>
                <a:lnTo>
                  <a:pt x="47" y="10"/>
                </a:lnTo>
                <a:lnTo>
                  <a:pt x="51" y="15"/>
                </a:lnTo>
                <a:lnTo>
                  <a:pt x="54" y="18"/>
                </a:lnTo>
                <a:lnTo>
                  <a:pt x="56" y="14"/>
                </a:lnTo>
                <a:lnTo>
                  <a:pt x="58" y="16"/>
                </a:lnTo>
                <a:lnTo>
                  <a:pt x="60" y="17"/>
                </a:lnTo>
                <a:lnTo>
                  <a:pt x="63" y="14"/>
                </a:lnTo>
              </a:path>
            </a:pathLst>
          </a:custGeom>
          <a:noFill/>
          <a:ln w="14604">
            <a:solidFill>
              <a:srgbClr val="D82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7442200" y="3708400"/>
            <a:ext cx="1384300" cy="13462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t">
            <a:spAutoFit/>
          </a:bodyPr>
          <a:lstStyle/>
          <a:p>
            <a:pPr algn="l"/>
            <a:r>
              <a:rPr sz="1068" b="1" i="0">
                <a:solidFill>
                  <a:srgbClr val="111111"/>
                </a:solidFill>
                <a:latin typeface="Arial"/>
              </a:rPr>
              <a:t>• Shared 250 Hz grid</a:t>
            </a:r>
          </a:p>
          <a:p>
            <a:pPr algn="l"/>
            <a:r>
              <a:rPr sz="1068" b="1" i="0">
                <a:solidFill>
                  <a:srgbClr val="111111"/>
                </a:solidFill>
                <a:latin typeface="Arial"/>
              </a:rPr>
              <a:t/>
            </a:r>
          </a:p>
          <a:p>
            <a:pPr algn="l"/>
            <a:r>
              <a:rPr sz="1068" b="1" i="0">
                <a:solidFill>
                  <a:srgbClr val="111111"/>
                </a:solidFill>
                <a:latin typeface="Arial"/>
              </a:rPr>
              <a:t>• Analysis: filter + wavelet</a:t>
            </a:r>
          </a:p>
          <a:p>
            <a:pPr algn="l"/>
            <a:r>
              <a:rPr sz="1068" b="1" i="0">
                <a:solidFill>
                  <a:srgbClr val="111111"/>
                </a:solidFill>
                <a:latin typeface="Arial"/>
              </a:rPr>
              <a:t/>
            </a:r>
          </a:p>
          <a:p>
            <a:pPr algn="l"/>
            <a:r>
              <a:rPr sz="1068" b="1" i="0">
                <a:solidFill>
                  <a:srgbClr val="111111"/>
                </a:solidFill>
                <a:latin typeface="Arial"/>
              </a:rPr>
              <a:t>• Model: whole-window robust input</a:t>
            </a:r>
          </a:p>
          <a:p>
            <a:pPr algn="l"/>
            <a:r>
              <a:rPr sz="1068" b="1" i="0">
                <a:solidFill>
                  <a:srgbClr val="111111"/>
                </a:solidFill>
                <a:latin typeface="Arial"/>
              </a:rPr>
              <a:t/>
            </a:r>
          </a:p>
          <a:p>
            <a:pPr algn="l"/>
            <a:r>
              <a:rPr sz="1068" b="1" i="0">
                <a:solidFill>
                  <a:srgbClr val="111111"/>
                </a:solidFill>
                <a:latin typeface="Arial"/>
              </a:rPr>
              <a:t>• Onsets + SQI</a:t>
            </a:r>
          </a:p>
        </p:txBody>
      </p:sp>
      <p:sp>
        <p:nvSpPr>
          <p:cNvPr id="238" name="Rounded Rectangle 237"/>
          <p:cNvSpPr/>
          <p:nvPr/>
        </p:nvSpPr>
        <p:spPr>
          <a:xfrm>
            <a:off x="9194800" y="1625600"/>
            <a:ext cx="2044700" cy="1600200"/>
          </a:xfrm>
          <a:prstGeom prst="roundRect">
            <a:avLst>
              <a:gd name="adj" fmla="val 8000"/>
            </a:avLst>
          </a:prstGeom>
          <a:solidFill>
            <a:srgbClr val="F8FBFF"/>
          </a:solidFill>
          <a:ln w="8890">
            <a:solidFill>
              <a:srgbClr val="C4D1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TextBox 238"/>
          <p:cNvSpPr txBox="1"/>
          <p:nvPr/>
        </p:nvSpPr>
        <p:spPr>
          <a:xfrm>
            <a:off x="9271000" y="1714500"/>
            <a:ext cx="939800" cy="1778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l"/>
            <a:r>
              <a:rPr sz="1025" b="1" i="0">
                <a:solidFill>
                  <a:srgbClr val="062B68"/>
                </a:solidFill>
                <a:latin typeface="Arial"/>
              </a:rPr>
              <a:t>Paired-stream checks</a:t>
            </a:r>
          </a:p>
        </p:txBody>
      </p:sp>
      <p:sp>
        <p:nvSpPr>
          <p:cNvPr id="240" name="Freeform 239"/>
          <p:cNvSpPr/>
          <p:nvPr/>
        </p:nvSpPr>
        <p:spPr>
          <a:xfrm>
            <a:off x="9436100" y="2082800"/>
            <a:ext cx="1600200" cy="190500"/>
          </a:xfrm>
          <a:custGeom>
            <a:avLst/>
            <a:gdLst/>
            <a:ahLst/>
            <a:cxnLst/>
            <a:rect l="l" t="t" r="r" b="b"/>
            <a:pathLst>
              <a:path w="126" h="15">
                <a:moveTo>
                  <a:pt x="0" y="11"/>
                </a:moveTo>
                <a:lnTo>
                  <a:pt x="6" y="11"/>
                </a:lnTo>
                <a:lnTo>
                  <a:pt x="10" y="10"/>
                </a:lnTo>
                <a:lnTo>
                  <a:pt x="13" y="11"/>
                </a:lnTo>
                <a:lnTo>
                  <a:pt x="18" y="11"/>
                </a:lnTo>
                <a:lnTo>
                  <a:pt x="21" y="11"/>
                </a:lnTo>
                <a:lnTo>
                  <a:pt x="24" y="13"/>
                </a:lnTo>
                <a:lnTo>
                  <a:pt x="26" y="0"/>
                </a:lnTo>
                <a:lnTo>
                  <a:pt x="29" y="15"/>
                </a:lnTo>
                <a:lnTo>
                  <a:pt x="31" y="11"/>
                </a:lnTo>
                <a:lnTo>
                  <a:pt x="37" y="11"/>
                </a:lnTo>
                <a:lnTo>
                  <a:pt x="44" y="10"/>
                </a:lnTo>
                <a:lnTo>
                  <a:pt x="52" y="9"/>
                </a:lnTo>
                <a:lnTo>
                  <a:pt x="60" y="11"/>
                </a:lnTo>
                <a:lnTo>
                  <a:pt x="63" y="11"/>
                </a:lnTo>
                <a:lnTo>
                  <a:pt x="63" y="11"/>
                </a:lnTo>
                <a:lnTo>
                  <a:pt x="69" y="11"/>
                </a:lnTo>
                <a:lnTo>
                  <a:pt x="73" y="10"/>
                </a:lnTo>
                <a:lnTo>
                  <a:pt x="76" y="11"/>
                </a:lnTo>
                <a:lnTo>
                  <a:pt x="81" y="11"/>
                </a:lnTo>
                <a:lnTo>
                  <a:pt x="84" y="11"/>
                </a:lnTo>
                <a:lnTo>
                  <a:pt x="87" y="13"/>
                </a:lnTo>
                <a:lnTo>
                  <a:pt x="89" y="0"/>
                </a:lnTo>
                <a:lnTo>
                  <a:pt x="92" y="15"/>
                </a:lnTo>
                <a:lnTo>
                  <a:pt x="95" y="11"/>
                </a:lnTo>
                <a:lnTo>
                  <a:pt x="100" y="11"/>
                </a:lnTo>
                <a:lnTo>
                  <a:pt x="107" y="10"/>
                </a:lnTo>
                <a:lnTo>
                  <a:pt x="115" y="9"/>
                </a:lnTo>
                <a:lnTo>
                  <a:pt x="123" y="11"/>
                </a:lnTo>
                <a:lnTo>
                  <a:pt x="126" y="11"/>
                </a:lnTo>
              </a:path>
            </a:pathLst>
          </a:custGeom>
          <a:noFill/>
          <a:ln w="13970">
            <a:solidFill>
              <a:srgbClr val="2D6C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Freeform 240"/>
          <p:cNvSpPr/>
          <p:nvPr/>
        </p:nvSpPr>
        <p:spPr>
          <a:xfrm>
            <a:off x="9436100" y="2705100"/>
            <a:ext cx="1600200" cy="190500"/>
          </a:xfrm>
          <a:custGeom>
            <a:avLst/>
            <a:gdLst/>
            <a:ahLst/>
            <a:cxnLst/>
            <a:rect l="l" t="t" r="r" b="b"/>
            <a:pathLst>
              <a:path w="126" h="15">
                <a:moveTo>
                  <a:pt x="0" y="11"/>
                </a:moveTo>
                <a:lnTo>
                  <a:pt x="5" y="10"/>
                </a:lnTo>
                <a:lnTo>
                  <a:pt x="9" y="0"/>
                </a:lnTo>
                <a:lnTo>
                  <a:pt x="16" y="8"/>
                </a:lnTo>
                <a:lnTo>
                  <a:pt x="26" y="13"/>
                </a:lnTo>
                <a:lnTo>
                  <a:pt x="37" y="15"/>
                </a:lnTo>
                <a:lnTo>
                  <a:pt x="43" y="12"/>
                </a:lnTo>
                <a:lnTo>
                  <a:pt x="47" y="13"/>
                </a:lnTo>
                <a:lnTo>
                  <a:pt x="55" y="14"/>
                </a:lnTo>
                <a:lnTo>
                  <a:pt x="63" y="12"/>
                </a:lnTo>
                <a:lnTo>
                  <a:pt x="63" y="11"/>
                </a:lnTo>
                <a:lnTo>
                  <a:pt x="68" y="10"/>
                </a:lnTo>
                <a:lnTo>
                  <a:pt x="72" y="0"/>
                </a:lnTo>
                <a:lnTo>
                  <a:pt x="79" y="8"/>
                </a:lnTo>
                <a:lnTo>
                  <a:pt x="89" y="13"/>
                </a:lnTo>
                <a:lnTo>
                  <a:pt x="100" y="15"/>
                </a:lnTo>
                <a:lnTo>
                  <a:pt x="106" y="12"/>
                </a:lnTo>
                <a:lnTo>
                  <a:pt x="110" y="13"/>
                </a:lnTo>
                <a:lnTo>
                  <a:pt x="118" y="14"/>
                </a:lnTo>
                <a:lnTo>
                  <a:pt x="126" y="12"/>
                </a:lnTo>
              </a:path>
            </a:pathLst>
          </a:custGeom>
          <a:noFill/>
          <a:ln w="13970">
            <a:solidFill>
              <a:srgbClr val="D82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2" name="Connector 241"/>
          <p:cNvCxnSpPr/>
          <p:nvPr/>
        </p:nvCxnSpPr>
        <p:spPr>
          <a:xfrm>
            <a:off x="9779000" y="1993900"/>
            <a:ext cx="0" cy="1130300"/>
          </a:xfrm>
          <a:prstGeom prst="line">
            <a:avLst/>
          </a:prstGeom>
          <a:ln w="9525">
            <a:solidFill>
              <a:srgbClr val="2D6CD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Connector 242"/>
          <p:cNvCxnSpPr/>
          <p:nvPr/>
        </p:nvCxnSpPr>
        <p:spPr>
          <a:xfrm>
            <a:off x="10363200" y="2476500"/>
            <a:ext cx="0" cy="673100"/>
          </a:xfrm>
          <a:prstGeom prst="line">
            <a:avLst/>
          </a:prstGeom>
          <a:ln w="9525">
            <a:solidFill>
              <a:srgbClr val="D8202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4" name="Oval 243"/>
          <p:cNvSpPr/>
          <p:nvPr/>
        </p:nvSpPr>
        <p:spPr>
          <a:xfrm>
            <a:off x="9738360" y="2120900"/>
            <a:ext cx="81280" cy="81280"/>
          </a:xfrm>
          <a:prstGeom prst="ellipse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10322560" y="2667000"/>
            <a:ext cx="81280" cy="81280"/>
          </a:xfrm>
          <a:prstGeom prst="ellipse">
            <a:avLst/>
          </a:prstGeom>
          <a:solidFill>
            <a:srgbClr val="D82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TextBox 245"/>
          <p:cNvSpPr txBox="1"/>
          <p:nvPr/>
        </p:nvSpPr>
        <p:spPr>
          <a:xfrm>
            <a:off x="9677400" y="1816100"/>
            <a:ext cx="203200" cy="1270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ctr"/>
            <a:r>
              <a:rPr sz="800" b="1" i="0">
                <a:solidFill>
                  <a:srgbClr val="2D6CDF"/>
                </a:solidFill>
                <a:latin typeface="Arial"/>
              </a:rPr>
              <a:t>R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10160000" y="3060700"/>
            <a:ext cx="431800" cy="1397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ctr"/>
            <a:r>
              <a:rPr sz="750" b="1" i="0">
                <a:solidFill>
                  <a:srgbClr val="D82020"/>
                </a:solidFill>
                <a:latin typeface="Arial"/>
              </a:rPr>
              <a:t>onset</a:t>
            </a:r>
          </a:p>
        </p:txBody>
      </p:sp>
      <p:cxnSp>
        <p:nvCxnSpPr>
          <p:cNvPr id="248" name="Connector 247"/>
          <p:cNvCxnSpPr/>
          <p:nvPr/>
        </p:nvCxnSpPr>
        <p:spPr>
          <a:xfrm>
            <a:off x="9817100" y="3200400"/>
            <a:ext cx="444500" cy="0"/>
          </a:xfrm>
          <a:prstGeom prst="line">
            <a:avLst/>
          </a:prstGeom>
          <a:ln w="11430">
            <a:solidFill>
              <a:srgbClr val="007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9" name="Freeform 248"/>
          <p:cNvSpPr/>
          <p:nvPr/>
        </p:nvSpPr>
        <p:spPr>
          <a:xfrm>
            <a:off x="10261600" y="3175000"/>
            <a:ext cx="63500" cy="50800"/>
          </a:xfrm>
          <a:custGeom>
            <a:avLst/>
            <a:gdLst/>
            <a:ahLst/>
            <a:cxnLst/>
            <a:rect l="l" t="t" r="r" b="b"/>
            <a:pathLst>
              <a:path w="5" h="4">
                <a:moveTo>
                  <a:pt x="5" y="2"/>
                </a:moveTo>
                <a:lnTo>
                  <a:pt x="0" y="4"/>
                </a:lnTo>
                <a:lnTo>
                  <a:pt x="0" y="0"/>
                </a:lnTo>
                <a:close/>
              </a:path>
            </a:pathLst>
          </a:custGeom>
          <a:solidFill>
            <a:srgbClr val="007A32"/>
          </a:solidFill>
          <a:ln w="6350">
            <a:solidFill>
              <a:srgbClr val="007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0" name="Connector 249"/>
          <p:cNvCxnSpPr/>
          <p:nvPr/>
        </p:nvCxnSpPr>
        <p:spPr>
          <a:xfrm flipH="1">
            <a:off x="9880600" y="3200400"/>
            <a:ext cx="444500" cy="0"/>
          </a:xfrm>
          <a:prstGeom prst="line">
            <a:avLst/>
          </a:prstGeom>
          <a:ln w="11430">
            <a:solidFill>
              <a:srgbClr val="007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1" name="Freeform 250"/>
          <p:cNvSpPr/>
          <p:nvPr/>
        </p:nvSpPr>
        <p:spPr>
          <a:xfrm>
            <a:off x="9817100" y="3175000"/>
            <a:ext cx="63500" cy="50800"/>
          </a:xfrm>
          <a:custGeom>
            <a:avLst/>
            <a:gdLst/>
            <a:ahLst/>
            <a:cxnLst/>
            <a:rect l="l" t="t" r="r" b="b"/>
            <a:pathLst>
              <a:path w="5" h="4">
                <a:moveTo>
                  <a:pt x="0" y="2"/>
                </a:moveTo>
                <a:lnTo>
                  <a:pt x="5" y="0"/>
                </a:lnTo>
                <a:lnTo>
                  <a:pt x="5" y="4"/>
                </a:lnTo>
                <a:close/>
              </a:path>
            </a:pathLst>
          </a:custGeom>
          <a:solidFill>
            <a:srgbClr val="007A32"/>
          </a:solidFill>
          <a:ln w="6350">
            <a:solidFill>
              <a:srgbClr val="007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TextBox 251"/>
          <p:cNvSpPr txBox="1"/>
          <p:nvPr/>
        </p:nvSpPr>
        <p:spPr>
          <a:xfrm>
            <a:off x="9867900" y="3238500"/>
            <a:ext cx="406400" cy="1270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ctr"/>
            <a:r>
              <a:rPr sz="712" b="1" i="0">
                <a:solidFill>
                  <a:srgbClr val="007A32"/>
                </a:solidFill>
                <a:latin typeface="Arial"/>
              </a:rPr>
              <a:t>apparent delay</a:t>
            </a:r>
          </a:p>
        </p:txBody>
      </p:sp>
      <p:sp>
        <p:nvSpPr>
          <p:cNvPr id="253" name="Rounded Rectangle 252"/>
          <p:cNvSpPr/>
          <p:nvPr/>
        </p:nvSpPr>
        <p:spPr>
          <a:xfrm>
            <a:off x="9194800" y="3365500"/>
            <a:ext cx="2044700" cy="647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C4D1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TextBox 253"/>
          <p:cNvSpPr txBox="1"/>
          <p:nvPr/>
        </p:nvSpPr>
        <p:spPr>
          <a:xfrm>
            <a:off x="9271000" y="3454400"/>
            <a:ext cx="800100" cy="1651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l"/>
            <a:r>
              <a:rPr sz="925" b="1" i="0">
                <a:solidFill>
                  <a:srgbClr val="062B68"/>
                </a:solidFill>
                <a:latin typeface="Arial"/>
              </a:rPr>
              <a:t>SQI traces</a:t>
            </a:r>
          </a:p>
        </p:txBody>
      </p:sp>
      <p:sp>
        <p:nvSpPr>
          <p:cNvPr id="255" name="Freeform 254"/>
          <p:cNvSpPr/>
          <p:nvPr/>
        </p:nvSpPr>
        <p:spPr>
          <a:xfrm>
            <a:off x="9359900" y="3759200"/>
            <a:ext cx="660400" cy="25400"/>
          </a:xfrm>
          <a:custGeom>
            <a:avLst/>
            <a:gdLst/>
            <a:ahLst/>
            <a:cxnLst/>
            <a:rect l="l" t="t" r="r" b="b"/>
            <a:pathLst>
              <a:path w="52" h="2">
                <a:moveTo>
                  <a:pt x="0" y="1"/>
                </a:moveTo>
                <a:lnTo>
                  <a:pt x="3" y="2"/>
                </a:lnTo>
                <a:lnTo>
                  <a:pt x="5" y="2"/>
                </a:lnTo>
                <a:lnTo>
                  <a:pt x="8" y="2"/>
                </a:lnTo>
                <a:lnTo>
                  <a:pt x="10" y="2"/>
                </a:lnTo>
                <a:lnTo>
                  <a:pt x="13" y="2"/>
                </a:lnTo>
                <a:lnTo>
                  <a:pt x="16" y="2"/>
                </a:lnTo>
                <a:lnTo>
                  <a:pt x="18" y="2"/>
                </a:lnTo>
                <a:lnTo>
                  <a:pt x="21" y="2"/>
                </a:lnTo>
                <a:lnTo>
                  <a:pt x="23" y="2"/>
                </a:lnTo>
                <a:lnTo>
                  <a:pt x="26" y="1"/>
                </a:lnTo>
                <a:lnTo>
                  <a:pt x="29" y="1"/>
                </a:lnTo>
                <a:lnTo>
                  <a:pt x="31" y="0"/>
                </a:lnTo>
                <a:lnTo>
                  <a:pt x="34" y="0"/>
                </a:lnTo>
                <a:lnTo>
                  <a:pt x="36" y="0"/>
                </a:lnTo>
                <a:lnTo>
                  <a:pt x="39" y="0"/>
                </a:lnTo>
                <a:lnTo>
                  <a:pt x="42" y="0"/>
                </a:lnTo>
                <a:lnTo>
                  <a:pt x="44" y="0"/>
                </a:lnTo>
                <a:lnTo>
                  <a:pt x="47" y="0"/>
                </a:lnTo>
                <a:lnTo>
                  <a:pt x="49" y="1"/>
                </a:lnTo>
                <a:lnTo>
                  <a:pt x="52" y="1"/>
                </a:lnTo>
              </a:path>
            </a:pathLst>
          </a:custGeom>
          <a:noFill/>
          <a:ln w="11430">
            <a:solidFill>
              <a:srgbClr val="007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Freeform 255"/>
          <p:cNvSpPr/>
          <p:nvPr/>
        </p:nvSpPr>
        <p:spPr>
          <a:xfrm>
            <a:off x="10223500" y="3759200"/>
            <a:ext cx="660400" cy="25400"/>
          </a:xfrm>
          <a:custGeom>
            <a:avLst/>
            <a:gdLst/>
            <a:ahLst/>
            <a:cxnLst/>
            <a:rect l="l" t="t" r="r" b="b"/>
            <a:pathLst>
              <a:path w="52" h="2">
                <a:moveTo>
                  <a:pt x="0" y="1"/>
                </a:moveTo>
                <a:lnTo>
                  <a:pt x="3" y="2"/>
                </a:lnTo>
                <a:lnTo>
                  <a:pt x="5" y="2"/>
                </a:lnTo>
                <a:lnTo>
                  <a:pt x="8" y="2"/>
                </a:lnTo>
                <a:lnTo>
                  <a:pt x="10" y="2"/>
                </a:lnTo>
                <a:lnTo>
                  <a:pt x="13" y="2"/>
                </a:lnTo>
                <a:lnTo>
                  <a:pt x="16" y="2"/>
                </a:lnTo>
                <a:lnTo>
                  <a:pt x="18" y="2"/>
                </a:lnTo>
                <a:lnTo>
                  <a:pt x="21" y="2"/>
                </a:lnTo>
                <a:lnTo>
                  <a:pt x="23" y="2"/>
                </a:lnTo>
                <a:lnTo>
                  <a:pt x="26" y="1"/>
                </a:lnTo>
                <a:lnTo>
                  <a:pt x="29" y="1"/>
                </a:lnTo>
                <a:lnTo>
                  <a:pt x="31" y="0"/>
                </a:lnTo>
                <a:lnTo>
                  <a:pt x="34" y="0"/>
                </a:lnTo>
                <a:lnTo>
                  <a:pt x="36" y="0"/>
                </a:lnTo>
                <a:lnTo>
                  <a:pt x="39" y="0"/>
                </a:lnTo>
                <a:lnTo>
                  <a:pt x="42" y="0"/>
                </a:lnTo>
                <a:lnTo>
                  <a:pt x="44" y="0"/>
                </a:lnTo>
                <a:lnTo>
                  <a:pt x="47" y="0"/>
                </a:lnTo>
                <a:lnTo>
                  <a:pt x="49" y="1"/>
                </a:lnTo>
                <a:lnTo>
                  <a:pt x="52" y="1"/>
                </a:lnTo>
              </a:path>
            </a:pathLst>
          </a:custGeom>
          <a:noFill/>
          <a:ln w="11430">
            <a:solidFill>
              <a:srgbClr val="E821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TextBox 256"/>
          <p:cNvSpPr txBox="1"/>
          <p:nvPr/>
        </p:nvSpPr>
        <p:spPr>
          <a:xfrm>
            <a:off x="9423400" y="3848100"/>
            <a:ext cx="482600" cy="1143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ctr"/>
            <a:r>
              <a:rPr sz="687" b="1" i="0">
                <a:solidFill>
                  <a:srgbClr val="007A32"/>
                </a:solidFill>
                <a:latin typeface="Arial"/>
              </a:rPr>
              <a:t>ECG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10299700" y="3848100"/>
            <a:ext cx="482600" cy="1143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ctr"/>
            <a:r>
              <a:rPr sz="687" b="1" i="0">
                <a:solidFill>
                  <a:srgbClr val="E82128"/>
                </a:solidFill>
                <a:latin typeface="Arial"/>
              </a:rPr>
              <a:t>PPG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9220200" y="4165600"/>
            <a:ext cx="2070100" cy="9271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t">
            <a:spAutoFit/>
          </a:bodyPr>
          <a:lstStyle/>
          <a:p>
            <a:pPr algn="l"/>
            <a:r>
              <a:rPr sz="1068" b="1" i="0">
                <a:solidFill>
                  <a:srgbClr val="111111"/>
                </a:solidFill>
                <a:latin typeface="Arial"/>
              </a:rPr>
              <a:t>• Common crop and finite samples</a:t>
            </a:r>
          </a:p>
          <a:p>
            <a:pPr algn="l"/>
            <a:r>
              <a:rPr sz="1068" b="1" i="0">
                <a:solidFill>
                  <a:srgbClr val="111111"/>
                </a:solidFill>
                <a:latin typeface="Arial"/>
              </a:rPr>
              <a:t/>
            </a:r>
          </a:p>
          <a:p>
            <a:pPr algn="l"/>
            <a:r>
              <a:rPr sz="1068" b="1" i="0">
                <a:solidFill>
                  <a:srgbClr val="111111"/>
                </a:solidFill>
                <a:latin typeface="Arial"/>
              </a:rPr>
              <a:t>• Window-level SQI</a:t>
            </a:r>
          </a:p>
          <a:p>
            <a:pPr algn="l"/>
            <a:r>
              <a:rPr sz="1068" b="1" i="0">
                <a:solidFill>
                  <a:srgbClr val="111111"/>
                </a:solidFill>
                <a:latin typeface="Arial"/>
              </a:rPr>
              <a:t/>
            </a:r>
          </a:p>
          <a:p>
            <a:pPr algn="l"/>
            <a:r>
              <a:rPr sz="1068" b="1" i="0">
                <a:solidFill>
                  <a:srgbClr val="111111"/>
                </a:solidFill>
                <a:latin typeface="Arial"/>
              </a:rPr>
              <a:t>• Apparent PAT (audit only)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11811000" y="1752600"/>
            <a:ext cx="381000" cy="2286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l"/>
            <a:r>
              <a:rPr sz="1312" b="0" i="0">
                <a:solidFill>
                  <a:srgbClr val="111111"/>
                </a:solidFill>
                <a:latin typeface="Arial"/>
              </a:rPr>
              <a:t>...</a:t>
            </a:r>
          </a:p>
        </p:txBody>
      </p:sp>
      <p:cxnSp>
        <p:nvCxnSpPr>
          <p:cNvPr id="261" name="Connector 260"/>
          <p:cNvCxnSpPr/>
          <p:nvPr/>
        </p:nvCxnSpPr>
        <p:spPr>
          <a:xfrm>
            <a:off x="12217400" y="1879600"/>
            <a:ext cx="0" cy="254000"/>
          </a:xfrm>
          <a:prstGeom prst="line">
            <a:avLst/>
          </a:prstGeom>
          <a:ln w="11430">
            <a:solidFill>
              <a:srgbClr val="062B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Connector 261"/>
          <p:cNvCxnSpPr/>
          <p:nvPr/>
        </p:nvCxnSpPr>
        <p:spPr>
          <a:xfrm>
            <a:off x="13423900" y="1879600"/>
            <a:ext cx="0" cy="254000"/>
          </a:xfrm>
          <a:prstGeom prst="line">
            <a:avLst/>
          </a:prstGeom>
          <a:ln w="11430">
            <a:solidFill>
              <a:srgbClr val="062B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Connector 262"/>
          <p:cNvCxnSpPr/>
          <p:nvPr/>
        </p:nvCxnSpPr>
        <p:spPr>
          <a:xfrm>
            <a:off x="12230100" y="2006600"/>
            <a:ext cx="1104900" cy="0"/>
          </a:xfrm>
          <a:prstGeom prst="line">
            <a:avLst/>
          </a:prstGeom>
          <a:ln w="13970">
            <a:solidFill>
              <a:srgbClr val="062B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4" name="Freeform 263"/>
          <p:cNvSpPr/>
          <p:nvPr/>
        </p:nvSpPr>
        <p:spPr>
          <a:xfrm>
            <a:off x="13335000" y="19685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6" y="3"/>
                </a:moveTo>
                <a:lnTo>
                  <a:pt x="0" y="6"/>
                </a:lnTo>
                <a:lnTo>
                  <a:pt x="0" y="0"/>
                </a:lnTo>
                <a:close/>
              </a:path>
            </a:pathLst>
          </a:custGeom>
          <a:solidFill>
            <a:srgbClr val="062B68"/>
          </a:solidFill>
          <a:ln w="6350">
            <a:solidFill>
              <a:srgbClr val="062B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TextBox 264"/>
          <p:cNvSpPr txBox="1"/>
          <p:nvPr/>
        </p:nvSpPr>
        <p:spPr>
          <a:xfrm>
            <a:off x="12357100" y="1676400"/>
            <a:ext cx="1041400" cy="2413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ctr"/>
            <a:r>
              <a:rPr sz="1337" b="1" i="0">
                <a:solidFill>
                  <a:srgbClr val="062B68"/>
                </a:solidFill>
                <a:latin typeface="Arial"/>
              </a:rPr>
              <a:t>8 s window</a:t>
            </a:r>
          </a:p>
        </p:txBody>
      </p:sp>
      <p:sp>
        <p:nvSpPr>
          <p:cNvPr id="266" name="TextBox 265"/>
          <p:cNvSpPr txBox="1"/>
          <p:nvPr/>
        </p:nvSpPr>
        <p:spPr>
          <a:xfrm>
            <a:off x="13589000" y="1752600"/>
            <a:ext cx="381000" cy="2286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l"/>
            <a:r>
              <a:rPr sz="1312" b="0" i="0">
                <a:solidFill>
                  <a:srgbClr val="111111"/>
                </a:solidFill>
                <a:latin typeface="Arial"/>
              </a:rPr>
              <a:t>...</a:t>
            </a:r>
          </a:p>
        </p:txBody>
      </p:sp>
      <p:sp>
        <p:nvSpPr>
          <p:cNvPr id="267" name="TextBox 266"/>
          <p:cNvSpPr txBox="1"/>
          <p:nvPr/>
        </p:nvSpPr>
        <p:spPr>
          <a:xfrm>
            <a:off x="11798300" y="2616200"/>
            <a:ext cx="558800" cy="2159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l"/>
            <a:r>
              <a:rPr sz="1337" b="1" i="0">
                <a:solidFill>
                  <a:srgbClr val="111111"/>
                </a:solidFill>
                <a:latin typeface="Arial"/>
              </a:rPr>
              <a:t>BP</a:t>
            </a:r>
          </a:p>
        </p:txBody>
      </p:sp>
      <p:cxnSp>
        <p:nvCxnSpPr>
          <p:cNvPr id="268" name="Connector 267"/>
          <p:cNvCxnSpPr/>
          <p:nvPr/>
        </p:nvCxnSpPr>
        <p:spPr>
          <a:xfrm>
            <a:off x="12230100" y="2235200"/>
            <a:ext cx="0" cy="838200"/>
          </a:xfrm>
          <a:prstGeom prst="line">
            <a:avLst/>
          </a:prstGeom>
          <a:ln w="10160">
            <a:solidFill>
              <a:srgbClr val="B6C1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Connector 268"/>
          <p:cNvCxnSpPr/>
          <p:nvPr/>
        </p:nvCxnSpPr>
        <p:spPr>
          <a:xfrm>
            <a:off x="13423900" y="2235200"/>
            <a:ext cx="0" cy="838200"/>
          </a:xfrm>
          <a:prstGeom prst="line">
            <a:avLst/>
          </a:prstGeom>
          <a:ln w="10160">
            <a:solidFill>
              <a:srgbClr val="B6C1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0" name="Freeform 269"/>
          <p:cNvSpPr/>
          <p:nvPr/>
        </p:nvSpPr>
        <p:spPr>
          <a:xfrm>
            <a:off x="12230100" y="2501900"/>
            <a:ext cx="1600200" cy="304800"/>
          </a:xfrm>
          <a:custGeom>
            <a:avLst/>
            <a:gdLst/>
            <a:ahLst/>
            <a:cxnLst/>
            <a:rect l="l" t="t" r="r" b="b"/>
            <a:pathLst>
              <a:path w="126" h="24">
                <a:moveTo>
                  <a:pt x="0" y="22"/>
                </a:moveTo>
                <a:lnTo>
                  <a:pt x="3" y="20"/>
                </a:lnTo>
                <a:lnTo>
                  <a:pt x="6" y="0"/>
                </a:lnTo>
                <a:lnTo>
                  <a:pt x="9" y="10"/>
                </a:lnTo>
                <a:lnTo>
                  <a:pt x="13" y="18"/>
                </a:lnTo>
                <a:lnTo>
                  <a:pt x="16" y="23"/>
                </a:lnTo>
                <a:lnTo>
                  <a:pt x="20" y="19"/>
                </a:lnTo>
                <a:lnTo>
                  <a:pt x="22" y="22"/>
                </a:lnTo>
                <a:lnTo>
                  <a:pt x="27" y="24"/>
                </a:lnTo>
                <a:lnTo>
                  <a:pt x="31" y="21"/>
                </a:lnTo>
                <a:lnTo>
                  <a:pt x="31" y="22"/>
                </a:lnTo>
                <a:lnTo>
                  <a:pt x="35" y="20"/>
                </a:lnTo>
                <a:lnTo>
                  <a:pt x="37" y="0"/>
                </a:lnTo>
                <a:lnTo>
                  <a:pt x="41" y="10"/>
                </a:lnTo>
                <a:lnTo>
                  <a:pt x="44" y="18"/>
                </a:lnTo>
                <a:lnTo>
                  <a:pt x="48" y="23"/>
                </a:lnTo>
                <a:lnTo>
                  <a:pt x="51" y="19"/>
                </a:lnTo>
                <a:lnTo>
                  <a:pt x="54" y="22"/>
                </a:lnTo>
                <a:lnTo>
                  <a:pt x="59" y="24"/>
                </a:lnTo>
                <a:lnTo>
                  <a:pt x="63" y="21"/>
                </a:lnTo>
                <a:lnTo>
                  <a:pt x="63" y="22"/>
                </a:lnTo>
                <a:lnTo>
                  <a:pt x="66" y="20"/>
                </a:lnTo>
                <a:lnTo>
                  <a:pt x="69" y="0"/>
                </a:lnTo>
                <a:lnTo>
                  <a:pt x="72" y="10"/>
                </a:lnTo>
                <a:lnTo>
                  <a:pt x="76" y="18"/>
                </a:lnTo>
                <a:lnTo>
                  <a:pt x="79" y="23"/>
                </a:lnTo>
                <a:lnTo>
                  <a:pt x="83" y="19"/>
                </a:lnTo>
                <a:lnTo>
                  <a:pt x="85" y="22"/>
                </a:lnTo>
                <a:lnTo>
                  <a:pt x="90" y="24"/>
                </a:lnTo>
                <a:lnTo>
                  <a:pt x="95" y="21"/>
                </a:lnTo>
                <a:lnTo>
                  <a:pt x="95" y="22"/>
                </a:lnTo>
                <a:lnTo>
                  <a:pt x="98" y="20"/>
                </a:lnTo>
                <a:lnTo>
                  <a:pt x="100" y="0"/>
                </a:lnTo>
                <a:lnTo>
                  <a:pt x="104" y="10"/>
                </a:lnTo>
                <a:lnTo>
                  <a:pt x="107" y="18"/>
                </a:lnTo>
                <a:lnTo>
                  <a:pt x="111" y="23"/>
                </a:lnTo>
                <a:lnTo>
                  <a:pt x="114" y="19"/>
                </a:lnTo>
                <a:lnTo>
                  <a:pt x="117" y="22"/>
                </a:lnTo>
                <a:lnTo>
                  <a:pt x="122" y="24"/>
                </a:lnTo>
                <a:lnTo>
                  <a:pt x="126" y="21"/>
                </a:lnTo>
              </a:path>
            </a:pathLst>
          </a:custGeom>
          <a:noFill/>
          <a:ln w="165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Oval 270"/>
          <p:cNvSpPr/>
          <p:nvPr/>
        </p:nvSpPr>
        <p:spPr>
          <a:xfrm>
            <a:off x="12115800" y="3276600"/>
            <a:ext cx="88900" cy="88900"/>
          </a:xfrm>
          <a:prstGeom prst="ellipse">
            <a:avLst/>
          </a:prstGeom>
          <a:solidFill>
            <a:srgbClr val="E82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Oval 271"/>
          <p:cNvSpPr/>
          <p:nvPr/>
        </p:nvSpPr>
        <p:spPr>
          <a:xfrm>
            <a:off x="13004800" y="3276600"/>
            <a:ext cx="88900" cy="88900"/>
          </a:xfrm>
          <a:prstGeom prst="ellipse">
            <a:avLst/>
          </a:prstGeom>
          <a:solidFill>
            <a:srgbClr val="1D5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Oval 272"/>
          <p:cNvSpPr/>
          <p:nvPr/>
        </p:nvSpPr>
        <p:spPr>
          <a:xfrm>
            <a:off x="12458700" y="3276600"/>
            <a:ext cx="88900" cy="88900"/>
          </a:xfrm>
          <a:prstGeom prst="ellipse">
            <a:avLst/>
          </a:prstGeom>
          <a:solidFill>
            <a:srgbClr val="E82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Oval 273"/>
          <p:cNvSpPr/>
          <p:nvPr/>
        </p:nvSpPr>
        <p:spPr>
          <a:xfrm>
            <a:off x="13347700" y="3276600"/>
            <a:ext cx="88900" cy="88900"/>
          </a:xfrm>
          <a:prstGeom prst="ellipse">
            <a:avLst/>
          </a:prstGeom>
          <a:solidFill>
            <a:srgbClr val="1D5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Oval 274"/>
          <p:cNvSpPr/>
          <p:nvPr/>
        </p:nvSpPr>
        <p:spPr>
          <a:xfrm>
            <a:off x="12801600" y="3276600"/>
            <a:ext cx="88900" cy="88900"/>
          </a:xfrm>
          <a:prstGeom prst="ellipse">
            <a:avLst/>
          </a:prstGeom>
          <a:solidFill>
            <a:srgbClr val="E82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Oval 275"/>
          <p:cNvSpPr/>
          <p:nvPr/>
        </p:nvSpPr>
        <p:spPr>
          <a:xfrm>
            <a:off x="13690600" y="3276600"/>
            <a:ext cx="88900" cy="88900"/>
          </a:xfrm>
          <a:prstGeom prst="ellipse">
            <a:avLst/>
          </a:prstGeom>
          <a:solidFill>
            <a:srgbClr val="1D5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TextBox 276"/>
          <p:cNvSpPr txBox="1"/>
          <p:nvPr/>
        </p:nvSpPr>
        <p:spPr>
          <a:xfrm>
            <a:off x="12103100" y="3390900"/>
            <a:ext cx="685800" cy="3810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ctr"/>
            <a:r>
              <a:rPr sz="1037" b="1" i="0">
                <a:solidFill>
                  <a:srgbClr val="111111"/>
                </a:solidFill>
                <a:latin typeface="Arial"/>
              </a:rPr>
              <a:t>SBP</a:t>
            </a:r>
          </a:p>
          <a:p>
            <a:pPr algn="ctr"/>
            <a:r>
              <a:rPr sz="1037" b="1" i="0">
                <a:solidFill>
                  <a:srgbClr val="111111"/>
                </a:solidFill>
                <a:latin typeface="Arial"/>
              </a:rPr>
              <a:t>target</a:t>
            </a:r>
          </a:p>
        </p:txBody>
      </p:sp>
      <p:sp>
        <p:nvSpPr>
          <p:cNvPr id="278" name="TextBox 277"/>
          <p:cNvSpPr txBox="1"/>
          <p:nvPr/>
        </p:nvSpPr>
        <p:spPr>
          <a:xfrm>
            <a:off x="12992100" y="3390900"/>
            <a:ext cx="685800" cy="3810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ctr"/>
            <a:r>
              <a:rPr sz="1037" b="1" i="0">
                <a:solidFill>
                  <a:srgbClr val="111111"/>
                </a:solidFill>
                <a:latin typeface="Arial"/>
              </a:rPr>
              <a:t>DBP</a:t>
            </a:r>
          </a:p>
          <a:p>
            <a:pPr algn="ctr"/>
            <a:r>
              <a:rPr sz="1037" b="1" i="0">
                <a:solidFill>
                  <a:srgbClr val="111111"/>
                </a:solidFill>
                <a:latin typeface="Arial"/>
              </a:rPr>
              <a:t>target</a:t>
            </a:r>
          </a:p>
        </p:txBody>
      </p:sp>
      <p:sp>
        <p:nvSpPr>
          <p:cNvPr id="279" name="TextBox 278"/>
          <p:cNvSpPr txBox="1"/>
          <p:nvPr/>
        </p:nvSpPr>
        <p:spPr>
          <a:xfrm>
            <a:off x="11709400" y="3810000"/>
            <a:ext cx="2235200" cy="2159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t">
            <a:spAutoFit/>
          </a:bodyPr>
          <a:lstStyle/>
          <a:p>
            <a:pPr algn="l"/>
            <a:r>
              <a:rPr sz="1068" b="1" i="0">
                <a:solidFill>
                  <a:srgbClr val="111111"/>
                </a:solidFill>
                <a:latin typeface="Arial"/>
              </a:rPr>
              <a:t>• Centered 8 s window</a:t>
            </a:r>
          </a:p>
        </p:txBody>
      </p:sp>
      <p:sp>
        <p:nvSpPr>
          <p:cNvPr id="280" name="TextBox 279"/>
          <p:cNvSpPr txBox="1"/>
          <p:nvPr/>
        </p:nvSpPr>
        <p:spPr>
          <a:xfrm>
            <a:off x="11709400" y="4051300"/>
            <a:ext cx="2235200" cy="2159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t">
            <a:spAutoFit/>
          </a:bodyPr>
          <a:lstStyle/>
          <a:p>
            <a:pPr algn="l"/>
            <a:r>
              <a:rPr sz="1068" b="1" i="0">
                <a:solidFill>
                  <a:srgbClr val="111111"/>
                </a:solidFill>
                <a:latin typeface="Arial"/>
              </a:rPr>
              <a:t>• ≥ 6 beats per window</a:t>
            </a:r>
          </a:p>
        </p:txBody>
      </p:sp>
      <p:sp>
        <p:nvSpPr>
          <p:cNvPr id="281" name="TextBox 280"/>
          <p:cNvSpPr txBox="1"/>
          <p:nvPr/>
        </p:nvSpPr>
        <p:spPr>
          <a:xfrm>
            <a:off x="11709400" y="4292600"/>
            <a:ext cx="2235200" cy="2159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t">
            <a:spAutoFit/>
          </a:bodyPr>
          <a:lstStyle/>
          <a:p>
            <a:pPr algn="l"/>
            <a:r>
              <a:rPr sz="1068" b="1" i="0">
                <a:solidFill>
                  <a:srgbClr val="111111"/>
                </a:solidFill>
                <a:latin typeface="Arial"/>
              </a:rPr>
              <a:t>• No timing-based selection</a:t>
            </a:r>
          </a:p>
        </p:txBody>
      </p:sp>
      <p:sp>
        <p:nvSpPr>
          <p:cNvPr id="282" name="TextBox 281"/>
          <p:cNvSpPr txBox="1"/>
          <p:nvPr/>
        </p:nvSpPr>
        <p:spPr>
          <a:xfrm>
            <a:off x="11709400" y="4533900"/>
            <a:ext cx="2235200" cy="2159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t">
            <a:spAutoFit/>
          </a:bodyPr>
          <a:lstStyle/>
          <a:p>
            <a:pPr algn="l"/>
            <a:r>
              <a:rPr sz="1068" b="1" i="0">
                <a:solidFill>
                  <a:srgbClr val="111111"/>
                </a:solidFill>
                <a:latin typeface="Arial"/>
              </a:rPr>
              <a:t>• SBP: aligned scalar target</a:t>
            </a:r>
          </a:p>
        </p:txBody>
      </p:sp>
      <p:sp>
        <p:nvSpPr>
          <p:cNvPr id="283" name="TextBox 282"/>
          <p:cNvSpPr txBox="1"/>
          <p:nvPr/>
        </p:nvSpPr>
        <p:spPr>
          <a:xfrm>
            <a:off x="11709400" y="4775200"/>
            <a:ext cx="2235200" cy="2159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t">
            <a:spAutoFit/>
          </a:bodyPr>
          <a:lstStyle/>
          <a:p>
            <a:pPr algn="l"/>
            <a:r>
              <a:rPr sz="1068" b="1" i="0">
                <a:solidFill>
                  <a:srgbClr val="111111"/>
                </a:solidFill>
                <a:latin typeface="Arial"/>
              </a:rPr>
              <a:t>• DBP: aligned scalar target</a:t>
            </a:r>
          </a:p>
        </p:txBody>
      </p:sp>
      <p:sp>
        <p:nvSpPr>
          <p:cNvPr id="284" name="Oval 283"/>
          <p:cNvSpPr/>
          <p:nvPr/>
        </p:nvSpPr>
        <p:spPr>
          <a:xfrm>
            <a:off x="14427200" y="1739900"/>
            <a:ext cx="177800" cy="17780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1495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Freeform 284"/>
          <p:cNvSpPr/>
          <p:nvPr/>
        </p:nvSpPr>
        <p:spPr>
          <a:xfrm>
            <a:off x="14478000" y="1778000"/>
            <a:ext cx="101600" cy="88900"/>
          </a:xfrm>
          <a:custGeom>
            <a:avLst/>
            <a:gdLst/>
            <a:ahLst/>
            <a:cxnLst/>
            <a:rect l="l" t="t" r="r" b="b"/>
            <a:pathLst>
              <a:path w="8" h="7">
                <a:moveTo>
                  <a:pt x="0" y="4"/>
                </a:moveTo>
                <a:lnTo>
                  <a:pt x="3" y="7"/>
                </a:lnTo>
                <a:lnTo>
                  <a:pt x="8" y="0"/>
                </a:lnTo>
              </a:path>
            </a:pathLst>
          </a:custGeom>
          <a:noFill/>
          <a:ln w="20320">
            <a:solidFill>
              <a:srgbClr val="1495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TextBox 285"/>
          <p:cNvSpPr txBox="1"/>
          <p:nvPr/>
        </p:nvSpPr>
        <p:spPr>
          <a:xfrm>
            <a:off x="14681200" y="1701800"/>
            <a:ext cx="1536700" cy="4572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t">
            <a:spAutoFit/>
          </a:bodyPr>
          <a:lstStyle/>
          <a:p>
            <a:pPr algn="l"/>
            <a:r>
              <a:rPr sz="993" b="1" i="0">
                <a:solidFill>
                  <a:srgbClr val="111111"/>
                </a:solidFill>
                <a:latin typeface="Arial"/>
              </a:rPr>
              <a:t>Source-indexed ECG/PPG</a:t>
            </a:r>
          </a:p>
          <a:p>
            <a:pPr algn="l"/>
            <a:r>
              <a:rPr sz="993" b="1" i="0">
                <a:solidFill>
                  <a:srgbClr val="111111"/>
                </a:solidFill>
                <a:latin typeface="Arial"/>
              </a:rPr>
              <a:t>waveform segments</a:t>
            </a:r>
          </a:p>
        </p:txBody>
      </p:sp>
      <p:sp>
        <p:nvSpPr>
          <p:cNvPr id="287" name="Oval 286"/>
          <p:cNvSpPr/>
          <p:nvPr/>
        </p:nvSpPr>
        <p:spPr>
          <a:xfrm>
            <a:off x="14427200" y="2273300"/>
            <a:ext cx="177800" cy="17780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1495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Freeform 287"/>
          <p:cNvSpPr/>
          <p:nvPr/>
        </p:nvSpPr>
        <p:spPr>
          <a:xfrm>
            <a:off x="14478000" y="2311400"/>
            <a:ext cx="101600" cy="88900"/>
          </a:xfrm>
          <a:custGeom>
            <a:avLst/>
            <a:gdLst/>
            <a:ahLst/>
            <a:cxnLst/>
            <a:rect l="l" t="t" r="r" b="b"/>
            <a:pathLst>
              <a:path w="8" h="7">
                <a:moveTo>
                  <a:pt x="0" y="4"/>
                </a:moveTo>
                <a:lnTo>
                  <a:pt x="3" y="7"/>
                </a:lnTo>
                <a:lnTo>
                  <a:pt x="8" y="0"/>
                </a:lnTo>
              </a:path>
            </a:pathLst>
          </a:custGeom>
          <a:noFill/>
          <a:ln w="20320">
            <a:solidFill>
              <a:srgbClr val="1495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TextBox 288"/>
          <p:cNvSpPr txBox="1"/>
          <p:nvPr/>
        </p:nvSpPr>
        <p:spPr>
          <a:xfrm>
            <a:off x="14681200" y="2235200"/>
            <a:ext cx="1536700" cy="2413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t">
            <a:spAutoFit/>
          </a:bodyPr>
          <a:lstStyle/>
          <a:p>
            <a:pPr algn="l"/>
            <a:r>
              <a:rPr sz="993" b="1" i="0">
                <a:solidFill>
                  <a:srgbClr val="111111"/>
                </a:solidFill>
                <a:latin typeface="Arial"/>
              </a:rPr>
              <a:t>Finite ordered target</a:t>
            </a:r>
          </a:p>
        </p:txBody>
      </p:sp>
      <p:sp>
        <p:nvSpPr>
          <p:cNvPr id="290" name="Oval 289"/>
          <p:cNvSpPr/>
          <p:nvPr/>
        </p:nvSpPr>
        <p:spPr>
          <a:xfrm>
            <a:off x="14427200" y="2578100"/>
            <a:ext cx="177800" cy="17780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1495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Freeform 290"/>
          <p:cNvSpPr/>
          <p:nvPr/>
        </p:nvSpPr>
        <p:spPr>
          <a:xfrm>
            <a:off x="14478000" y="2616200"/>
            <a:ext cx="101600" cy="88900"/>
          </a:xfrm>
          <a:custGeom>
            <a:avLst/>
            <a:gdLst/>
            <a:ahLst/>
            <a:cxnLst/>
            <a:rect l="l" t="t" r="r" b="b"/>
            <a:pathLst>
              <a:path w="8" h="7">
                <a:moveTo>
                  <a:pt x="0" y="4"/>
                </a:moveTo>
                <a:lnTo>
                  <a:pt x="3" y="7"/>
                </a:lnTo>
                <a:lnTo>
                  <a:pt x="8" y="0"/>
                </a:lnTo>
              </a:path>
            </a:pathLst>
          </a:custGeom>
          <a:noFill/>
          <a:ln w="20320">
            <a:solidFill>
              <a:srgbClr val="1495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TextBox 291"/>
          <p:cNvSpPr txBox="1"/>
          <p:nvPr/>
        </p:nvSpPr>
        <p:spPr>
          <a:xfrm>
            <a:off x="14681200" y="2540000"/>
            <a:ext cx="1536700" cy="2413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t">
            <a:spAutoFit/>
          </a:bodyPr>
          <a:lstStyle/>
          <a:p>
            <a:pPr algn="l"/>
            <a:r>
              <a:rPr sz="993" b="1" i="0">
                <a:solidFill>
                  <a:srgbClr val="111111"/>
                </a:solidFill>
                <a:latin typeface="Arial"/>
              </a:rPr>
              <a:t>0 &lt; DBP &lt; SBP</a:t>
            </a:r>
          </a:p>
        </p:txBody>
      </p:sp>
      <p:sp>
        <p:nvSpPr>
          <p:cNvPr id="293" name="Oval 292"/>
          <p:cNvSpPr/>
          <p:nvPr/>
        </p:nvSpPr>
        <p:spPr>
          <a:xfrm>
            <a:off x="14427200" y="2882900"/>
            <a:ext cx="177800" cy="17780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1495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Freeform 293"/>
          <p:cNvSpPr/>
          <p:nvPr/>
        </p:nvSpPr>
        <p:spPr>
          <a:xfrm>
            <a:off x="14478000" y="2921000"/>
            <a:ext cx="101600" cy="88900"/>
          </a:xfrm>
          <a:custGeom>
            <a:avLst/>
            <a:gdLst/>
            <a:ahLst/>
            <a:cxnLst/>
            <a:rect l="l" t="t" r="r" b="b"/>
            <a:pathLst>
              <a:path w="8" h="7">
                <a:moveTo>
                  <a:pt x="0" y="4"/>
                </a:moveTo>
                <a:lnTo>
                  <a:pt x="3" y="7"/>
                </a:lnTo>
                <a:lnTo>
                  <a:pt x="8" y="0"/>
                </a:lnTo>
              </a:path>
            </a:pathLst>
          </a:custGeom>
          <a:noFill/>
          <a:ln w="20320">
            <a:solidFill>
              <a:srgbClr val="1495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TextBox 294"/>
          <p:cNvSpPr txBox="1"/>
          <p:nvPr/>
        </p:nvSpPr>
        <p:spPr>
          <a:xfrm>
            <a:off x="14681200" y="2844800"/>
            <a:ext cx="1536700" cy="2413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t">
            <a:spAutoFit/>
          </a:bodyPr>
          <a:lstStyle/>
          <a:p>
            <a:pPr algn="l"/>
            <a:r>
              <a:rPr sz="993" b="1" i="0">
                <a:solidFill>
                  <a:srgbClr val="111111"/>
                </a:solidFill>
                <a:latin typeface="Arial"/>
              </a:rPr>
              <a:t>Formation failures logged</a:t>
            </a:r>
          </a:p>
        </p:txBody>
      </p:sp>
      <p:sp>
        <p:nvSpPr>
          <p:cNvPr id="296" name="Oval 295"/>
          <p:cNvSpPr/>
          <p:nvPr/>
        </p:nvSpPr>
        <p:spPr>
          <a:xfrm>
            <a:off x="14427200" y="3187700"/>
            <a:ext cx="177800" cy="17780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1495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Freeform 296"/>
          <p:cNvSpPr/>
          <p:nvPr/>
        </p:nvSpPr>
        <p:spPr>
          <a:xfrm>
            <a:off x="14478000" y="3225800"/>
            <a:ext cx="101600" cy="88900"/>
          </a:xfrm>
          <a:custGeom>
            <a:avLst/>
            <a:gdLst/>
            <a:ahLst/>
            <a:cxnLst/>
            <a:rect l="l" t="t" r="r" b="b"/>
            <a:pathLst>
              <a:path w="8" h="7">
                <a:moveTo>
                  <a:pt x="0" y="4"/>
                </a:moveTo>
                <a:lnTo>
                  <a:pt x="3" y="7"/>
                </a:lnTo>
                <a:lnTo>
                  <a:pt x="8" y="0"/>
                </a:lnTo>
              </a:path>
            </a:pathLst>
          </a:custGeom>
          <a:noFill/>
          <a:ln w="20320">
            <a:solidFill>
              <a:srgbClr val="1495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TextBox 297"/>
          <p:cNvSpPr txBox="1"/>
          <p:nvPr/>
        </p:nvSpPr>
        <p:spPr>
          <a:xfrm>
            <a:off x="14681200" y="3149600"/>
            <a:ext cx="1536700" cy="4572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t">
            <a:spAutoFit/>
          </a:bodyPr>
          <a:lstStyle/>
          <a:p>
            <a:pPr algn="l"/>
            <a:r>
              <a:rPr sz="993" b="1" i="0">
                <a:solidFill>
                  <a:srgbClr val="111111"/>
                </a:solidFill>
                <a:latin typeface="Arial"/>
              </a:rPr>
              <a:t>SQI threshold</a:t>
            </a:r>
          </a:p>
          <a:p>
            <a:pPr algn="l"/>
            <a:r>
              <a:rPr sz="993" b="1" i="0">
                <a:solidFill>
                  <a:srgbClr val="111111"/>
                </a:solidFill>
                <a:latin typeface="Arial"/>
              </a:rPr>
              <a:t>min SQI ≥ 0.40</a:t>
            </a:r>
          </a:p>
          <a:p>
            <a:pPr algn="l"/>
            <a:r>
              <a:rPr sz="993" b="1" i="0">
                <a:solidFill>
                  <a:srgbClr val="111111"/>
                </a:solidFill>
                <a:latin typeface="Arial"/>
              </a:rPr>
              <a:t>max SQI ≥ 0.55</a:t>
            </a:r>
          </a:p>
        </p:txBody>
      </p:sp>
      <p:sp>
        <p:nvSpPr>
          <p:cNvPr id="299" name="Oval 298"/>
          <p:cNvSpPr/>
          <p:nvPr/>
        </p:nvSpPr>
        <p:spPr>
          <a:xfrm>
            <a:off x="14427200" y="3721100"/>
            <a:ext cx="177800" cy="17780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1495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Freeform 299"/>
          <p:cNvSpPr/>
          <p:nvPr/>
        </p:nvSpPr>
        <p:spPr>
          <a:xfrm>
            <a:off x="14478000" y="3759200"/>
            <a:ext cx="101600" cy="88900"/>
          </a:xfrm>
          <a:custGeom>
            <a:avLst/>
            <a:gdLst/>
            <a:ahLst/>
            <a:cxnLst/>
            <a:rect l="l" t="t" r="r" b="b"/>
            <a:pathLst>
              <a:path w="8" h="7">
                <a:moveTo>
                  <a:pt x="0" y="4"/>
                </a:moveTo>
                <a:lnTo>
                  <a:pt x="3" y="7"/>
                </a:lnTo>
                <a:lnTo>
                  <a:pt x="8" y="0"/>
                </a:lnTo>
              </a:path>
            </a:pathLst>
          </a:custGeom>
          <a:noFill/>
          <a:ln w="20320">
            <a:solidFill>
              <a:srgbClr val="1495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TextBox 300"/>
          <p:cNvSpPr txBox="1"/>
          <p:nvPr/>
        </p:nvSpPr>
        <p:spPr>
          <a:xfrm>
            <a:off x="14681200" y="3683000"/>
            <a:ext cx="1536700" cy="2413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t">
            <a:spAutoFit/>
          </a:bodyPr>
          <a:lstStyle/>
          <a:p>
            <a:pPr algn="l"/>
            <a:r>
              <a:rPr sz="993" b="1" i="0">
                <a:solidFill>
                  <a:srgbClr val="111111"/>
                </a:solidFill>
                <a:latin typeface="Arial"/>
              </a:rPr>
              <a:t>Adult subjects</a:t>
            </a:r>
          </a:p>
        </p:txBody>
      </p:sp>
      <p:sp>
        <p:nvSpPr>
          <p:cNvPr id="302" name="Oval 301"/>
          <p:cNvSpPr/>
          <p:nvPr/>
        </p:nvSpPr>
        <p:spPr>
          <a:xfrm>
            <a:off x="14427200" y="4025900"/>
            <a:ext cx="177800" cy="17780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1495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Freeform 302"/>
          <p:cNvSpPr/>
          <p:nvPr/>
        </p:nvSpPr>
        <p:spPr>
          <a:xfrm>
            <a:off x="14478000" y="4064000"/>
            <a:ext cx="101600" cy="88900"/>
          </a:xfrm>
          <a:custGeom>
            <a:avLst/>
            <a:gdLst/>
            <a:ahLst/>
            <a:cxnLst/>
            <a:rect l="l" t="t" r="r" b="b"/>
            <a:pathLst>
              <a:path w="8" h="7">
                <a:moveTo>
                  <a:pt x="0" y="4"/>
                </a:moveTo>
                <a:lnTo>
                  <a:pt x="3" y="7"/>
                </a:lnTo>
                <a:lnTo>
                  <a:pt x="8" y="0"/>
                </a:lnTo>
              </a:path>
            </a:pathLst>
          </a:custGeom>
          <a:noFill/>
          <a:ln w="20320">
            <a:solidFill>
              <a:srgbClr val="1495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TextBox 303"/>
          <p:cNvSpPr txBox="1"/>
          <p:nvPr/>
        </p:nvSpPr>
        <p:spPr>
          <a:xfrm>
            <a:off x="14681200" y="3987800"/>
            <a:ext cx="1536700" cy="2413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t">
            <a:spAutoFit/>
          </a:bodyPr>
          <a:lstStyle/>
          <a:p>
            <a:pPr algn="l"/>
            <a:r>
              <a:rPr sz="993" b="1" i="0">
                <a:solidFill>
                  <a:srgbClr val="111111"/>
                </a:solidFill>
                <a:latin typeface="Arial"/>
              </a:rPr>
              <a:t>Shared analysis-grid crop</a:t>
            </a:r>
          </a:p>
        </p:txBody>
      </p:sp>
      <p:sp>
        <p:nvSpPr>
          <p:cNvPr id="305" name="Rounded Rectangle 304"/>
          <p:cNvSpPr/>
          <p:nvPr/>
        </p:nvSpPr>
        <p:spPr>
          <a:xfrm>
            <a:off x="14401800" y="4648200"/>
            <a:ext cx="1828800" cy="736600"/>
          </a:xfrm>
          <a:prstGeom prst="roundRect">
            <a:avLst>
              <a:gd name="adj" fmla="val 8000"/>
            </a:avLst>
          </a:prstGeom>
          <a:solidFill>
            <a:srgbClr val="FFF7F6"/>
          </a:solidFill>
          <a:ln w="13970">
            <a:solidFill>
              <a:srgbClr val="E8212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TextBox 305"/>
          <p:cNvSpPr txBox="1"/>
          <p:nvPr/>
        </p:nvSpPr>
        <p:spPr>
          <a:xfrm>
            <a:off x="14427200" y="4749800"/>
            <a:ext cx="1778000" cy="5334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ctr"/>
            <a:r>
              <a:rPr sz="893" b="1" i="0">
                <a:solidFill>
                  <a:srgbClr val="111111"/>
                </a:solidFill>
                <a:latin typeface="Arial"/>
              </a:rPr>
              <a:t>Primary retained after cap</a:t>
            </a:r>
          </a:p>
          <a:p>
            <a:pPr algn="ctr"/>
            <a:r>
              <a:rPr sz="893" b="1" i="0">
                <a:solidFill>
                  <a:srgbClr val="111111"/>
                </a:solidFill>
                <a:latin typeface="Arial"/>
              </a:rPr>
              <a:t>2,714 subjects; 186,252 windows</a:t>
            </a:r>
          </a:p>
          <a:p>
            <a:pPr algn="ctr"/>
            <a:r>
              <a:rPr sz="893" b="1" i="0">
                <a:solidFill>
                  <a:srgbClr val="111111"/>
                </a:solidFill>
                <a:latin typeface="Arial"/>
              </a:rPr>
              <a:t>max 96 windows per subject</a:t>
            </a:r>
          </a:p>
        </p:txBody>
      </p:sp>
      <p:sp>
        <p:nvSpPr>
          <p:cNvPr id="307" name="Right Arrow 306"/>
          <p:cNvSpPr/>
          <p:nvPr/>
        </p:nvSpPr>
        <p:spPr>
          <a:xfrm>
            <a:off x="6413500" y="2781300"/>
            <a:ext cx="355600" cy="355600"/>
          </a:xfrm>
          <a:prstGeom prst="rightArrow">
            <a:avLst/>
          </a:prstGeom>
          <a:solidFill>
            <a:srgbClr val="062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Right Arrow 307"/>
          <p:cNvSpPr/>
          <p:nvPr/>
        </p:nvSpPr>
        <p:spPr>
          <a:xfrm>
            <a:off x="8877300" y="2781300"/>
            <a:ext cx="355600" cy="355600"/>
          </a:xfrm>
          <a:prstGeom prst="rightArrow">
            <a:avLst/>
          </a:prstGeom>
          <a:solidFill>
            <a:srgbClr val="062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ight Arrow 308"/>
          <p:cNvSpPr/>
          <p:nvPr/>
        </p:nvSpPr>
        <p:spPr>
          <a:xfrm>
            <a:off x="11404600" y="2781300"/>
            <a:ext cx="355600" cy="355600"/>
          </a:xfrm>
          <a:prstGeom prst="rightArrow">
            <a:avLst/>
          </a:prstGeom>
          <a:solidFill>
            <a:srgbClr val="062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Right Arrow 309"/>
          <p:cNvSpPr/>
          <p:nvPr/>
        </p:nvSpPr>
        <p:spPr>
          <a:xfrm>
            <a:off x="14084300" y="2781300"/>
            <a:ext cx="355600" cy="355600"/>
          </a:xfrm>
          <a:prstGeom prst="rightArrow">
            <a:avLst/>
          </a:prstGeom>
          <a:solidFill>
            <a:srgbClr val="062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Right Arrow 310"/>
          <p:cNvSpPr/>
          <p:nvPr/>
        </p:nvSpPr>
        <p:spPr>
          <a:xfrm>
            <a:off x="16154400" y="2755900"/>
            <a:ext cx="457200" cy="355600"/>
          </a:xfrm>
          <a:prstGeom prst="rightArrow">
            <a:avLst/>
          </a:prstGeom>
          <a:solidFill>
            <a:srgbClr val="062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ounded Rectangle 311"/>
          <p:cNvSpPr/>
          <p:nvPr/>
        </p:nvSpPr>
        <p:spPr>
          <a:xfrm>
            <a:off x="16471900" y="101600"/>
            <a:ext cx="5080000" cy="584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B9C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Rectangle 312"/>
          <p:cNvSpPr/>
          <p:nvPr/>
        </p:nvSpPr>
        <p:spPr>
          <a:xfrm>
            <a:off x="16471900" y="101600"/>
            <a:ext cx="5080000" cy="393700"/>
          </a:xfrm>
          <a:prstGeom prst="rect">
            <a:avLst/>
          </a:prstGeom>
          <a:solidFill>
            <a:srgbClr val="062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TextBox 313"/>
          <p:cNvSpPr txBox="1"/>
          <p:nvPr/>
        </p:nvSpPr>
        <p:spPr>
          <a:xfrm>
            <a:off x="16510000" y="127000"/>
            <a:ext cx="5003800" cy="3429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ctr"/>
            <a:r>
              <a:rPr sz="1512" b="1" i="0">
                <a:solidFill>
                  <a:srgbClr val="FFFFFF"/>
                </a:solidFill>
                <a:latin typeface="Arial"/>
              </a:rPr>
              <a:t>C. Subject-Disjoint Evaluation</a:t>
            </a:r>
          </a:p>
        </p:txBody>
      </p:sp>
      <p:sp>
        <p:nvSpPr>
          <p:cNvPr id="315" name="TextBox 314"/>
          <p:cNvSpPr txBox="1"/>
          <p:nvPr/>
        </p:nvSpPr>
        <p:spPr>
          <a:xfrm>
            <a:off x="16827500" y="711200"/>
            <a:ext cx="2413000" cy="2794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l"/>
            <a:r>
              <a:rPr sz="1500" b="1" i="0">
                <a:solidFill>
                  <a:srgbClr val="062B68"/>
                </a:solidFill>
                <a:latin typeface="Arial"/>
              </a:rPr>
              <a:t>5 subject-grouped folds</a:t>
            </a:r>
          </a:p>
        </p:txBody>
      </p:sp>
      <p:sp>
        <p:nvSpPr>
          <p:cNvPr id="316" name="Oval 315"/>
          <p:cNvSpPr/>
          <p:nvPr/>
        </p:nvSpPr>
        <p:spPr>
          <a:xfrm>
            <a:off x="16779214" y="1168400"/>
            <a:ext cx="77266" cy="77266"/>
          </a:xfrm>
          <a:prstGeom prst="ellipse">
            <a:avLst/>
          </a:prstGeom>
          <a:solidFill>
            <a:srgbClr val="1D5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Rounded Rectangle 316"/>
          <p:cNvSpPr/>
          <p:nvPr/>
        </p:nvSpPr>
        <p:spPr>
          <a:xfrm>
            <a:off x="16765346" y="1241704"/>
            <a:ext cx="105003" cy="118872"/>
          </a:xfrm>
          <a:prstGeom prst="roundRect">
            <a:avLst>
              <a:gd name="adj" fmla="val 8000"/>
            </a:avLst>
          </a:prstGeom>
          <a:solidFill>
            <a:srgbClr val="1D5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8" name="Connector 317"/>
          <p:cNvCxnSpPr/>
          <p:nvPr/>
        </p:nvCxnSpPr>
        <p:spPr>
          <a:xfrm flipH="1">
            <a:off x="16744543" y="1273403"/>
            <a:ext cx="20803" cy="73305"/>
          </a:xfrm>
          <a:prstGeom prst="line">
            <a:avLst/>
          </a:prstGeom>
          <a:ln w="22783">
            <a:solidFill>
              <a:srgbClr val="1D5E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9" name="Connector 318"/>
          <p:cNvCxnSpPr/>
          <p:nvPr/>
        </p:nvCxnSpPr>
        <p:spPr>
          <a:xfrm>
            <a:off x="16870349" y="1273403"/>
            <a:ext cx="20803" cy="73305"/>
          </a:xfrm>
          <a:prstGeom prst="line">
            <a:avLst/>
          </a:prstGeom>
          <a:ln w="22783">
            <a:solidFill>
              <a:srgbClr val="1D5E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0" name="Rounded Rectangle 319"/>
          <p:cNvSpPr/>
          <p:nvPr/>
        </p:nvSpPr>
        <p:spPr>
          <a:xfrm>
            <a:off x="16778224" y="1346708"/>
            <a:ext cx="33680" cy="85191"/>
          </a:xfrm>
          <a:prstGeom prst="roundRect">
            <a:avLst>
              <a:gd name="adj" fmla="val 8000"/>
            </a:avLst>
          </a:prstGeom>
          <a:solidFill>
            <a:srgbClr val="1D5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Rounded Rectangle 320"/>
          <p:cNvSpPr/>
          <p:nvPr/>
        </p:nvSpPr>
        <p:spPr>
          <a:xfrm>
            <a:off x="16823791" y="1346708"/>
            <a:ext cx="33680" cy="85191"/>
          </a:xfrm>
          <a:prstGeom prst="roundRect">
            <a:avLst>
              <a:gd name="adj" fmla="val 8000"/>
            </a:avLst>
          </a:prstGeom>
          <a:solidFill>
            <a:srgbClr val="1D5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Oval 321"/>
          <p:cNvSpPr/>
          <p:nvPr/>
        </p:nvSpPr>
        <p:spPr>
          <a:xfrm>
            <a:off x="17122114" y="1168400"/>
            <a:ext cx="77266" cy="77266"/>
          </a:xfrm>
          <a:prstGeom prst="ellipse">
            <a:avLst/>
          </a:prstGeom>
          <a:solidFill>
            <a:srgbClr val="1D5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Rounded Rectangle 322"/>
          <p:cNvSpPr/>
          <p:nvPr/>
        </p:nvSpPr>
        <p:spPr>
          <a:xfrm>
            <a:off x="17108246" y="1241704"/>
            <a:ext cx="105003" cy="118872"/>
          </a:xfrm>
          <a:prstGeom prst="roundRect">
            <a:avLst>
              <a:gd name="adj" fmla="val 8000"/>
            </a:avLst>
          </a:prstGeom>
          <a:solidFill>
            <a:srgbClr val="1D5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4" name="Connector 323"/>
          <p:cNvCxnSpPr/>
          <p:nvPr/>
        </p:nvCxnSpPr>
        <p:spPr>
          <a:xfrm flipH="1">
            <a:off x="17087443" y="1273403"/>
            <a:ext cx="20803" cy="73305"/>
          </a:xfrm>
          <a:prstGeom prst="line">
            <a:avLst/>
          </a:prstGeom>
          <a:ln w="22783">
            <a:solidFill>
              <a:srgbClr val="1D5E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5" name="Connector 324"/>
          <p:cNvCxnSpPr/>
          <p:nvPr/>
        </p:nvCxnSpPr>
        <p:spPr>
          <a:xfrm>
            <a:off x="17213249" y="1273403"/>
            <a:ext cx="20803" cy="73305"/>
          </a:xfrm>
          <a:prstGeom prst="line">
            <a:avLst/>
          </a:prstGeom>
          <a:ln w="22783">
            <a:solidFill>
              <a:srgbClr val="1D5E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6" name="Rounded Rectangle 325"/>
          <p:cNvSpPr/>
          <p:nvPr/>
        </p:nvSpPr>
        <p:spPr>
          <a:xfrm>
            <a:off x="17121124" y="1346708"/>
            <a:ext cx="33680" cy="85191"/>
          </a:xfrm>
          <a:prstGeom prst="roundRect">
            <a:avLst>
              <a:gd name="adj" fmla="val 8000"/>
            </a:avLst>
          </a:prstGeom>
          <a:solidFill>
            <a:srgbClr val="1D5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Rounded Rectangle 326"/>
          <p:cNvSpPr/>
          <p:nvPr/>
        </p:nvSpPr>
        <p:spPr>
          <a:xfrm>
            <a:off x="17166691" y="1346708"/>
            <a:ext cx="33680" cy="85191"/>
          </a:xfrm>
          <a:prstGeom prst="roundRect">
            <a:avLst>
              <a:gd name="adj" fmla="val 8000"/>
            </a:avLst>
          </a:prstGeom>
          <a:solidFill>
            <a:srgbClr val="1D5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Oval 327"/>
          <p:cNvSpPr/>
          <p:nvPr/>
        </p:nvSpPr>
        <p:spPr>
          <a:xfrm>
            <a:off x="17465014" y="1168400"/>
            <a:ext cx="77266" cy="77266"/>
          </a:xfrm>
          <a:prstGeom prst="ellipse">
            <a:avLst/>
          </a:prstGeom>
          <a:solidFill>
            <a:srgbClr val="1D5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Rounded Rectangle 328"/>
          <p:cNvSpPr/>
          <p:nvPr/>
        </p:nvSpPr>
        <p:spPr>
          <a:xfrm>
            <a:off x="17451146" y="1241704"/>
            <a:ext cx="105003" cy="118872"/>
          </a:xfrm>
          <a:prstGeom prst="roundRect">
            <a:avLst>
              <a:gd name="adj" fmla="val 8000"/>
            </a:avLst>
          </a:prstGeom>
          <a:solidFill>
            <a:srgbClr val="1D5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0" name="Connector 329"/>
          <p:cNvCxnSpPr/>
          <p:nvPr/>
        </p:nvCxnSpPr>
        <p:spPr>
          <a:xfrm flipH="1">
            <a:off x="17430343" y="1273403"/>
            <a:ext cx="20803" cy="73305"/>
          </a:xfrm>
          <a:prstGeom prst="line">
            <a:avLst/>
          </a:prstGeom>
          <a:ln w="22783">
            <a:solidFill>
              <a:srgbClr val="1D5E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1" name="Connector 330"/>
          <p:cNvCxnSpPr/>
          <p:nvPr/>
        </p:nvCxnSpPr>
        <p:spPr>
          <a:xfrm>
            <a:off x="17556149" y="1273403"/>
            <a:ext cx="20803" cy="73305"/>
          </a:xfrm>
          <a:prstGeom prst="line">
            <a:avLst/>
          </a:prstGeom>
          <a:ln w="22783">
            <a:solidFill>
              <a:srgbClr val="1D5E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2" name="Rounded Rectangle 331"/>
          <p:cNvSpPr/>
          <p:nvPr/>
        </p:nvSpPr>
        <p:spPr>
          <a:xfrm>
            <a:off x="17464024" y="1346708"/>
            <a:ext cx="33680" cy="85191"/>
          </a:xfrm>
          <a:prstGeom prst="roundRect">
            <a:avLst>
              <a:gd name="adj" fmla="val 8000"/>
            </a:avLst>
          </a:prstGeom>
          <a:solidFill>
            <a:srgbClr val="1D5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Rounded Rectangle 332"/>
          <p:cNvSpPr/>
          <p:nvPr/>
        </p:nvSpPr>
        <p:spPr>
          <a:xfrm>
            <a:off x="17509591" y="1346708"/>
            <a:ext cx="33680" cy="85191"/>
          </a:xfrm>
          <a:prstGeom prst="roundRect">
            <a:avLst>
              <a:gd name="adj" fmla="val 8000"/>
            </a:avLst>
          </a:prstGeom>
          <a:solidFill>
            <a:srgbClr val="1D5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Oval 333"/>
          <p:cNvSpPr/>
          <p:nvPr/>
        </p:nvSpPr>
        <p:spPr>
          <a:xfrm>
            <a:off x="17807914" y="1168400"/>
            <a:ext cx="77266" cy="77266"/>
          </a:xfrm>
          <a:prstGeom prst="ellipse">
            <a:avLst/>
          </a:prstGeom>
          <a:solidFill>
            <a:srgbClr val="1D5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Rounded Rectangle 334"/>
          <p:cNvSpPr/>
          <p:nvPr/>
        </p:nvSpPr>
        <p:spPr>
          <a:xfrm>
            <a:off x="17794046" y="1241704"/>
            <a:ext cx="105003" cy="118872"/>
          </a:xfrm>
          <a:prstGeom prst="roundRect">
            <a:avLst>
              <a:gd name="adj" fmla="val 8000"/>
            </a:avLst>
          </a:prstGeom>
          <a:solidFill>
            <a:srgbClr val="1D5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6" name="Connector 335"/>
          <p:cNvCxnSpPr/>
          <p:nvPr/>
        </p:nvCxnSpPr>
        <p:spPr>
          <a:xfrm flipH="1">
            <a:off x="17773243" y="1273403"/>
            <a:ext cx="20803" cy="73305"/>
          </a:xfrm>
          <a:prstGeom prst="line">
            <a:avLst/>
          </a:prstGeom>
          <a:ln w="22783">
            <a:solidFill>
              <a:srgbClr val="1D5E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7" name="Connector 336"/>
          <p:cNvCxnSpPr/>
          <p:nvPr/>
        </p:nvCxnSpPr>
        <p:spPr>
          <a:xfrm>
            <a:off x="17899049" y="1273403"/>
            <a:ext cx="20803" cy="73305"/>
          </a:xfrm>
          <a:prstGeom prst="line">
            <a:avLst/>
          </a:prstGeom>
          <a:ln w="22783">
            <a:solidFill>
              <a:srgbClr val="1D5E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8" name="Rounded Rectangle 337"/>
          <p:cNvSpPr/>
          <p:nvPr/>
        </p:nvSpPr>
        <p:spPr>
          <a:xfrm>
            <a:off x="17806924" y="1346708"/>
            <a:ext cx="33680" cy="85191"/>
          </a:xfrm>
          <a:prstGeom prst="roundRect">
            <a:avLst>
              <a:gd name="adj" fmla="val 8000"/>
            </a:avLst>
          </a:prstGeom>
          <a:solidFill>
            <a:srgbClr val="1D5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Rounded Rectangle 338"/>
          <p:cNvSpPr/>
          <p:nvPr/>
        </p:nvSpPr>
        <p:spPr>
          <a:xfrm>
            <a:off x="17852491" y="1346708"/>
            <a:ext cx="33680" cy="85191"/>
          </a:xfrm>
          <a:prstGeom prst="roundRect">
            <a:avLst>
              <a:gd name="adj" fmla="val 8000"/>
            </a:avLst>
          </a:prstGeom>
          <a:solidFill>
            <a:srgbClr val="1D5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Oval 339"/>
          <p:cNvSpPr/>
          <p:nvPr/>
        </p:nvSpPr>
        <p:spPr>
          <a:xfrm>
            <a:off x="18150814" y="1168400"/>
            <a:ext cx="77266" cy="77266"/>
          </a:xfrm>
          <a:prstGeom prst="ellipse">
            <a:avLst/>
          </a:prstGeom>
          <a:solidFill>
            <a:srgbClr val="1D5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Rounded Rectangle 340"/>
          <p:cNvSpPr/>
          <p:nvPr/>
        </p:nvSpPr>
        <p:spPr>
          <a:xfrm>
            <a:off x="18136946" y="1241704"/>
            <a:ext cx="105003" cy="118872"/>
          </a:xfrm>
          <a:prstGeom prst="roundRect">
            <a:avLst>
              <a:gd name="adj" fmla="val 8000"/>
            </a:avLst>
          </a:prstGeom>
          <a:solidFill>
            <a:srgbClr val="1D5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2" name="Connector 341"/>
          <p:cNvCxnSpPr/>
          <p:nvPr/>
        </p:nvCxnSpPr>
        <p:spPr>
          <a:xfrm flipH="1">
            <a:off x="18116143" y="1273403"/>
            <a:ext cx="20803" cy="73305"/>
          </a:xfrm>
          <a:prstGeom prst="line">
            <a:avLst/>
          </a:prstGeom>
          <a:ln w="22783">
            <a:solidFill>
              <a:srgbClr val="1D5E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3" name="Connector 342"/>
          <p:cNvCxnSpPr/>
          <p:nvPr/>
        </p:nvCxnSpPr>
        <p:spPr>
          <a:xfrm>
            <a:off x="18241949" y="1273403"/>
            <a:ext cx="20803" cy="73305"/>
          </a:xfrm>
          <a:prstGeom prst="line">
            <a:avLst/>
          </a:prstGeom>
          <a:ln w="22783">
            <a:solidFill>
              <a:srgbClr val="1D5E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4" name="Rounded Rectangle 343"/>
          <p:cNvSpPr/>
          <p:nvPr/>
        </p:nvSpPr>
        <p:spPr>
          <a:xfrm>
            <a:off x="18149824" y="1346708"/>
            <a:ext cx="33680" cy="85191"/>
          </a:xfrm>
          <a:prstGeom prst="roundRect">
            <a:avLst>
              <a:gd name="adj" fmla="val 8000"/>
            </a:avLst>
          </a:prstGeom>
          <a:solidFill>
            <a:srgbClr val="1D5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Rounded Rectangle 344"/>
          <p:cNvSpPr/>
          <p:nvPr/>
        </p:nvSpPr>
        <p:spPr>
          <a:xfrm>
            <a:off x="18195391" y="1346708"/>
            <a:ext cx="33680" cy="85191"/>
          </a:xfrm>
          <a:prstGeom prst="roundRect">
            <a:avLst>
              <a:gd name="adj" fmla="val 8000"/>
            </a:avLst>
          </a:prstGeom>
          <a:solidFill>
            <a:srgbClr val="1D5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Oval 345"/>
          <p:cNvSpPr/>
          <p:nvPr/>
        </p:nvSpPr>
        <p:spPr>
          <a:xfrm>
            <a:off x="18493714" y="1168400"/>
            <a:ext cx="77266" cy="77266"/>
          </a:xfrm>
          <a:prstGeom prst="ellipse">
            <a:avLst/>
          </a:prstGeom>
          <a:solidFill>
            <a:srgbClr val="1D5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Rounded Rectangle 346"/>
          <p:cNvSpPr/>
          <p:nvPr/>
        </p:nvSpPr>
        <p:spPr>
          <a:xfrm>
            <a:off x="18479846" y="1241704"/>
            <a:ext cx="105003" cy="118872"/>
          </a:xfrm>
          <a:prstGeom prst="roundRect">
            <a:avLst>
              <a:gd name="adj" fmla="val 8000"/>
            </a:avLst>
          </a:prstGeom>
          <a:solidFill>
            <a:srgbClr val="1D5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8" name="Connector 347"/>
          <p:cNvCxnSpPr/>
          <p:nvPr/>
        </p:nvCxnSpPr>
        <p:spPr>
          <a:xfrm flipH="1">
            <a:off x="18459043" y="1273403"/>
            <a:ext cx="20803" cy="73305"/>
          </a:xfrm>
          <a:prstGeom prst="line">
            <a:avLst/>
          </a:prstGeom>
          <a:ln w="22783">
            <a:solidFill>
              <a:srgbClr val="1D5E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9" name="Connector 348"/>
          <p:cNvCxnSpPr/>
          <p:nvPr/>
        </p:nvCxnSpPr>
        <p:spPr>
          <a:xfrm>
            <a:off x="18584849" y="1273403"/>
            <a:ext cx="20803" cy="73305"/>
          </a:xfrm>
          <a:prstGeom prst="line">
            <a:avLst/>
          </a:prstGeom>
          <a:ln w="22783">
            <a:solidFill>
              <a:srgbClr val="1D5E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0" name="Rounded Rectangle 349"/>
          <p:cNvSpPr/>
          <p:nvPr/>
        </p:nvSpPr>
        <p:spPr>
          <a:xfrm>
            <a:off x="18492724" y="1346708"/>
            <a:ext cx="33680" cy="85191"/>
          </a:xfrm>
          <a:prstGeom prst="roundRect">
            <a:avLst>
              <a:gd name="adj" fmla="val 8000"/>
            </a:avLst>
          </a:prstGeom>
          <a:solidFill>
            <a:srgbClr val="1D5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Rounded Rectangle 350"/>
          <p:cNvSpPr/>
          <p:nvPr/>
        </p:nvSpPr>
        <p:spPr>
          <a:xfrm>
            <a:off x="18538291" y="1346708"/>
            <a:ext cx="33680" cy="85191"/>
          </a:xfrm>
          <a:prstGeom prst="roundRect">
            <a:avLst>
              <a:gd name="adj" fmla="val 8000"/>
            </a:avLst>
          </a:prstGeom>
          <a:solidFill>
            <a:srgbClr val="1D5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Oval 351"/>
          <p:cNvSpPr/>
          <p:nvPr/>
        </p:nvSpPr>
        <p:spPr>
          <a:xfrm>
            <a:off x="16779214" y="1714500"/>
            <a:ext cx="77266" cy="77266"/>
          </a:xfrm>
          <a:prstGeom prst="ellipse">
            <a:avLst/>
          </a:prstGeom>
          <a:solidFill>
            <a:srgbClr val="1D5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Rounded Rectangle 352"/>
          <p:cNvSpPr/>
          <p:nvPr/>
        </p:nvSpPr>
        <p:spPr>
          <a:xfrm>
            <a:off x="16765346" y="1787804"/>
            <a:ext cx="105003" cy="118872"/>
          </a:xfrm>
          <a:prstGeom prst="roundRect">
            <a:avLst>
              <a:gd name="adj" fmla="val 8000"/>
            </a:avLst>
          </a:prstGeom>
          <a:solidFill>
            <a:srgbClr val="1D5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4" name="Connector 353"/>
          <p:cNvCxnSpPr/>
          <p:nvPr/>
        </p:nvCxnSpPr>
        <p:spPr>
          <a:xfrm flipH="1">
            <a:off x="16744543" y="1819503"/>
            <a:ext cx="20803" cy="73305"/>
          </a:xfrm>
          <a:prstGeom prst="line">
            <a:avLst/>
          </a:prstGeom>
          <a:ln w="22783">
            <a:solidFill>
              <a:srgbClr val="1D5E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5" name="Connector 354"/>
          <p:cNvCxnSpPr/>
          <p:nvPr/>
        </p:nvCxnSpPr>
        <p:spPr>
          <a:xfrm>
            <a:off x="16870349" y="1819503"/>
            <a:ext cx="20803" cy="73305"/>
          </a:xfrm>
          <a:prstGeom prst="line">
            <a:avLst/>
          </a:prstGeom>
          <a:ln w="22783">
            <a:solidFill>
              <a:srgbClr val="1D5E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6" name="Rounded Rectangle 355"/>
          <p:cNvSpPr/>
          <p:nvPr/>
        </p:nvSpPr>
        <p:spPr>
          <a:xfrm>
            <a:off x="16778224" y="1892808"/>
            <a:ext cx="33680" cy="85191"/>
          </a:xfrm>
          <a:prstGeom prst="roundRect">
            <a:avLst>
              <a:gd name="adj" fmla="val 8000"/>
            </a:avLst>
          </a:prstGeom>
          <a:solidFill>
            <a:srgbClr val="1D5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Rounded Rectangle 356"/>
          <p:cNvSpPr/>
          <p:nvPr/>
        </p:nvSpPr>
        <p:spPr>
          <a:xfrm>
            <a:off x="16823791" y="1892808"/>
            <a:ext cx="33680" cy="85191"/>
          </a:xfrm>
          <a:prstGeom prst="roundRect">
            <a:avLst>
              <a:gd name="adj" fmla="val 8000"/>
            </a:avLst>
          </a:prstGeom>
          <a:solidFill>
            <a:srgbClr val="1D5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Oval 357"/>
          <p:cNvSpPr/>
          <p:nvPr/>
        </p:nvSpPr>
        <p:spPr>
          <a:xfrm>
            <a:off x="17122114" y="1714500"/>
            <a:ext cx="77266" cy="77266"/>
          </a:xfrm>
          <a:prstGeom prst="ellipse">
            <a:avLst/>
          </a:prstGeom>
          <a:solidFill>
            <a:srgbClr val="1D5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Rounded Rectangle 358"/>
          <p:cNvSpPr/>
          <p:nvPr/>
        </p:nvSpPr>
        <p:spPr>
          <a:xfrm>
            <a:off x="17108246" y="1787804"/>
            <a:ext cx="105003" cy="118872"/>
          </a:xfrm>
          <a:prstGeom prst="roundRect">
            <a:avLst>
              <a:gd name="adj" fmla="val 8000"/>
            </a:avLst>
          </a:prstGeom>
          <a:solidFill>
            <a:srgbClr val="1D5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0" name="Connector 359"/>
          <p:cNvCxnSpPr/>
          <p:nvPr/>
        </p:nvCxnSpPr>
        <p:spPr>
          <a:xfrm flipH="1">
            <a:off x="17087443" y="1819503"/>
            <a:ext cx="20803" cy="73305"/>
          </a:xfrm>
          <a:prstGeom prst="line">
            <a:avLst/>
          </a:prstGeom>
          <a:ln w="22783">
            <a:solidFill>
              <a:srgbClr val="1D5E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1" name="Connector 360"/>
          <p:cNvCxnSpPr/>
          <p:nvPr/>
        </p:nvCxnSpPr>
        <p:spPr>
          <a:xfrm>
            <a:off x="17213249" y="1819503"/>
            <a:ext cx="20803" cy="73305"/>
          </a:xfrm>
          <a:prstGeom prst="line">
            <a:avLst/>
          </a:prstGeom>
          <a:ln w="22783">
            <a:solidFill>
              <a:srgbClr val="1D5E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2" name="Rounded Rectangle 361"/>
          <p:cNvSpPr/>
          <p:nvPr/>
        </p:nvSpPr>
        <p:spPr>
          <a:xfrm>
            <a:off x="17121124" y="1892808"/>
            <a:ext cx="33680" cy="85191"/>
          </a:xfrm>
          <a:prstGeom prst="roundRect">
            <a:avLst>
              <a:gd name="adj" fmla="val 8000"/>
            </a:avLst>
          </a:prstGeom>
          <a:solidFill>
            <a:srgbClr val="1D5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Rounded Rectangle 362"/>
          <p:cNvSpPr/>
          <p:nvPr/>
        </p:nvSpPr>
        <p:spPr>
          <a:xfrm>
            <a:off x="17166691" y="1892808"/>
            <a:ext cx="33680" cy="85191"/>
          </a:xfrm>
          <a:prstGeom prst="roundRect">
            <a:avLst>
              <a:gd name="adj" fmla="val 8000"/>
            </a:avLst>
          </a:prstGeom>
          <a:solidFill>
            <a:srgbClr val="1D5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Oval 363"/>
          <p:cNvSpPr/>
          <p:nvPr/>
        </p:nvSpPr>
        <p:spPr>
          <a:xfrm>
            <a:off x="17465014" y="1714500"/>
            <a:ext cx="77266" cy="77266"/>
          </a:xfrm>
          <a:prstGeom prst="ellipse">
            <a:avLst/>
          </a:prstGeom>
          <a:solidFill>
            <a:srgbClr val="1D5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Rounded Rectangle 364"/>
          <p:cNvSpPr/>
          <p:nvPr/>
        </p:nvSpPr>
        <p:spPr>
          <a:xfrm>
            <a:off x="17451146" y="1787804"/>
            <a:ext cx="105003" cy="118872"/>
          </a:xfrm>
          <a:prstGeom prst="roundRect">
            <a:avLst>
              <a:gd name="adj" fmla="val 8000"/>
            </a:avLst>
          </a:prstGeom>
          <a:solidFill>
            <a:srgbClr val="1D5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6" name="Connector 365"/>
          <p:cNvCxnSpPr/>
          <p:nvPr/>
        </p:nvCxnSpPr>
        <p:spPr>
          <a:xfrm flipH="1">
            <a:off x="17430343" y="1819503"/>
            <a:ext cx="20803" cy="73305"/>
          </a:xfrm>
          <a:prstGeom prst="line">
            <a:avLst/>
          </a:prstGeom>
          <a:ln w="22783">
            <a:solidFill>
              <a:srgbClr val="1D5E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7" name="Connector 366"/>
          <p:cNvCxnSpPr/>
          <p:nvPr/>
        </p:nvCxnSpPr>
        <p:spPr>
          <a:xfrm>
            <a:off x="17556149" y="1819503"/>
            <a:ext cx="20803" cy="73305"/>
          </a:xfrm>
          <a:prstGeom prst="line">
            <a:avLst/>
          </a:prstGeom>
          <a:ln w="22783">
            <a:solidFill>
              <a:srgbClr val="1D5E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8" name="Rounded Rectangle 367"/>
          <p:cNvSpPr/>
          <p:nvPr/>
        </p:nvSpPr>
        <p:spPr>
          <a:xfrm>
            <a:off x="17464024" y="1892808"/>
            <a:ext cx="33680" cy="85191"/>
          </a:xfrm>
          <a:prstGeom prst="roundRect">
            <a:avLst>
              <a:gd name="adj" fmla="val 8000"/>
            </a:avLst>
          </a:prstGeom>
          <a:solidFill>
            <a:srgbClr val="1D5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Rounded Rectangle 368"/>
          <p:cNvSpPr/>
          <p:nvPr/>
        </p:nvSpPr>
        <p:spPr>
          <a:xfrm>
            <a:off x="17509591" y="1892808"/>
            <a:ext cx="33680" cy="85191"/>
          </a:xfrm>
          <a:prstGeom prst="roundRect">
            <a:avLst>
              <a:gd name="adj" fmla="val 8000"/>
            </a:avLst>
          </a:prstGeom>
          <a:solidFill>
            <a:srgbClr val="1D5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Oval 369"/>
          <p:cNvSpPr/>
          <p:nvPr/>
        </p:nvSpPr>
        <p:spPr>
          <a:xfrm>
            <a:off x="17807914" y="1714500"/>
            <a:ext cx="77266" cy="77266"/>
          </a:xfrm>
          <a:prstGeom prst="ellipse">
            <a:avLst/>
          </a:prstGeom>
          <a:solidFill>
            <a:srgbClr val="1D5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Rounded Rectangle 370"/>
          <p:cNvSpPr/>
          <p:nvPr/>
        </p:nvSpPr>
        <p:spPr>
          <a:xfrm>
            <a:off x="17794046" y="1787804"/>
            <a:ext cx="105003" cy="118872"/>
          </a:xfrm>
          <a:prstGeom prst="roundRect">
            <a:avLst>
              <a:gd name="adj" fmla="val 8000"/>
            </a:avLst>
          </a:prstGeom>
          <a:solidFill>
            <a:srgbClr val="1D5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2" name="Connector 371"/>
          <p:cNvCxnSpPr/>
          <p:nvPr/>
        </p:nvCxnSpPr>
        <p:spPr>
          <a:xfrm flipH="1">
            <a:off x="17773243" y="1819503"/>
            <a:ext cx="20803" cy="73305"/>
          </a:xfrm>
          <a:prstGeom prst="line">
            <a:avLst/>
          </a:prstGeom>
          <a:ln w="22783">
            <a:solidFill>
              <a:srgbClr val="1D5E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3" name="Connector 372"/>
          <p:cNvCxnSpPr/>
          <p:nvPr/>
        </p:nvCxnSpPr>
        <p:spPr>
          <a:xfrm>
            <a:off x="17899049" y="1819503"/>
            <a:ext cx="20803" cy="73305"/>
          </a:xfrm>
          <a:prstGeom prst="line">
            <a:avLst/>
          </a:prstGeom>
          <a:ln w="22783">
            <a:solidFill>
              <a:srgbClr val="1D5E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4" name="Rounded Rectangle 373"/>
          <p:cNvSpPr/>
          <p:nvPr/>
        </p:nvSpPr>
        <p:spPr>
          <a:xfrm>
            <a:off x="17806924" y="1892808"/>
            <a:ext cx="33680" cy="85191"/>
          </a:xfrm>
          <a:prstGeom prst="roundRect">
            <a:avLst>
              <a:gd name="adj" fmla="val 8000"/>
            </a:avLst>
          </a:prstGeom>
          <a:solidFill>
            <a:srgbClr val="1D5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Rounded Rectangle 374"/>
          <p:cNvSpPr/>
          <p:nvPr/>
        </p:nvSpPr>
        <p:spPr>
          <a:xfrm>
            <a:off x="17852491" y="1892808"/>
            <a:ext cx="33680" cy="85191"/>
          </a:xfrm>
          <a:prstGeom prst="roundRect">
            <a:avLst>
              <a:gd name="adj" fmla="val 8000"/>
            </a:avLst>
          </a:prstGeom>
          <a:solidFill>
            <a:srgbClr val="1D5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Oval 375"/>
          <p:cNvSpPr/>
          <p:nvPr/>
        </p:nvSpPr>
        <p:spPr>
          <a:xfrm>
            <a:off x="18150814" y="1714500"/>
            <a:ext cx="77266" cy="77266"/>
          </a:xfrm>
          <a:prstGeom prst="ellipse">
            <a:avLst/>
          </a:prstGeom>
          <a:solidFill>
            <a:srgbClr val="1D5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Rounded Rectangle 376"/>
          <p:cNvSpPr/>
          <p:nvPr/>
        </p:nvSpPr>
        <p:spPr>
          <a:xfrm>
            <a:off x="18136946" y="1787804"/>
            <a:ext cx="105003" cy="118872"/>
          </a:xfrm>
          <a:prstGeom prst="roundRect">
            <a:avLst>
              <a:gd name="adj" fmla="val 8000"/>
            </a:avLst>
          </a:prstGeom>
          <a:solidFill>
            <a:srgbClr val="1D5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8" name="Connector 377"/>
          <p:cNvCxnSpPr/>
          <p:nvPr/>
        </p:nvCxnSpPr>
        <p:spPr>
          <a:xfrm flipH="1">
            <a:off x="18116143" y="1819503"/>
            <a:ext cx="20803" cy="73305"/>
          </a:xfrm>
          <a:prstGeom prst="line">
            <a:avLst/>
          </a:prstGeom>
          <a:ln w="22783">
            <a:solidFill>
              <a:srgbClr val="1D5E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9" name="Connector 378"/>
          <p:cNvCxnSpPr/>
          <p:nvPr/>
        </p:nvCxnSpPr>
        <p:spPr>
          <a:xfrm>
            <a:off x="18241949" y="1819503"/>
            <a:ext cx="20803" cy="73305"/>
          </a:xfrm>
          <a:prstGeom prst="line">
            <a:avLst/>
          </a:prstGeom>
          <a:ln w="22783">
            <a:solidFill>
              <a:srgbClr val="1D5E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0" name="Rounded Rectangle 379"/>
          <p:cNvSpPr/>
          <p:nvPr/>
        </p:nvSpPr>
        <p:spPr>
          <a:xfrm>
            <a:off x="18149824" y="1892808"/>
            <a:ext cx="33680" cy="85191"/>
          </a:xfrm>
          <a:prstGeom prst="roundRect">
            <a:avLst>
              <a:gd name="adj" fmla="val 8000"/>
            </a:avLst>
          </a:prstGeom>
          <a:solidFill>
            <a:srgbClr val="1D5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Rounded Rectangle 380"/>
          <p:cNvSpPr/>
          <p:nvPr/>
        </p:nvSpPr>
        <p:spPr>
          <a:xfrm>
            <a:off x="18195391" y="1892808"/>
            <a:ext cx="33680" cy="85191"/>
          </a:xfrm>
          <a:prstGeom prst="roundRect">
            <a:avLst>
              <a:gd name="adj" fmla="val 8000"/>
            </a:avLst>
          </a:prstGeom>
          <a:solidFill>
            <a:srgbClr val="1D5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Oval 381"/>
          <p:cNvSpPr/>
          <p:nvPr/>
        </p:nvSpPr>
        <p:spPr>
          <a:xfrm>
            <a:off x="18493714" y="1714500"/>
            <a:ext cx="77266" cy="77266"/>
          </a:xfrm>
          <a:prstGeom prst="ellipse">
            <a:avLst/>
          </a:prstGeom>
          <a:solidFill>
            <a:srgbClr val="1D5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Rounded Rectangle 382"/>
          <p:cNvSpPr/>
          <p:nvPr/>
        </p:nvSpPr>
        <p:spPr>
          <a:xfrm>
            <a:off x="18479846" y="1787804"/>
            <a:ext cx="105003" cy="118872"/>
          </a:xfrm>
          <a:prstGeom prst="roundRect">
            <a:avLst>
              <a:gd name="adj" fmla="val 8000"/>
            </a:avLst>
          </a:prstGeom>
          <a:solidFill>
            <a:srgbClr val="1D5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4" name="Connector 383"/>
          <p:cNvCxnSpPr/>
          <p:nvPr/>
        </p:nvCxnSpPr>
        <p:spPr>
          <a:xfrm flipH="1">
            <a:off x="18459043" y="1819503"/>
            <a:ext cx="20803" cy="73305"/>
          </a:xfrm>
          <a:prstGeom prst="line">
            <a:avLst/>
          </a:prstGeom>
          <a:ln w="22783">
            <a:solidFill>
              <a:srgbClr val="1D5E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5" name="Connector 384"/>
          <p:cNvCxnSpPr/>
          <p:nvPr/>
        </p:nvCxnSpPr>
        <p:spPr>
          <a:xfrm>
            <a:off x="18584849" y="1819503"/>
            <a:ext cx="20803" cy="73305"/>
          </a:xfrm>
          <a:prstGeom prst="line">
            <a:avLst/>
          </a:prstGeom>
          <a:ln w="22783">
            <a:solidFill>
              <a:srgbClr val="1D5E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6" name="Rounded Rectangle 385"/>
          <p:cNvSpPr/>
          <p:nvPr/>
        </p:nvSpPr>
        <p:spPr>
          <a:xfrm>
            <a:off x="18492724" y="1892808"/>
            <a:ext cx="33680" cy="85191"/>
          </a:xfrm>
          <a:prstGeom prst="roundRect">
            <a:avLst>
              <a:gd name="adj" fmla="val 8000"/>
            </a:avLst>
          </a:prstGeom>
          <a:solidFill>
            <a:srgbClr val="1D5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Rounded Rectangle 386"/>
          <p:cNvSpPr/>
          <p:nvPr/>
        </p:nvSpPr>
        <p:spPr>
          <a:xfrm>
            <a:off x="18538291" y="1892808"/>
            <a:ext cx="33680" cy="85191"/>
          </a:xfrm>
          <a:prstGeom prst="roundRect">
            <a:avLst>
              <a:gd name="adj" fmla="val 8000"/>
            </a:avLst>
          </a:prstGeom>
          <a:solidFill>
            <a:srgbClr val="1D5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Oval 387"/>
          <p:cNvSpPr/>
          <p:nvPr/>
        </p:nvSpPr>
        <p:spPr>
          <a:xfrm>
            <a:off x="16779214" y="2260600"/>
            <a:ext cx="77266" cy="77266"/>
          </a:xfrm>
          <a:prstGeom prst="ellipse">
            <a:avLst/>
          </a:prstGeom>
          <a:solidFill>
            <a:srgbClr val="1D5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Rounded Rectangle 388"/>
          <p:cNvSpPr/>
          <p:nvPr/>
        </p:nvSpPr>
        <p:spPr>
          <a:xfrm>
            <a:off x="16765346" y="2333904"/>
            <a:ext cx="105003" cy="118872"/>
          </a:xfrm>
          <a:prstGeom prst="roundRect">
            <a:avLst>
              <a:gd name="adj" fmla="val 8000"/>
            </a:avLst>
          </a:prstGeom>
          <a:solidFill>
            <a:srgbClr val="1D5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0" name="Connector 389"/>
          <p:cNvCxnSpPr/>
          <p:nvPr/>
        </p:nvCxnSpPr>
        <p:spPr>
          <a:xfrm flipH="1">
            <a:off x="16744543" y="2365603"/>
            <a:ext cx="20803" cy="73305"/>
          </a:xfrm>
          <a:prstGeom prst="line">
            <a:avLst/>
          </a:prstGeom>
          <a:ln w="22783">
            <a:solidFill>
              <a:srgbClr val="1D5E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1" name="Connector 390"/>
          <p:cNvCxnSpPr/>
          <p:nvPr/>
        </p:nvCxnSpPr>
        <p:spPr>
          <a:xfrm>
            <a:off x="16870349" y="2365603"/>
            <a:ext cx="20803" cy="73305"/>
          </a:xfrm>
          <a:prstGeom prst="line">
            <a:avLst/>
          </a:prstGeom>
          <a:ln w="22783">
            <a:solidFill>
              <a:srgbClr val="1D5E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2" name="Rounded Rectangle 391"/>
          <p:cNvSpPr/>
          <p:nvPr/>
        </p:nvSpPr>
        <p:spPr>
          <a:xfrm>
            <a:off x="16778224" y="2438908"/>
            <a:ext cx="33680" cy="85191"/>
          </a:xfrm>
          <a:prstGeom prst="roundRect">
            <a:avLst>
              <a:gd name="adj" fmla="val 8000"/>
            </a:avLst>
          </a:prstGeom>
          <a:solidFill>
            <a:srgbClr val="1D5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Rounded Rectangle 392"/>
          <p:cNvSpPr/>
          <p:nvPr/>
        </p:nvSpPr>
        <p:spPr>
          <a:xfrm>
            <a:off x="16823791" y="2438908"/>
            <a:ext cx="33680" cy="85191"/>
          </a:xfrm>
          <a:prstGeom prst="roundRect">
            <a:avLst>
              <a:gd name="adj" fmla="val 8000"/>
            </a:avLst>
          </a:prstGeom>
          <a:solidFill>
            <a:srgbClr val="1D5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Oval 393"/>
          <p:cNvSpPr/>
          <p:nvPr/>
        </p:nvSpPr>
        <p:spPr>
          <a:xfrm>
            <a:off x="17122114" y="2260600"/>
            <a:ext cx="77266" cy="77266"/>
          </a:xfrm>
          <a:prstGeom prst="ellipse">
            <a:avLst/>
          </a:prstGeom>
          <a:solidFill>
            <a:srgbClr val="1D5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Rounded Rectangle 394"/>
          <p:cNvSpPr/>
          <p:nvPr/>
        </p:nvSpPr>
        <p:spPr>
          <a:xfrm>
            <a:off x="17108246" y="2333904"/>
            <a:ext cx="105003" cy="118872"/>
          </a:xfrm>
          <a:prstGeom prst="roundRect">
            <a:avLst>
              <a:gd name="adj" fmla="val 8000"/>
            </a:avLst>
          </a:prstGeom>
          <a:solidFill>
            <a:srgbClr val="1D5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6" name="Connector 395"/>
          <p:cNvCxnSpPr/>
          <p:nvPr/>
        </p:nvCxnSpPr>
        <p:spPr>
          <a:xfrm flipH="1">
            <a:off x="17087443" y="2365603"/>
            <a:ext cx="20803" cy="73305"/>
          </a:xfrm>
          <a:prstGeom prst="line">
            <a:avLst/>
          </a:prstGeom>
          <a:ln w="22783">
            <a:solidFill>
              <a:srgbClr val="1D5E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7" name="Connector 396"/>
          <p:cNvCxnSpPr/>
          <p:nvPr/>
        </p:nvCxnSpPr>
        <p:spPr>
          <a:xfrm>
            <a:off x="17213249" y="2365603"/>
            <a:ext cx="20803" cy="73305"/>
          </a:xfrm>
          <a:prstGeom prst="line">
            <a:avLst/>
          </a:prstGeom>
          <a:ln w="22783">
            <a:solidFill>
              <a:srgbClr val="1D5E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8" name="Rounded Rectangle 397"/>
          <p:cNvSpPr/>
          <p:nvPr/>
        </p:nvSpPr>
        <p:spPr>
          <a:xfrm>
            <a:off x="17121124" y="2438908"/>
            <a:ext cx="33680" cy="85191"/>
          </a:xfrm>
          <a:prstGeom prst="roundRect">
            <a:avLst>
              <a:gd name="adj" fmla="val 8000"/>
            </a:avLst>
          </a:prstGeom>
          <a:solidFill>
            <a:srgbClr val="1D5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Rounded Rectangle 398"/>
          <p:cNvSpPr/>
          <p:nvPr/>
        </p:nvSpPr>
        <p:spPr>
          <a:xfrm>
            <a:off x="17166691" y="2438908"/>
            <a:ext cx="33680" cy="85191"/>
          </a:xfrm>
          <a:prstGeom prst="roundRect">
            <a:avLst>
              <a:gd name="adj" fmla="val 8000"/>
            </a:avLst>
          </a:prstGeom>
          <a:solidFill>
            <a:srgbClr val="1D5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Oval 399"/>
          <p:cNvSpPr/>
          <p:nvPr/>
        </p:nvSpPr>
        <p:spPr>
          <a:xfrm>
            <a:off x="17465014" y="2260600"/>
            <a:ext cx="77266" cy="77266"/>
          </a:xfrm>
          <a:prstGeom prst="ellipse">
            <a:avLst/>
          </a:prstGeom>
          <a:solidFill>
            <a:srgbClr val="1D5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Rounded Rectangle 400"/>
          <p:cNvSpPr/>
          <p:nvPr/>
        </p:nvSpPr>
        <p:spPr>
          <a:xfrm>
            <a:off x="17451146" y="2333904"/>
            <a:ext cx="105003" cy="118872"/>
          </a:xfrm>
          <a:prstGeom prst="roundRect">
            <a:avLst>
              <a:gd name="adj" fmla="val 8000"/>
            </a:avLst>
          </a:prstGeom>
          <a:solidFill>
            <a:srgbClr val="1D5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2" name="Connector 401"/>
          <p:cNvCxnSpPr/>
          <p:nvPr/>
        </p:nvCxnSpPr>
        <p:spPr>
          <a:xfrm flipH="1">
            <a:off x="17430343" y="2365603"/>
            <a:ext cx="20803" cy="73305"/>
          </a:xfrm>
          <a:prstGeom prst="line">
            <a:avLst/>
          </a:prstGeom>
          <a:ln w="22783">
            <a:solidFill>
              <a:srgbClr val="1D5E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3" name="Connector 402"/>
          <p:cNvCxnSpPr/>
          <p:nvPr/>
        </p:nvCxnSpPr>
        <p:spPr>
          <a:xfrm>
            <a:off x="17556149" y="2365603"/>
            <a:ext cx="20803" cy="73305"/>
          </a:xfrm>
          <a:prstGeom prst="line">
            <a:avLst/>
          </a:prstGeom>
          <a:ln w="22783">
            <a:solidFill>
              <a:srgbClr val="1D5E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4" name="Rounded Rectangle 403"/>
          <p:cNvSpPr/>
          <p:nvPr/>
        </p:nvSpPr>
        <p:spPr>
          <a:xfrm>
            <a:off x="17464024" y="2438908"/>
            <a:ext cx="33680" cy="85191"/>
          </a:xfrm>
          <a:prstGeom prst="roundRect">
            <a:avLst>
              <a:gd name="adj" fmla="val 8000"/>
            </a:avLst>
          </a:prstGeom>
          <a:solidFill>
            <a:srgbClr val="1D5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Rounded Rectangle 404"/>
          <p:cNvSpPr/>
          <p:nvPr/>
        </p:nvSpPr>
        <p:spPr>
          <a:xfrm>
            <a:off x="17509591" y="2438908"/>
            <a:ext cx="33680" cy="85191"/>
          </a:xfrm>
          <a:prstGeom prst="roundRect">
            <a:avLst>
              <a:gd name="adj" fmla="val 8000"/>
            </a:avLst>
          </a:prstGeom>
          <a:solidFill>
            <a:srgbClr val="1D5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Oval 405"/>
          <p:cNvSpPr/>
          <p:nvPr/>
        </p:nvSpPr>
        <p:spPr>
          <a:xfrm>
            <a:off x="17807914" y="2260600"/>
            <a:ext cx="77266" cy="77266"/>
          </a:xfrm>
          <a:prstGeom prst="ellipse">
            <a:avLst/>
          </a:prstGeom>
          <a:solidFill>
            <a:srgbClr val="1D5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Rounded Rectangle 406"/>
          <p:cNvSpPr/>
          <p:nvPr/>
        </p:nvSpPr>
        <p:spPr>
          <a:xfrm>
            <a:off x="17794046" y="2333904"/>
            <a:ext cx="105003" cy="118872"/>
          </a:xfrm>
          <a:prstGeom prst="roundRect">
            <a:avLst>
              <a:gd name="adj" fmla="val 8000"/>
            </a:avLst>
          </a:prstGeom>
          <a:solidFill>
            <a:srgbClr val="1D5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8" name="Connector 407"/>
          <p:cNvCxnSpPr/>
          <p:nvPr/>
        </p:nvCxnSpPr>
        <p:spPr>
          <a:xfrm flipH="1">
            <a:off x="17773243" y="2365603"/>
            <a:ext cx="20803" cy="73305"/>
          </a:xfrm>
          <a:prstGeom prst="line">
            <a:avLst/>
          </a:prstGeom>
          <a:ln w="22783">
            <a:solidFill>
              <a:srgbClr val="1D5E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9" name="Connector 408"/>
          <p:cNvCxnSpPr/>
          <p:nvPr/>
        </p:nvCxnSpPr>
        <p:spPr>
          <a:xfrm>
            <a:off x="17899049" y="2365603"/>
            <a:ext cx="20803" cy="73305"/>
          </a:xfrm>
          <a:prstGeom prst="line">
            <a:avLst/>
          </a:prstGeom>
          <a:ln w="22783">
            <a:solidFill>
              <a:srgbClr val="1D5E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0" name="Rounded Rectangle 409"/>
          <p:cNvSpPr/>
          <p:nvPr/>
        </p:nvSpPr>
        <p:spPr>
          <a:xfrm>
            <a:off x="17806924" y="2438908"/>
            <a:ext cx="33680" cy="85191"/>
          </a:xfrm>
          <a:prstGeom prst="roundRect">
            <a:avLst>
              <a:gd name="adj" fmla="val 8000"/>
            </a:avLst>
          </a:prstGeom>
          <a:solidFill>
            <a:srgbClr val="1D5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Rounded Rectangle 410"/>
          <p:cNvSpPr/>
          <p:nvPr/>
        </p:nvSpPr>
        <p:spPr>
          <a:xfrm>
            <a:off x="17852491" y="2438908"/>
            <a:ext cx="33680" cy="85191"/>
          </a:xfrm>
          <a:prstGeom prst="roundRect">
            <a:avLst>
              <a:gd name="adj" fmla="val 8000"/>
            </a:avLst>
          </a:prstGeom>
          <a:solidFill>
            <a:srgbClr val="1D5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Oval 411"/>
          <p:cNvSpPr/>
          <p:nvPr/>
        </p:nvSpPr>
        <p:spPr>
          <a:xfrm>
            <a:off x="18150814" y="2260600"/>
            <a:ext cx="77266" cy="77266"/>
          </a:xfrm>
          <a:prstGeom prst="ellipse">
            <a:avLst/>
          </a:prstGeom>
          <a:solidFill>
            <a:srgbClr val="1D5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Rounded Rectangle 412"/>
          <p:cNvSpPr/>
          <p:nvPr/>
        </p:nvSpPr>
        <p:spPr>
          <a:xfrm>
            <a:off x="18136946" y="2333904"/>
            <a:ext cx="105003" cy="118872"/>
          </a:xfrm>
          <a:prstGeom prst="roundRect">
            <a:avLst>
              <a:gd name="adj" fmla="val 8000"/>
            </a:avLst>
          </a:prstGeom>
          <a:solidFill>
            <a:srgbClr val="1D5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4" name="Connector 413"/>
          <p:cNvCxnSpPr/>
          <p:nvPr/>
        </p:nvCxnSpPr>
        <p:spPr>
          <a:xfrm flipH="1">
            <a:off x="18116143" y="2365603"/>
            <a:ext cx="20803" cy="73305"/>
          </a:xfrm>
          <a:prstGeom prst="line">
            <a:avLst/>
          </a:prstGeom>
          <a:ln w="22783">
            <a:solidFill>
              <a:srgbClr val="1D5E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5" name="Connector 414"/>
          <p:cNvCxnSpPr/>
          <p:nvPr/>
        </p:nvCxnSpPr>
        <p:spPr>
          <a:xfrm>
            <a:off x="18241949" y="2365603"/>
            <a:ext cx="20803" cy="73305"/>
          </a:xfrm>
          <a:prstGeom prst="line">
            <a:avLst/>
          </a:prstGeom>
          <a:ln w="22783">
            <a:solidFill>
              <a:srgbClr val="1D5E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6" name="Rounded Rectangle 415"/>
          <p:cNvSpPr/>
          <p:nvPr/>
        </p:nvSpPr>
        <p:spPr>
          <a:xfrm>
            <a:off x="18149824" y="2438908"/>
            <a:ext cx="33680" cy="85191"/>
          </a:xfrm>
          <a:prstGeom prst="roundRect">
            <a:avLst>
              <a:gd name="adj" fmla="val 8000"/>
            </a:avLst>
          </a:prstGeom>
          <a:solidFill>
            <a:srgbClr val="1D5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Rounded Rectangle 416"/>
          <p:cNvSpPr/>
          <p:nvPr/>
        </p:nvSpPr>
        <p:spPr>
          <a:xfrm>
            <a:off x="18195391" y="2438908"/>
            <a:ext cx="33680" cy="85191"/>
          </a:xfrm>
          <a:prstGeom prst="roundRect">
            <a:avLst>
              <a:gd name="adj" fmla="val 8000"/>
            </a:avLst>
          </a:prstGeom>
          <a:solidFill>
            <a:srgbClr val="1D5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Oval 417"/>
          <p:cNvSpPr/>
          <p:nvPr/>
        </p:nvSpPr>
        <p:spPr>
          <a:xfrm>
            <a:off x="18493714" y="2260600"/>
            <a:ext cx="77266" cy="77266"/>
          </a:xfrm>
          <a:prstGeom prst="ellipse">
            <a:avLst/>
          </a:prstGeom>
          <a:solidFill>
            <a:srgbClr val="1D5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Rounded Rectangle 418"/>
          <p:cNvSpPr/>
          <p:nvPr/>
        </p:nvSpPr>
        <p:spPr>
          <a:xfrm>
            <a:off x="18479846" y="2333904"/>
            <a:ext cx="105003" cy="118872"/>
          </a:xfrm>
          <a:prstGeom prst="roundRect">
            <a:avLst>
              <a:gd name="adj" fmla="val 8000"/>
            </a:avLst>
          </a:prstGeom>
          <a:solidFill>
            <a:srgbClr val="1D5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0" name="Connector 419"/>
          <p:cNvCxnSpPr/>
          <p:nvPr/>
        </p:nvCxnSpPr>
        <p:spPr>
          <a:xfrm flipH="1">
            <a:off x="18459043" y="2365603"/>
            <a:ext cx="20803" cy="73305"/>
          </a:xfrm>
          <a:prstGeom prst="line">
            <a:avLst/>
          </a:prstGeom>
          <a:ln w="22783">
            <a:solidFill>
              <a:srgbClr val="1D5E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1" name="Connector 420"/>
          <p:cNvCxnSpPr/>
          <p:nvPr/>
        </p:nvCxnSpPr>
        <p:spPr>
          <a:xfrm>
            <a:off x="18584849" y="2365603"/>
            <a:ext cx="20803" cy="73305"/>
          </a:xfrm>
          <a:prstGeom prst="line">
            <a:avLst/>
          </a:prstGeom>
          <a:ln w="22783">
            <a:solidFill>
              <a:srgbClr val="1D5E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2" name="Rounded Rectangle 421"/>
          <p:cNvSpPr/>
          <p:nvPr/>
        </p:nvSpPr>
        <p:spPr>
          <a:xfrm>
            <a:off x="18492724" y="2438908"/>
            <a:ext cx="33680" cy="85191"/>
          </a:xfrm>
          <a:prstGeom prst="roundRect">
            <a:avLst>
              <a:gd name="adj" fmla="val 8000"/>
            </a:avLst>
          </a:prstGeom>
          <a:solidFill>
            <a:srgbClr val="1D5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Rounded Rectangle 422"/>
          <p:cNvSpPr/>
          <p:nvPr/>
        </p:nvSpPr>
        <p:spPr>
          <a:xfrm>
            <a:off x="18538291" y="2438908"/>
            <a:ext cx="33680" cy="85191"/>
          </a:xfrm>
          <a:prstGeom prst="roundRect">
            <a:avLst>
              <a:gd name="adj" fmla="val 8000"/>
            </a:avLst>
          </a:prstGeom>
          <a:solidFill>
            <a:srgbClr val="1D5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Oval 423"/>
          <p:cNvSpPr/>
          <p:nvPr/>
        </p:nvSpPr>
        <p:spPr>
          <a:xfrm>
            <a:off x="16779214" y="2806700"/>
            <a:ext cx="77266" cy="77266"/>
          </a:xfrm>
          <a:prstGeom prst="ellipse">
            <a:avLst/>
          </a:prstGeom>
          <a:solidFill>
            <a:srgbClr val="1D5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Rounded Rectangle 424"/>
          <p:cNvSpPr/>
          <p:nvPr/>
        </p:nvSpPr>
        <p:spPr>
          <a:xfrm>
            <a:off x="16765346" y="2880004"/>
            <a:ext cx="105003" cy="118872"/>
          </a:xfrm>
          <a:prstGeom prst="roundRect">
            <a:avLst>
              <a:gd name="adj" fmla="val 8000"/>
            </a:avLst>
          </a:prstGeom>
          <a:solidFill>
            <a:srgbClr val="1D5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6" name="Connector 425"/>
          <p:cNvCxnSpPr/>
          <p:nvPr/>
        </p:nvCxnSpPr>
        <p:spPr>
          <a:xfrm flipH="1">
            <a:off x="16744543" y="2911703"/>
            <a:ext cx="20803" cy="73305"/>
          </a:xfrm>
          <a:prstGeom prst="line">
            <a:avLst/>
          </a:prstGeom>
          <a:ln w="22783">
            <a:solidFill>
              <a:srgbClr val="1D5E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7" name="Connector 426"/>
          <p:cNvCxnSpPr/>
          <p:nvPr/>
        </p:nvCxnSpPr>
        <p:spPr>
          <a:xfrm>
            <a:off x="16870349" y="2911703"/>
            <a:ext cx="20803" cy="73305"/>
          </a:xfrm>
          <a:prstGeom prst="line">
            <a:avLst/>
          </a:prstGeom>
          <a:ln w="22783">
            <a:solidFill>
              <a:srgbClr val="1D5E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8" name="Rounded Rectangle 427"/>
          <p:cNvSpPr/>
          <p:nvPr/>
        </p:nvSpPr>
        <p:spPr>
          <a:xfrm>
            <a:off x="16778224" y="2985008"/>
            <a:ext cx="33680" cy="85191"/>
          </a:xfrm>
          <a:prstGeom prst="roundRect">
            <a:avLst>
              <a:gd name="adj" fmla="val 8000"/>
            </a:avLst>
          </a:prstGeom>
          <a:solidFill>
            <a:srgbClr val="1D5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Rounded Rectangle 428"/>
          <p:cNvSpPr/>
          <p:nvPr/>
        </p:nvSpPr>
        <p:spPr>
          <a:xfrm>
            <a:off x="16823791" y="2985008"/>
            <a:ext cx="33680" cy="85191"/>
          </a:xfrm>
          <a:prstGeom prst="roundRect">
            <a:avLst>
              <a:gd name="adj" fmla="val 8000"/>
            </a:avLst>
          </a:prstGeom>
          <a:solidFill>
            <a:srgbClr val="1D5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Oval 429"/>
          <p:cNvSpPr/>
          <p:nvPr/>
        </p:nvSpPr>
        <p:spPr>
          <a:xfrm>
            <a:off x="17122114" y="2806700"/>
            <a:ext cx="77266" cy="77266"/>
          </a:xfrm>
          <a:prstGeom prst="ellipse">
            <a:avLst/>
          </a:prstGeom>
          <a:solidFill>
            <a:srgbClr val="1D5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Rounded Rectangle 430"/>
          <p:cNvSpPr/>
          <p:nvPr/>
        </p:nvSpPr>
        <p:spPr>
          <a:xfrm>
            <a:off x="17108246" y="2880004"/>
            <a:ext cx="105003" cy="118872"/>
          </a:xfrm>
          <a:prstGeom prst="roundRect">
            <a:avLst>
              <a:gd name="adj" fmla="val 8000"/>
            </a:avLst>
          </a:prstGeom>
          <a:solidFill>
            <a:srgbClr val="1D5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2" name="Connector 431"/>
          <p:cNvCxnSpPr/>
          <p:nvPr/>
        </p:nvCxnSpPr>
        <p:spPr>
          <a:xfrm flipH="1">
            <a:off x="17087443" y="2911703"/>
            <a:ext cx="20803" cy="73305"/>
          </a:xfrm>
          <a:prstGeom prst="line">
            <a:avLst/>
          </a:prstGeom>
          <a:ln w="22783">
            <a:solidFill>
              <a:srgbClr val="1D5E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3" name="Connector 432"/>
          <p:cNvCxnSpPr/>
          <p:nvPr/>
        </p:nvCxnSpPr>
        <p:spPr>
          <a:xfrm>
            <a:off x="17213249" y="2911703"/>
            <a:ext cx="20803" cy="73305"/>
          </a:xfrm>
          <a:prstGeom prst="line">
            <a:avLst/>
          </a:prstGeom>
          <a:ln w="22783">
            <a:solidFill>
              <a:srgbClr val="1D5E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4" name="Rounded Rectangle 433"/>
          <p:cNvSpPr/>
          <p:nvPr/>
        </p:nvSpPr>
        <p:spPr>
          <a:xfrm>
            <a:off x="17121124" y="2985008"/>
            <a:ext cx="33680" cy="85191"/>
          </a:xfrm>
          <a:prstGeom prst="roundRect">
            <a:avLst>
              <a:gd name="adj" fmla="val 8000"/>
            </a:avLst>
          </a:prstGeom>
          <a:solidFill>
            <a:srgbClr val="1D5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Rounded Rectangle 434"/>
          <p:cNvSpPr/>
          <p:nvPr/>
        </p:nvSpPr>
        <p:spPr>
          <a:xfrm>
            <a:off x="17166691" y="2985008"/>
            <a:ext cx="33680" cy="85191"/>
          </a:xfrm>
          <a:prstGeom prst="roundRect">
            <a:avLst>
              <a:gd name="adj" fmla="val 8000"/>
            </a:avLst>
          </a:prstGeom>
          <a:solidFill>
            <a:srgbClr val="1D5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Oval 435"/>
          <p:cNvSpPr/>
          <p:nvPr/>
        </p:nvSpPr>
        <p:spPr>
          <a:xfrm>
            <a:off x="17465014" y="2806700"/>
            <a:ext cx="77266" cy="77266"/>
          </a:xfrm>
          <a:prstGeom prst="ellipse">
            <a:avLst/>
          </a:prstGeom>
          <a:solidFill>
            <a:srgbClr val="1D5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" name="Rounded Rectangle 436"/>
          <p:cNvSpPr/>
          <p:nvPr/>
        </p:nvSpPr>
        <p:spPr>
          <a:xfrm>
            <a:off x="17451146" y="2880004"/>
            <a:ext cx="105003" cy="118872"/>
          </a:xfrm>
          <a:prstGeom prst="roundRect">
            <a:avLst>
              <a:gd name="adj" fmla="val 8000"/>
            </a:avLst>
          </a:prstGeom>
          <a:solidFill>
            <a:srgbClr val="1D5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8" name="Connector 437"/>
          <p:cNvCxnSpPr/>
          <p:nvPr/>
        </p:nvCxnSpPr>
        <p:spPr>
          <a:xfrm flipH="1">
            <a:off x="17430343" y="2911703"/>
            <a:ext cx="20803" cy="73305"/>
          </a:xfrm>
          <a:prstGeom prst="line">
            <a:avLst/>
          </a:prstGeom>
          <a:ln w="22783">
            <a:solidFill>
              <a:srgbClr val="1D5E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9" name="Connector 438"/>
          <p:cNvCxnSpPr/>
          <p:nvPr/>
        </p:nvCxnSpPr>
        <p:spPr>
          <a:xfrm>
            <a:off x="17556149" y="2911703"/>
            <a:ext cx="20803" cy="73305"/>
          </a:xfrm>
          <a:prstGeom prst="line">
            <a:avLst/>
          </a:prstGeom>
          <a:ln w="22783">
            <a:solidFill>
              <a:srgbClr val="1D5E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0" name="Rounded Rectangle 439"/>
          <p:cNvSpPr/>
          <p:nvPr/>
        </p:nvSpPr>
        <p:spPr>
          <a:xfrm>
            <a:off x="17464024" y="2985008"/>
            <a:ext cx="33680" cy="85191"/>
          </a:xfrm>
          <a:prstGeom prst="roundRect">
            <a:avLst>
              <a:gd name="adj" fmla="val 8000"/>
            </a:avLst>
          </a:prstGeom>
          <a:solidFill>
            <a:srgbClr val="1D5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" name="Rounded Rectangle 440"/>
          <p:cNvSpPr/>
          <p:nvPr/>
        </p:nvSpPr>
        <p:spPr>
          <a:xfrm>
            <a:off x="17509591" y="2985008"/>
            <a:ext cx="33680" cy="85191"/>
          </a:xfrm>
          <a:prstGeom prst="roundRect">
            <a:avLst>
              <a:gd name="adj" fmla="val 8000"/>
            </a:avLst>
          </a:prstGeom>
          <a:solidFill>
            <a:srgbClr val="1D5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Oval 441"/>
          <p:cNvSpPr/>
          <p:nvPr/>
        </p:nvSpPr>
        <p:spPr>
          <a:xfrm>
            <a:off x="17807914" y="2806700"/>
            <a:ext cx="77266" cy="77266"/>
          </a:xfrm>
          <a:prstGeom prst="ellipse">
            <a:avLst/>
          </a:prstGeom>
          <a:solidFill>
            <a:srgbClr val="1D5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" name="Rounded Rectangle 442"/>
          <p:cNvSpPr/>
          <p:nvPr/>
        </p:nvSpPr>
        <p:spPr>
          <a:xfrm>
            <a:off x="17794046" y="2880004"/>
            <a:ext cx="105003" cy="118872"/>
          </a:xfrm>
          <a:prstGeom prst="roundRect">
            <a:avLst>
              <a:gd name="adj" fmla="val 8000"/>
            </a:avLst>
          </a:prstGeom>
          <a:solidFill>
            <a:srgbClr val="1D5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4" name="Connector 443"/>
          <p:cNvCxnSpPr/>
          <p:nvPr/>
        </p:nvCxnSpPr>
        <p:spPr>
          <a:xfrm flipH="1">
            <a:off x="17773243" y="2911703"/>
            <a:ext cx="20803" cy="73305"/>
          </a:xfrm>
          <a:prstGeom prst="line">
            <a:avLst/>
          </a:prstGeom>
          <a:ln w="22783">
            <a:solidFill>
              <a:srgbClr val="1D5E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5" name="Connector 444"/>
          <p:cNvCxnSpPr/>
          <p:nvPr/>
        </p:nvCxnSpPr>
        <p:spPr>
          <a:xfrm>
            <a:off x="17899049" y="2911703"/>
            <a:ext cx="20803" cy="73305"/>
          </a:xfrm>
          <a:prstGeom prst="line">
            <a:avLst/>
          </a:prstGeom>
          <a:ln w="22783">
            <a:solidFill>
              <a:srgbClr val="1D5E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6" name="Rounded Rectangle 445"/>
          <p:cNvSpPr/>
          <p:nvPr/>
        </p:nvSpPr>
        <p:spPr>
          <a:xfrm>
            <a:off x="17806924" y="2985008"/>
            <a:ext cx="33680" cy="85191"/>
          </a:xfrm>
          <a:prstGeom prst="roundRect">
            <a:avLst>
              <a:gd name="adj" fmla="val 8000"/>
            </a:avLst>
          </a:prstGeom>
          <a:solidFill>
            <a:srgbClr val="1D5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" name="Rounded Rectangle 446"/>
          <p:cNvSpPr/>
          <p:nvPr/>
        </p:nvSpPr>
        <p:spPr>
          <a:xfrm>
            <a:off x="17852491" y="2985008"/>
            <a:ext cx="33680" cy="85191"/>
          </a:xfrm>
          <a:prstGeom prst="roundRect">
            <a:avLst>
              <a:gd name="adj" fmla="val 8000"/>
            </a:avLst>
          </a:prstGeom>
          <a:solidFill>
            <a:srgbClr val="1D5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Oval 447"/>
          <p:cNvSpPr/>
          <p:nvPr/>
        </p:nvSpPr>
        <p:spPr>
          <a:xfrm>
            <a:off x="18150814" y="2806700"/>
            <a:ext cx="77266" cy="77266"/>
          </a:xfrm>
          <a:prstGeom prst="ellipse">
            <a:avLst/>
          </a:prstGeom>
          <a:solidFill>
            <a:srgbClr val="1D5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" name="Rounded Rectangle 448"/>
          <p:cNvSpPr/>
          <p:nvPr/>
        </p:nvSpPr>
        <p:spPr>
          <a:xfrm>
            <a:off x="18136946" y="2880004"/>
            <a:ext cx="105003" cy="118872"/>
          </a:xfrm>
          <a:prstGeom prst="roundRect">
            <a:avLst>
              <a:gd name="adj" fmla="val 8000"/>
            </a:avLst>
          </a:prstGeom>
          <a:solidFill>
            <a:srgbClr val="1D5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0" name="Connector 449"/>
          <p:cNvCxnSpPr/>
          <p:nvPr/>
        </p:nvCxnSpPr>
        <p:spPr>
          <a:xfrm flipH="1">
            <a:off x="18116143" y="2911703"/>
            <a:ext cx="20803" cy="73305"/>
          </a:xfrm>
          <a:prstGeom prst="line">
            <a:avLst/>
          </a:prstGeom>
          <a:ln w="22783">
            <a:solidFill>
              <a:srgbClr val="1D5E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1" name="Connector 450"/>
          <p:cNvCxnSpPr/>
          <p:nvPr/>
        </p:nvCxnSpPr>
        <p:spPr>
          <a:xfrm>
            <a:off x="18241949" y="2911703"/>
            <a:ext cx="20803" cy="73305"/>
          </a:xfrm>
          <a:prstGeom prst="line">
            <a:avLst/>
          </a:prstGeom>
          <a:ln w="22783">
            <a:solidFill>
              <a:srgbClr val="1D5E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2" name="Rounded Rectangle 451"/>
          <p:cNvSpPr/>
          <p:nvPr/>
        </p:nvSpPr>
        <p:spPr>
          <a:xfrm>
            <a:off x="18149824" y="2985008"/>
            <a:ext cx="33680" cy="85191"/>
          </a:xfrm>
          <a:prstGeom prst="roundRect">
            <a:avLst>
              <a:gd name="adj" fmla="val 8000"/>
            </a:avLst>
          </a:prstGeom>
          <a:solidFill>
            <a:srgbClr val="1D5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" name="Rounded Rectangle 452"/>
          <p:cNvSpPr/>
          <p:nvPr/>
        </p:nvSpPr>
        <p:spPr>
          <a:xfrm>
            <a:off x="18195391" y="2985008"/>
            <a:ext cx="33680" cy="85191"/>
          </a:xfrm>
          <a:prstGeom prst="roundRect">
            <a:avLst>
              <a:gd name="adj" fmla="val 8000"/>
            </a:avLst>
          </a:prstGeom>
          <a:solidFill>
            <a:srgbClr val="1D5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" name="Oval 453"/>
          <p:cNvSpPr/>
          <p:nvPr/>
        </p:nvSpPr>
        <p:spPr>
          <a:xfrm>
            <a:off x="18493714" y="2806700"/>
            <a:ext cx="77266" cy="77266"/>
          </a:xfrm>
          <a:prstGeom prst="ellipse">
            <a:avLst/>
          </a:prstGeom>
          <a:solidFill>
            <a:srgbClr val="1D5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" name="Rounded Rectangle 454"/>
          <p:cNvSpPr/>
          <p:nvPr/>
        </p:nvSpPr>
        <p:spPr>
          <a:xfrm>
            <a:off x="18479846" y="2880004"/>
            <a:ext cx="105003" cy="118872"/>
          </a:xfrm>
          <a:prstGeom prst="roundRect">
            <a:avLst>
              <a:gd name="adj" fmla="val 8000"/>
            </a:avLst>
          </a:prstGeom>
          <a:solidFill>
            <a:srgbClr val="1D5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6" name="Connector 455"/>
          <p:cNvCxnSpPr/>
          <p:nvPr/>
        </p:nvCxnSpPr>
        <p:spPr>
          <a:xfrm flipH="1">
            <a:off x="18459043" y="2911703"/>
            <a:ext cx="20803" cy="73305"/>
          </a:xfrm>
          <a:prstGeom prst="line">
            <a:avLst/>
          </a:prstGeom>
          <a:ln w="22783">
            <a:solidFill>
              <a:srgbClr val="1D5E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7" name="Connector 456"/>
          <p:cNvCxnSpPr/>
          <p:nvPr/>
        </p:nvCxnSpPr>
        <p:spPr>
          <a:xfrm>
            <a:off x="18584849" y="2911703"/>
            <a:ext cx="20803" cy="73305"/>
          </a:xfrm>
          <a:prstGeom prst="line">
            <a:avLst/>
          </a:prstGeom>
          <a:ln w="22783">
            <a:solidFill>
              <a:srgbClr val="1D5E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8" name="Rounded Rectangle 457"/>
          <p:cNvSpPr/>
          <p:nvPr/>
        </p:nvSpPr>
        <p:spPr>
          <a:xfrm>
            <a:off x="18492724" y="2985008"/>
            <a:ext cx="33680" cy="85191"/>
          </a:xfrm>
          <a:prstGeom prst="roundRect">
            <a:avLst>
              <a:gd name="adj" fmla="val 8000"/>
            </a:avLst>
          </a:prstGeom>
          <a:solidFill>
            <a:srgbClr val="1D5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" name="Rounded Rectangle 458"/>
          <p:cNvSpPr/>
          <p:nvPr/>
        </p:nvSpPr>
        <p:spPr>
          <a:xfrm>
            <a:off x="18538291" y="2985008"/>
            <a:ext cx="33680" cy="85191"/>
          </a:xfrm>
          <a:prstGeom prst="roundRect">
            <a:avLst>
              <a:gd name="adj" fmla="val 8000"/>
            </a:avLst>
          </a:prstGeom>
          <a:solidFill>
            <a:srgbClr val="1D5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" name="Oval 459"/>
          <p:cNvSpPr/>
          <p:nvPr/>
        </p:nvSpPr>
        <p:spPr>
          <a:xfrm>
            <a:off x="18836614" y="1168400"/>
            <a:ext cx="77266" cy="77266"/>
          </a:xfrm>
          <a:prstGeom prst="ellipse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" name="Rounded Rectangle 460"/>
          <p:cNvSpPr/>
          <p:nvPr/>
        </p:nvSpPr>
        <p:spPr>
          <a:xfrm>
            <a:off x="18822746" y="1241704"/>
            <a:ext cx="105003" cy="118872"/>
          </a:xfrm>
          <a:prstGeom prst="roundRect">
            <a:avLst>
              <a:gd name="adj" fmla="val 8000"/>
            </a:avLst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2" name="Connector 461"/>
          <p:cNvCxnSpPr/>
          <p:nvPr/>
        </p:nvCxnSpPr>
        <p:spPr>
          <a:xfrm flipH="1">
            <a:off x="18801943" y="1273403"/>
            <a:ext cx="20803" cy="73305"/>
          </a:xfrm>
          <a:prstGeom prst="line">
            <a:avLst/>
          </a:prstGeom>
          <a:ln w="22783">
            <a:solidFill>
              <a:srgbClr val="F47B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3" name="Connector 462"/>
          <p:cNvCxnSpPr/>
          <p:nvPr/>
        </p:nvCxnSpPr>
        <p:spPr>
          <a:xfrm>
            <a:off x="18927749" y="1273403"/>
            <a:ext cx="20803" cy="73305"/>
          </a:xfrm>
          <a:prstGeom prst="line">
            <a:avLst/>
          </a:prstGeom>
          <a:ln w="22783">
            <a:solidFill>
              <a:srgbClr val="F47B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4" name="Rounded Rectangle 463"/>
          <p:cNvSpPr/>
          <p:nvPr/>
        </p:nvSpPr>
        <p:spPr>
          <a:xfrm>
            <a:off x="18835624" y="1346708"/>
            <a:ext cx="33680" cy="85191"/>
          </a:xfrm>
          <a:prstGeom prst="roundRect">
            <a:avLst>
              <a:gd name="adj" fmla="val 8000"/>
            </a:avLst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" name="Rounded Rectangle 464"/>
          <p:cNvSpPr/>
          <p:nvPr/>
        </p:nvSpPr>
        <p:spPr>
          <a:xfrm>
            <a:off x="18881191" y="1346708"/>
            <a:ext cx="33680" cy="85191"/>
          </a:xfrm>
          <a:prstGeom prst="roundRect">
            <a:avLst>
              <a:gd name="adj" fmla="val 8000"/>
            </a:avLst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" name="Oval 465"/>
          <p:cNvSpPr/>
          <p:nvPr/>
        </p:nvSpPr>
        <p:spPr>
          <a:xfrm>
            <a:off x="18836614" y="1714500"/>
            <a:ext cx="77266" cy="77266"/>
          </a:xfrm>
          <a:prstGeom prst="ellipse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" name="Rounded Rectangle 466"/>
          <p:cNvSpPr/>
          <p:nvPr/>
        </p:nvSpPr>
        <p:spPr>
          <a:xfrm>
            <a:off x="18822746" y="1787804"/>
            <a:ext cx="105003" cy="118872"/>
          </a:xfrm>
          <a:prstGeom prst="roundRect">
            <a:avLst>
              <a:gd name="adj" fmla="val 8000"/>
            </a:avLst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8" name="Connector 467"/>
          <p:cNvCxnSpPr/>
          <p:nvPr/>
        </p:nvCxnSpPr>
        <p:spPr>
          <a:xfrm flipH="1">
            <a:off x="18801943" y="1819503"/>
            <a:ext cx="20803" cy="73305"/>
          </a:xfrm>
          <a:prstGeom prst="line">
            <a:avLst/>
          </a:prstGeom>
          <a:ln w="22783">
            <a:solidFill>
              <a:srgbClr val="F47B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9" name="Connector 468"/>
          <p:cNvCxnSpPr/>
          <p:nvPr/>
        </p:nvCxnSpPr>
        <p:spPr>
          <a:xfrm>
            <a:off x="18927749" y="1819503"/>
            <a:ext cx="20803" cy="73305"/>
          </a:xfrm>
          <a:prstGeom prst="line">
            <a:avLst/>
          </a:prstGeom>
          <a:ln w="22783">
            <a:solidFill>
              <a:srgbClr val="F47B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0" name="Rounded Rectangle 469"/>
          <p:cNvSpPr/>
          <p:nvPr/>
        </p:nvSpPr>
        <p:spPr>
          <a:xfrm>
            <a:off x="18835624" y="1892808"/>
            <a:ext cx="33680" cy="85191"/>
          </a:xfrm>
          <a:prstGeom prst="roundRect">
            <a:avLst>
              <a:gd name="adj" fmla="val 8000"/>
            </a:avLst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" name="Rounded Rectangle 470"/>
          <p:cNvSpPr/>
          <p:nvPr/>
        </p:nvSpPr>
        <p:spPr>
          <a:xfrm>
            <a:off x="18881191" y="1892808"/>
            <a:ext cx="33680" cy="85191"/>
          </a:xfrm>
          <a:prstGeom prst="roundRect">
            <a:avLst>
              <a:gd name="adj" fmla="val 8000"/>
            </a:avLst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" name="Oval 471"/>
          <p:cNvSpPr/>
          <p:nvPr/>
        </p:nvSpPr>
        <p:spPr>
          <a:xfrm>
            <a:off x="18836614" y="2260600"/>
            <a:ext cx="77266" cy="77266"/>
          </a:xfrm>
          <a:prstGeom prst="ellipse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" name="Rounded Rectangle 472"/>
          <p:cNvSpPr/>
          <p:nvPr/>
        </p:nvSpPr>
        <p:spPr>
          <a:xfrm>
            <a:off x="18822746" y="2333904"/>
            <a:ext cx="105003" cy="118872"/>
          </a:xfrm>
          <a:prstGeom prst="roundRect">
            <a:avLst>
              <a:gd name="adj" fmla="val 8000"/>
            </a:avLst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4" name="Connector 473"/>
          <p:cNvCxnSpPr/>
          <p:nvPr/>
        </p:nvCxnSpPr>
        <p:spPr>
          <a:xfrm flipH="1">
            <a:off x="18801943" y="2365603"/>
            <a:ext cx="20803" cy="73305"/>
          </a:xfrm>
          <a:prstGeom prst="line">
            <a:avLst/>
          </a:prstGeom>
          <a:ln w="22783">
            <a:solidFill>
              <a:srgbClr val="F47B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5" name="Connector 474"/>
          <p:cNvCxnSpPr/>
          <p:nvPr/>
        </p:nvCxnSpPr>
        <p:spPr>
          <a:xfrm>
            <a:off x="18927749" y="2365603"/>
            <a:ext cx="20803" cy="73305"/>
          </a:xfrm>
          <a:prstGeom prst="line">
            <a:avLst/>
          </a:prstGeom>
          <a:ln w="22783">
            <a:solidFill>
              <a:srgbClr val="F47B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6" name="Rounded Rectangle 475"/>
          <p:cNvSpPr/>
          <p:nvPr/>
        </p:nvSpPr>
        <p:spPr>
          <a:xfrm>
            <a:off x="18835624" y="2438908"/>
            <a:ext cx="33680" cy="85191"/>
          </a:xfrm>
          <a:prstGeom prst="roundRect">
            <a:avLst>
              <a:gd name="adj" fmla="val 8000"/>
            </a:avLst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" name="Rounded Rectangle 476"/>
          <p:cNvSpPr/>
          <p:nvPr/>
        </p:nvSpPr>
        <p:spPr>
          <a:xfrm>
            <a:off x="18881191" y="2438908"/>
            <a:ext cx="33680" cy="85191"/>
          </a:xfrm>
          <a:prstGeom prst="roundRect">
            <a:avLst>
              <a:gd name="adj" fmla="val 8000"/>
            </a:avLst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" name="Oval 477"/>
          <p:cNvSpPr/>
          <p:nvPr/>
        </p:nvSpPr>
        <p:spPr>
          <a:xfrm>
            <a:off x="18836614" y="2806700"/>
            <a:ext cx="77266" cy="77266"/>
          </a:xfrm>
          <a:prstGeom prst="ellipse">
            <a:avLst/>
          </a:prstGeom>
          <a:solidFill>
            <a:srgbClr val="E82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" name="Rounded Rectangle 478"/>
          <p:cNvSpPr/>
          <p:nvPr/>
        </p:nvSpPr>
        <p:spPr>
          <a:xfrm>
            <a:off x="18822746" y="2880004"/>
            <a:ext cx="105003" cy="118872"/>
          </a:xfrm>
          <a:prstGeom prst="roundRect">
            <a:avLst>
              <a:gd name="adj" fmla="val 8000"/>
            </a:avLst>
          </a:prstGeom>
          <a:solidFill>
            <a:srgbClr val="E82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0" name="Connector 479"/>
          <p:cNvCxnSpPr/>
          <p:nvPr/>
        </p:nvCxnSpPr>
        <p:spPr>
          <a:xfrm flipH="1">
            <a:off x="18801943" y="2911703"/>
            <a:ext cx="20803" cy="73305"/>
          </a:xfrm>
          <a:prstGeom prst="line">
            <a:avLst/>
          </a:prstGeom>
          <a:ln w="22783">
            <a:solidFill>
              <a:srgbClr val="E821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1" name="Connector 480"/>
          <p:cNvCxnSpPr/>
          <p:nvPr/>
        </p:nvCxnSpPr>
        <p:spPr>
          <a:xfrm>
            <a:off x="18927749" y="2911703"/>
            <a:ext cx="20803" cy="73305"/>
          </a:xfrm>
          <a:prstGeom prst="line">
            <a:avLst/>
          </a:prstGeom>
          <a:ln w="22783">
            <a:solidFill>
              <a:srgbClr val="E821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2" name="Rounded Rectangle 481"/>
          <p:cNvSpPr/>
          <p:nvPr/>
        </p:nvSpPr>
        <p:spPr>
          <a:xfrm>
            <a:off x="18835624" y="2985008"/>
            <a:ext cx="33680" cy="85191"/>
          </a:xfrm>
          <a:prstGeom prst="roundRect">
            <a:avLst>
              <a:gd name="adj" fmla="val 8000"/>
            </a:avLst>
          </a:prstGeom>
          <a:solidFill>
            <a:srgbClr val="E82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" name="Rounded Rectangle 482"/>
          <p:cNvSpPr/>
          <p:nvPr/>
        </p:nvSpPr>
        <p:spPr>
          <a:xfrm>
            <a:off x="18881191" y="2985008"/>
            <a:ext cx="33680" cy="85191"/>
          </a:xfrm>
          <a:prstGeom prst="roundRect">
            <a:avLst>
              <a:gd name="adj" fmla="val 8000"/>
            </a:avLst>
          </a:prstGeom>
          <a:solidFill>
            <a:srgbClr val="E82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" name="TextBox 483"/>
          <p:cNvSpPr txBox="1"/>
          <p:nvPr/>
        </p:nvSpPr>
        <p:spPr>
          <a:xfrm>
            <a:off x="19126200" y="1841500"/>
            <a:ext cx="304800" cy="2286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l"/>
            <a:r>
              <a:rPr sz="1625" b="1" i="0">
                <a:solidFill>
                  <a:srgbClr val="111111"/>
                </a:solidFill>
                <a:latin typeface="Arial"/>
              </a:rPr>
              <a:t>...</a:t>
            </a:r>
          </a:p>
        </p:txBody>
      </p:sp>
      <p:sp>
        <p:nvSpPr>
          <p:cNvPr id="485" name="Oval 484"/>
          <p:cNvSpPr/>
          <p:nvPr/>
        </p:nvSpPr>
        <p:spPr>
          <a:xfrm>
            <a:off x="19497014" y="1168400"/>
            <a:ext cx="77266" cy="77266"/>
          </a:xfrm>
          <a:prstGeom prst="ellipse">
            <a:avLst/>
          </a:prstGeom>
          <a:solidFill>
            <a:srgbClr val="1D5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" name="Rounded Rectangle 485"/>
          <p:cNvSpPr/>
          <p:nvPr/>
        </p:nvSpPr>
        <p:spPr>
          <a:xfrm>
            <a:off x="19483146" y="1241704"/>
            <a:ext cx="105003" cy="118872"/>
          </a:xfrm>
          <a:prstGeom prst="roundRect">
            <a:avLst>
              <a:gd name="adj" fmla="val 8000"/>
            </a:avLst>
          </a:prstGeom>
          <a:solidFill>
            <a:srgbClr val="1D5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7" name="Connector 486"/>
          <p:cNvCxnSpPr/>
          <p:nvPr/>
        </p:nvCxnSpPr>
        <p:spPr>
          <a:xfrm flipH="1">
            <a:off x="19462343" y="1273403"/>
            <a:ext cx="20803" cy="73305"/>
          </a:xfrm>
          <a:prstGeom prst="line">
            <a:avLst/>
          </a:prstGeom>
          <a:ln w="22783">
            <a:solidFill>
              <a:srgbClr val="1D5E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8" name="Connector 487"/>
          <p:cNvCxnSpPr/>
          <p:nvPr/>
        </p:nvCxnSpPr>
        <p:spPr>
          <a:xfrm>
            <a:off x="19588149" y="1273403"/>
            <a:ext cx="20803" cy="73305"/>
          </a:xfrm>
          <a:prstGeom prst="line">
            <a:avLst/>
          </a:prstGeom>
          <a:ln w="22783">
            <a:solidFill>
              <a:srgbClr val="1D5E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9" name="Rounded Rectangle 488"/>
          <p:cNvSpPr/>
          <p:nvPr/>
        </p:nvSpPr>
        <p:spPr>
          <a:xfrm>
            <a:off x="19496024" y="1346708"/>
            <a:ext cx="33680" cy="85191"/>
          </a:xfrm>
          <a:prstGeom prst="roundRect">
            <a:avLst>
              <a:gd name="adj" fmla="val 8000"/>
            </a:avLst>
          </a:prstGeom>
          <a:solidFill>
            <a:srgbClr val="1D5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" name="Rounded Rectangle 489"/>
          <p:cNvSpPr/>
          <p:nvPr/>
        </p:nvSpPr>
        <p:spPr>
          <a:xfrm>
            <a:off x="19541591" y="1346708"/>
            <a:ext cx="33680" cy="85191"/>
          </a:xfrm>
          <a:prstGeom prst="roundRect">
            <a:avLst>
              <a:gd name="adj" fmla="val 8000"/>
            </a:avLst>
          </a:prstGeom>
          <a:solidFill>
            <a:srgbClr val="1D5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" name="Oval 490"/>
          <p:cNvSpPr/>
          <p:nvPr/>
        </p:nvSpPr>
        <p:spPr>
          <a:xfrm>
            <a:off x="19497014" y="1714500"/>
            <a:ext cx="77266" cy="77266"/>
          </a:xfrm>
          <a:prstGeom prst="ellipse">
            <a:avLst/>
          </a:prstGeom>
          <a:solidFill>
            <a:srgbClr val="1D5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" name="Rounded Rectangle 491"/>
          <p:cNvSpPr/>
          <p:nvPr/>
        </p:nvSpPr>
        <p:spPr>
          <a:xfrm>
            <a:off x="19483146" y="1787804"/>
            <a:ext cx="105003" cy="118872"/>
          </a:xfrm>
          <a:prstGeom prst="roundRect">
            <a:avLst>
              <a:gd name="adj" fmla="val 8000"/>
            </a:avLst>
          </a:prstGeom>
          <a:solidFill>
            <a:srgbClr val="1D5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3" name="Connector 492"/>
          <p:cNvCxnSpPr/>
          <p:nvPr/>
        </p:nvCxnSpPr>
        <p:spPr>
          <a:xfrm flipH="1">
            <a:off x="19462343" y="1819503"/>
            <a:ext cx="20803" cy="73305"/>
          </a:xfrm>
          <a:prstGeom prst="line">
            <a:avLst/>
          </a:prstGeom>
          <a:ln w="22783">
            <a:solidFill>
              <a:srgbClr val="1D5E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4" name="Connector 493"/>
          <p:cNvCxnSpPr/>
          <p:nvPr/>
        </p:nvCxnSpPr>
        <p:spPr>
          <a:xfrm>
            <a:off x="19588149" y="1819503"/>
            <a:ext cx="20803" cy="73305"/>
          </a:xfrm>
          <a:prstGeom prst="line">
            <a:avLst/>
          </a:prstGeom>
          <a:ln w="22783">
            <a:solidFill>
              <a:srgbClr val="1D5E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5" name="Rounded Rectangle 494"/>
          <p:cNvSpPr/>
          <p:nvPr/>
        </p:nvSpPr>
        <p:spPr>
          <a:xfrm>
            <a:off x="19496024" y="1892808"/>
            <a:ext cx="33680" cy="85191"/>
          </a:xfrm>
          <a:prstGeom prst="roundRect">
            <a:avLst>
              <a:gd name="adj" fmla="val 8000"/>
            </a:avLst>
          </a:prstGeom>
          <a:solidFill>
            <a:srgbClr val="1D5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" name="Rounded Rectangle 495"/>
          <p:cNvSpPr/>
          <p:nvPr/>
        </p:nvSpPr>
        <p:spPr>
          <a:xfrm>
            <a:off x="19541591" y="1892808"/>
            <a:ext cx="33680" cy="85191"/>
          </a:xfrm>
          <a:prstGeom prst="roundRect">
            <a:avLst>
              <a:gd name="adj" fmla="val 8000"/>
            </a:avLst>
          </a:prstGeom>
          <a:solidFill>
            <a:srgbClr val="1D5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" name="Oval 496"/>
          <p:cNvSpPr/>
          <p:nvPr/>
        </p:nvSpPr>
        <p:spPr>
          <a:xfrm>
            <a:off x="19497014" y="2260600"/>
            <a:ext cx="77266" cy="77266"/>
          </a:xfrm>
          <a:prstGeom prst="ellipse">
            <a:avLst/>
          </a:prstGeom>
          <a:solidFill>
            <a:srgbClr val="1D5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" name="Rounded Rectangle 497"/>
          <p:cNvSpPr/>
          <p:nvPr/>
        </p:nvSpPr>
        <p:spPr>
          <a:xfrm>
            <a:off x="19483146" y="2333904"/>
            <a:ext cx="105003" cy="118872"/>
          </a:xfrm>
          <a:prstGeom prst="roundRect">
            <a:avLst>
              <a:gd name="adj" fmla="val 8000"/>
            </a:avLst>
          </a:prstGeom>
          <a:solidFill>
            <a:srgbClr val="1D5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9" name="Connector 498"/>
          <p:cNvCxnSpPr/>
          <p:nvPr/>
        </p:nvCxnSpPr>
        <p:spPr>
          <a:xfrm flipH="1">
            <a:off x="19462343" y="2365603"/>
            <a:ext cx="20803" cy="73305"/>
          </a:xfrm>
          <a:prstGeom prst="line">
            <a:avLst/>
          </a:prstGeom>
          <a:ln w="22783">
            <a:solidFill>
              <a:srgbClr val="1D5E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0" name="Connector 499"/>
          <p:cNvCxnSpPr/>
          <p:nvPr/>
        </p:nvCxnSpPr>
        <p:spPr>
          <a:xfrm>
            <a:off x="19588149" y="2365603"/>
            <a:ext cx="20803" cy="73305"/>
          </a:xfrm>
          <a:prstGeom prst="line">
            <a:avLst/>
          </a:prstGeom>
          <a:ln w="22783">
            <a:solidFill>
              <a:srgbClr val="1D5E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1" name="Rounded Rectangle 500"/>
          <p:cNvSpPr/>
          <p:nvPr/>
        </p:nvSpPr>
        <p:spPr>
          <a:xfrm>
            <a:off x="19496024" y="2438908"/>
            <a:ext cx="33680" cy="85191"/>
          </a:xfrm>
          <a:prstGeom prst="roundRect">
            <a:avLst>
              <a:gd name="adj" fmla="val 8000"/>
            </a:avLst>
          </a:prstGeom>
          <a:solidFill>
            <a:srgbClr val="1D5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" name="Rounded Rectangle 501"/>
          <p:cNvSpPr/>
          <p:nvPr/>
        </p:nvSpPr>
        <p:spPr>
          <a:xfrm>
            <a:off x="19541591" y="2438908"/>
            <a:ext cx="33680" cy="85191"/>
          </a:xfrm>
          <a:prstGeom prst="roundRect">
            <a:avLst>
              <a:gd name="adj" fmla="val 8000"/>
            </a:avLst>
          </a:prstGeom>
          <a:solidFill>
            <a:srgbClr val="1D5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" name="Oval 502"/>
          <p:cNvSpPr/>
          <p:nvPr/>
        </p:nvSpPr>
        <p:spPr>
          <a:xfrm>
            <a:off x="19497014" y="2806700"/>
            <a:ext cx="77266" cy="77266"/>
          </a:xfrm>
          <a:prstGeom prst="ellipse">
            <a:avLst/>
          </a:prstGeom>
          <a:solidFill>
            <a:srgbClr val="E82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" name="Rounded Rectangle 503"/>
          <p:cNvSpPr/>
          <p:nvPr/>
        </p:nvSpPr>
        <p:spPr>
          <a:xfrm>
            <a:off x="19483146" y="2880004"/>
            <a:ext cx="105003" cy="118872"/>
          </a:xfrm>
          <a:prstGeom prst="roundRect">
            <a:avLst>
              <a:gd name="adj" fmla="val 8000"/>
            </a:avLst>
          </a:prstGeom>
          <a:solidFill>
            <a:srgbClr val="E82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5" name="Connector 504"/>
          <p:cNvCxnSpPr/>
          <p:nvPr/>
        </p:nvCxnSpPr>
        <p:spPr>
          <a:xfrm flipH="1">
            <a:off x="19462343" y="2911703"/>
            <a:ext cx="20803" cy="73305"/>
          </a:xfrm>
          <a:prstGeom prst="line">
            <a:avLst/>
          </a:prstGeom>
          <a:ln w="22783">
            <a:solidFill>
              <a:srgbClr val="E821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6" name="Connector 505"/>
          <p:cNvCxnSpPr/>
          <p:nvPr/>
        </p:nvCxnSpPr>
        <p:spPr>
          <a:xfrm>
            <a:off x="19588149" y="2911703"/>
            <a:ext cx="20803" cy="73305"/>
          </a:xfrm>
          <a:prstGeom prst="line">
            <a:avLst/>
          </a:prstGeom>
          <a:ln w="22783">
            <a:solidFill>
              <a:srgbClr val="E821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7" name="Rounded Rectangle 506"/>
          <p:cNvSpPr/>
          <p:nvPr/>
        </p:nvSpPr>
        <p:spPr>
          <a:xfrm>
            <a:off x="19496024" y="2985008"/>
            <a:ext cx="33680" cy="85191"/>
          </a:xfrm>
          <a:prstGeom prst="roundRect">
            <a:avLst>
              <a:gd name="adj" fmla="val 8000"/>
            </a:avLst>
          </a:prstGeom>
          <a:solidFill>
            <a:srgbClr val="E82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" name="Rounded Rectangle 507"/>
          <p:cNvSpPr/>
          <p:nvPr/>
        </p:nvSpPr>
        <p:spPr>
          <a:xfrm>
            <a:off x="19541591" y="2985008"/>
            <a:ext cx="33680" cy="85191"/>
          </a:xfrm>
          <a:prstGeom prst="roundRect">
            <a:avLst>
              <a:gd name="adj" fmla="val 8000"/>
            </a:avLst>
          </a:prstGeom>
          <a:solidFill>
            <a:srgbClr val="E82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9" name="Rounded Rectangle 508"/>
          <p:cNvSpPr/>
          <p:nvPr/>
        </p:nvSpPr>
        <p:spPr>
          <a:xfrm>
            <a:off x="19621500" y="1066800"/>
            <a:ext cx="1739900" cy="22479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8DA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" name="Oval 509"/>
          <p:cNvSpPr/>
          <p:nvPr/>
        </p:nvSpPr>
        <p:spPr>
          <a:xfrm>
            <a:off x="19869480" y="1295400"/>
            <a:ext cx="85191" cy="85191"/>
          </a:xfrm>
          <a:prstGeom prst="ellipse">
            <a:avLst/>
          </a:prstGeom>
          <a:solidFill>
            <a:srgbClr val="1D5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" name="Rounded Rectangle 510"/>
          <p:cNvSpPr/>
          <p:nvPr/>
        </p:nvSpPr>
        <p:spPr>
          <a:xfrm>
            <a:off x="19854189" y="1376222"/>
            <a:ext cx="115773" cy="131064"/>
          </a:xfrm>
          <a:prstGeom prst="roundRect">
            <a:avLst>
              <a:gd name="adj" fmla="val 8000"/>
            </a:avLst>
          </a:prstGeom>
          <a:solidFill>
            <a:srgbClr val="1D5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2" name="Connector 511"/>
          <p:cNvCxnSpPr/>
          <p:nvPr/>
        </p:nvCxnSpPr>
        <p:spPr>
          <a:xfrm flipH="1">
            <a:off x="19831253" y="1411173"/>
            <a:ext cx="22936" cy="80823"/>
          </a:xfrm>
          <a:prstGeom prst="line">
            <a:avLst/>
          </a:prstGeom>
          <a:ln w="25120">
            <a:solidFill>
              <a:srgbClr val="1D5E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3" name="Connector 512"/>
          <p:cNvCxnSpPr/>
          <p:nvPr/>
        </p:nvCxnSpPr>
        <p:spPr>
          <a:xfrm>
            <a:off x="19969962" y="1411173"/>
            <a:ext cx="22936" cy="80823"/>
          </a:xfrm>
          <a:prstGeom prst="line">
            <a:avLst/>
          </a:prstGeom>
          <a:ln w="25120">
            <a:solidFill>
              <a:srgbClr val="1D5E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4" name="Rounded Rectangle 513"/>
          <p:cNvSpPr/>
          <p:nvPr/>
        </p:nvSpPr>
        <p:spPr>
          <a:xfrm>
            <a:off x="19868388" y="1491996"/>
            <a:ext cx="37134" cy="93929"/>
          </a:xfrm>
          <a:prstGeom prst="roundRect">
            <a:avLst>
              <a:gd name="adj" fmla="val 8000"/>
            </a:avLst>
          </a:prstGeom>
          <a:solidFill>
            <a:srgbClr val="1D5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5" name="Rounded Rectangle 514"/>
          <p:cNvSpPr/>
          <p:nvPr/>
        </p:nvSpPr>
        <p:spPr>
          <a:xfrm>
            <a:off x="19918629" y="1491996"/>
            <a:ext cx="37134" cy="93929"/>
          </a:xfrm>
          <a:prstGeom prst="roundRect">
            <a:avLst>
              <a:gd name="adj" fmla="val 8000"/>
            </a:avLst>
          </a:prstGeom>
          <a:solidFill>
            <a:srgbClr val="1D5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6" name="TextBox 515"/>
          <p:cNvSpPr txBox="1"/>
          <p:nvPr/>
        </p:nvSpPr>
        <p:spPr>
          <a:xfrm>
            <a:off x="20116800" y="1282700"/>
            <a:ext cx="1117600" cy="4064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t">
            <a:spAutoFit/>
          </a:bodyPr>
          <a:lstStyle/>
          <a:p>
            <a:pPr algn="l"/>
            <a:r>
              <a:rPr sz="1000" b="1" i="0">
                <a:solidFill>
                  <a:srgbClr val="111111"/>
                </a:solidFill>
                <a:latin typeface="Arial"/>
              </a:rPr>
              <a:t>Training subjects</a:t>
            </a:r>
          </a:p>
          <a:p>
            <a:pPr algn="l"/>
            <a:r>
              <a:rPr sz="1000" b="1" i="0">
                <a:solidFill>
                  <a:srgbClr val="111111"/>
                </a:solidFill>
                <a:latin typeface="Arial"/>
              </a:rPr>
              <a:t>(1,900–1,901)</a:t>
            </a:r>
          </a:p>
        </p:txBody>
      </p:sp>
      <p:sp>
        <p:nvSpPr>
          <p:cNvPr id="517" name="Oval 516"/>
          <p:cNvSpPr/>
          <p:nvPr/>
        </p:nvSpPr>
        <p:spPr>
          <a:xfrm>
            <a:off x="19869480" y="1841500"/>
            <a:ext cx="85191" cy="85191"/>
          </a:xfrm>
          <a:prstGeom prst="ellipse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8" name="Rounded Rectangle 517"/>
          <p:cNvSpPr/>
          <p:nvPr/>
        </p:nvSpPr>
        <p:spPr>
          <a:xfrm>
            <a:off x="19854189" y="1922322"/>
            <a:ext cx="115773" cy="131064"/>
          </a:xfrm>
          <a:prstGeom prst="roundRect">
            <a:avLst>
              <a:gd name="adj" fmla="val 8000"/>
            </a:avLst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9" name="Connector 518"/>
          <p:cNvCxnSpPr/>
          <p:nvPr/>
        </p:nvCxnSpPr>
        <p:spPr>
          <a:xfrm flipH="1">
            <a:off x="19831253" y="1957273"/>
            <a:ext cx="22936" cy="80822"/>
          </a:xfrm>
          <a:prstGeom prst="line">
            <a:avLst/>
          </a:prstGeom>
          <a:ln w="25120">
            <a:solidFill>
              <a:srgbClr val="F47B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0" name="Connector 519"/>
          <p:cNvCxnSpPr/>
          <p:nvPr/>
        </p:nvCxnSpPr>
        <p:spPr>
          <a:xfrm>
            <a:off x="19969962" y="1957273"/>
            <a:ext cx="22936" cy="80822"/>
          </a:xfrm>
          <a:prstGeom prst="line">
            <a:avLst/>
          </a:prstGeom>
          <a:ln w="25120">
            <a:solidFill>
              <a:srgbClr val="F47B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1" name="Rounded Rectangle 520"/>
          <p:cNvSpPr/>
          <p:nvPr/>
        </p:nvSpPr>
        <p:spPr>
          <a:xfrm>
            <a:off x="19868388" y="2038095"/>
            <a:ext cx="37134" cy="93929"/>
          </a:xfrm>
          <a:prstGeom prst="roundRect">
            <a:avLst>
              <a:gd name="adj" fmla="val 8000"/>
            </a:avLst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" name="Rounded Rectangle 521"/>
          <p:cNvSpPr/>
          <p:nvPr/>
        </p:nvSpPr>
        <p:spPr>
          <a:xfrm>
            <a:off x="19918629" y="2038095"/>
            <a:ext cx="37134" cy="93929"/>
          </a:xfrm>
          <a:prstGeom prst="roundRect">
            <a:avLst>
              <a:gd name="adj" fmla="val 8000"/>
            </a:avLst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3" name="TextBox 522"/>
          <p:cNvSpPr txBox="1"/>
          <p:nvPr/>
        </p:nvSpPr>
        <p:spPr>
          <a:xfrm>
            <a:off x="20116800" y="1816100"/>
            <a:ext cx="1117600" cy="4064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t">
            <a:spAutoFit/>
          </a:bodyPr>
          <a:lstStyle/>
          <a:p>
            <a:pPr algn="l"/>
            <a:r>
              <a:rPr sz="1000" b="1" i="0">
                <a:solidFill>
                  <a:srgbClr val="111111"/>
                </a:solidFill>
                <a:latin typeface="Arial"/>
              </a:rPr>
              <a:t>Validation subjects</a:t>
            </a:r>
          </a:p>
          <a:p>
            <a:pPr algn="l"/>
            <a:r>
              <a:rPr sz="1000" b="1" i="0">
                <a:solidFill>
                  <a:srgbClr val="111111"/>
                </a:solidFill>
                <a:latin typeface="Arial"/>
              </a:rPr>
              <a:t>(271)</a:t>
            </a:r>
          </a:p>
        </p:txBody>
      </p:sp>
      <p:sp>
        <p:nvSpPr>
          <p:cNvPr id="524" name="Oval 523"/>
          <p:cNvSpPr/>
          <p:nvPr/>
        </p:nvSpPr>
        <p:spPr>
          <a:xfrm>
            <a:off x="19869480" y="2413000"/>
            <a:ext cx="85191" cy="85191"/>
          </a:xfrm>
          <a:prstGeom prst="ellipse">
            <a:avLst/>
          </a:prstGeom>
          <a:solidFill>
            <a:srgbClr val="E82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5" name="Rounded Rectangle 524"/>
          <p:cNvSpPr/>
          <p:nvPr/>
        </p:nvSpPr>
        <p:spPr>
          <a:xfrm>
            <a:off x="19854189" y="2493822"/>
            <a:ext cx="115773" cy="131064"/>
          </a:xfrm>
          <a:prstGeom prst="roundRect">
            <a:avLst>
              <a:gd name="adj" fmla="val 8000"/>
            </a:avLst>
          </a:prstGeom>
          <a:solidFill>
            <a:srgbClr val="E82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6" name="Connector 525"/>
          <p:cNvCxnSpPr/>
          <p:nvPr/>
        </p:nvCxnSpPr>
        <p:spPr>
          <a:xfrm flipH="1">
            <a:off x="19831253" y="2528773"/>
            <a:ext cx="22936" cy="80823"/>
          </a:xfrm>
          <a:prstGeom prst="line">
            <a:avLst/>
          </a:prstGeom>
          <a:ln w="25120">
            <a:solidFill>
              <a:srgbClr val="E821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7" name="Connector 526"/>
          <p:cNvCxnSpPr/>
          <p:nvPr/>
        </p:nvCxnSpPr>
        <p:spPr>
          <a:xfrm>
            <a:off x="19969962" y="2528773"/>
            <a:ext cx="22936" cy="80823"/>
          </a:xfrm>
          <a:prstGeom prst="line">
            <a:avLst/>
          </a:prstGeom>
          <a:ln w="25120">
            <a:solidFill>
              <a:srgbClr val="E821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8" name="Rounded Rectangle 527"/>
          <p:cNvSpPr/>
          <p:nvPr/>
        </p:nvSpPr>
        <p:spPr>
          <a:xfrm>
            <a:off x="19868388" y="2609596"/>
            <a:ext cx="37134" cy="93929"/>
          </a:xfrm>
          <a:prstGeom prst="roundRect">
            <a:avLst>
              <a:gd name="adj" fmla="val 8000"/>
            </a:avLst>
          </a:prstGeom>
          <a:solidFill>
            <a:srgbClr val="E82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9" name="Rounded Rectangle 528"/>
          <p:cNvSpPr/>
          <p:nvPr/>
        </p:nvSpPr>
        <p:spPr>
          <a:xfrm>
            <a:off x="19918629" y="2609596"/>
            <a:ext cx="37134" cy="93929"/>
          </a:xfrm>
          <a:prstGeom prst="roundRect">
            <a:avLst>
              <a:gd name="adj" fmla="val 8000"/>
            </a:avLst>
          </a:prstGeom>
          <a:solidFill>
            <a:srgbClr val="E82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0" name="TextBox 529"/>
          <p:cNvSpPr txBox="1"/>
          <p:nvPr/>
        </p:nvSpPr>
        <p:spPr>
          <a:xfrm>
            <a:off x="20116800" y="2387600"/>
            <a:ext cx="1117600" cy="4064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t">
            <a:spAutoFit/>
          </a:bodyPr>
          <a:lstStyle/>
          <a:p>
            <a:pPr algn="l"/>
            <a:r>
              <a:rPr sz="1000" b="1" i="0">
                <a:solidFill>
                  <a:srgbClr val="111111"/>
                </a:solidFill>
                <a:latin typeface="Arial"/>
              </a:rPr>
              <a:t>Held-out test</a:t>
            </a:r>
          </a:p>
          <a:p>
            <a:pPr algn="l"/>
            <a:r>
              <a:rPr sz="1000" b="1" i="0">
                <a:solidFill>
                  <a:srgbClr val="111111"/>
                </a:solidFill>
                <a:latin typeface="Arial"/>
              </a:rPr>
              <a:t>subjects (542–543)</a:t>
            </a:r>
          </a:p>
        </p:txBody>
      </p:sp>
      <p:sp>
        <p:nvSpPr>
          <p:cNvPr id="531" name="Rounded Rectangle 530"/>
          <p:cNvSpPr/>
          <p:nvPr/>
        </p:nvSpPr>
        <p:spPr>
          <a:xfrm>
            <a:off x="16662400" y="3162300"/>
            <a:ext cx="1206500" cy="901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9BA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2" name="TextBox 531"/>
          <p:cNvSpPr txBox="1"/>
          <p:nvPr/>
        </p:nvSpPr>
        <p:spPr>
          <a:xfrm>
            <a:off x="16929100" y="3302000"/>
            <a:ext cx="660400" cy="2286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ctr"/>
            <a:r>
              <a:rPr sz="1250" b="1" i="0">
                <a:solidFill>
                  <a:srgbClr val="062B68"/>
                </a:solidFill>
                <a:latin typeface="Arial"/>
              </a:rPr>
              <a:t>Train</a:t>
            </a:r>
          </a:p>
        </p:txBody>
      </p:sp>
      <p:cxnSp>
        <p:nvCxnSpPr>
          <p:cNvPr id="533" name="Connector 532"/>
          <p:cNvCxnSpPr/>
          <p:nvPr/>
        </p:nvCxnSpPr>
        <p:spPr>
          <a:xfrm flipV="1">
            <a:off x="16954500" y="3632200"/>
            <a:ext cx="203200" cy="177800"/>
          </a:xfrm>
          <a:prstGeom prst="line">
            <a:avLst/>
          </a:prstGeom>
          <a:ln w="12700">
            <a:solidFill>
              <a:srgbClr val="1D5E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4" name="Connector 533"/>
          <p:cNvCxnSpPr/>
          <p:nvPr/>
        </p:nvCxnSpPr>
        <p:spPr>
          <a:xfrm>
            <a:off x="17157700" y="3632200"/>
            <a:ext cx="215900" cy="215900"/>
          </a:xfrm>
          <a:prstGeom prst="line">
            <a:avLst/>
          </a:prstGeom>
          <a:ln w="12700">
            <a:solidFill>
              <a:srgbClr val="1D5E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5" name="Connector 534"/>
          <p:cNvCxnSpPr/>
          <p:nvPr/>
        </p:nvCxnSpPr>
        <p:spPr>
          <a:xfrm flipH="1" flipV="1">
            <a:off x="17043400" y="3505200"/>
            <a:ext cx="114300" cy="127000"/>
          </a:xfrm>
          <a:prstGeom prst="line">
            <a:avLst/>
          </a:prstGeom>
          <a:ln w="12700">
            <a:solidFill>
              <a:srgbClr val="1D5E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6" name="Connector 535"/>
          <p:cNvCxnSpPr/>
          <p:nvPr/>
        </p:nvCxnSpPr>
        <p:spPr>
          <a:xfrm>
            <a:off x="17043400" y="3505200"/>
            <a:ext cx="368300" cy="76200"/>
          </a:xfrm>
          <a:prstGeom prst="line">
            <a:avLst/>
          </a:prstGeom>
          <a:ln w="12700">
            <a:solidFill>
              <a:srgbClr val="1D5E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7" name="Connector 536"/>
          <p:cNvCxnSpPr/>
          <p:nvPr/>
        </p:nvCxnSpPr>
        <p:spPr>
          <a:xfrm flipV="1">
            <a:off x="17373600" y="3581400"/>
            <a:ext cx="38100" cy="266700"/>
          </a:xfrm>
          <a:prstGeom prst="line">
            <a:avLst/>
          </a:prstGeom>
          <a:ln w="12700">
            <a:solidFill>
              <a:srgbClr val="1D5E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8" name="Oval 537"/>
          <p:cNvSpPr/>
          <p:nvPr/>
        </p:nvSpPr>
        <p:spPr>
          <a:xfrm>
            <a:off x="16916400" y="3771900"/>
            <a:ext cx="76200" cy="76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D5E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Oval 538"/>
          <p:cNvSpPr/>
          <p:nvPr/>
        </p:nvSpPr>
        <p:spPr>
          <a:xfrm>
            <a:off x="17119600" y="3594100"/>
            <a:ext cx="76200" cy="76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D5E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Oval 539"/>
          <p:cNvSpPr/>
          <p:nvPr/>
        </p:nvSpPr>
        <p:spPr>
          <a:xfrm>
            <a:off x="17335500" y="3810000"/>
            <a:ext cx="76200" cy="76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D5E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Oval 540"/>
          <p:cNvSpPr/>
          <p:nvPr/>
        </p:nvSpPr>
        <p:spPr>
          <a:xfrm>
            <a:off x="17005300" y="3467100"/>
            <a:ext cx="76200" cy="76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D5E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Oval 541"/>
          <p:cNvSpPr/>
          <p:nvPr/>
        </p:nvSpPr>
        <p:spPr>
          <a:xfrm>
            <a:off x="17373600" y="3543300"/>
            <a:ext cx="76200" cy="76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D5E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3" name="Connector 542"/>
          <p:cNvCxnSpPr/>
          <p:nvPr/>
        </p:nvCxnSpPr>
        <p:spPr>
          <a:xfrm>
            <a:off x="17881600" y="3619500"/>
            <a:ext cx="520700" cy="0"/>
          </a:xfrm>
          <a:prstGeom prst="line">
            <a:avLst/>
          </a:prstGeom>
          <a:ln w="19050">
            <a:solidFill>
              <a:srgbClr val="062B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4" name="Freeform 543"/>
          <p:cNvSpPr/>
          <p:nvPr/>
        </p:nvSpPr>
        <p:spPr>
          <a:xfrm>
            <a:off x="18402300" y="3581400"/>
            <a:ext cx="88900" cy="76200"/>
          </a:xfrm>
          <a:custGeom>
            <a:avLst/>
            <a:gdLst/>
            <a:ahLst/>
            <a:cxnLst/>
            <a:rect l="l" t="t" r="r" b="b"/>
            <a:pathLst>
              <a:path w="7" h="6">
                <a:moveTo>
                  <a:pt x="7" y="3"/>
                </a:moveTo>
                <a:lnTo>
                  <a:pt x="0" y="6"/>
                </a:lnTo>
                <a:lnTo>
                  <a:pt x="0" y="0"/>
                </a:lnTo>
                <a:close/>
              </a:path>
            </a:pathLst>
          </a:custGeom>
          <a:solidFill>
            <a:srgbClr val="062B68"/>
          </a:solidFill>
          <a:ln w="6350">
            <a:solidFill>
              <a:srgbClr val="062B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" name="Rounded Rectangle 544"/>
          <p:cNvSpPr/>
          <p:nvPr/>
        </p:nvSpPr>
        <p:spPr>
          <a:xfrm>
            <a:off x="18516600" y="3162300"/>
            <a:ext cx="1206500" cy="901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9BA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" name="TextBox 545"/>
          <p:cNvSpPr txBox="1"/>
          <p:nvPr/>
        </p:nvSpPr>
        <p:spPr>
          <a:xfrm>
            <a:off x="18669000" y="3251200"/>
            <a:ext cx="889000" cy="2159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ctr"/>
            <a:r>
              <a:rPr sz="1150" b="1" i="0">
                <a:solidFill>
                  <a:srgbClr val="062B68"/>
                </a:solidFill>
                <a:latin typeface="Arial"/>
              </a:rPr>
              <a:t>Validate</a:t>
            </a:r>
          </a:p>
        </p:txBody>
      </p:sp>
      <p:sp>
        <p:nvSpPr>
          <p:cNvPr id="547" name="Rectangle 546"/>
          <p:cNvSpPr/>
          <p:nvPr/>
        </p:nvSpPr>
        <p:spPr>
          <a:xfrm>
            <a:off x="18859500" y="3746500"/>
            <a:ext cx="101600" cy="152400"/>
          </a:xfrm>
          <a:prstGeom prst="rect">
            <a:avLst/>
          </a:prstGeom>
          <a:solidFill>
            <a:srgbClr val="ECF4FF"/>
          </a:solidFill>
          <a:ln w="12700">
            <a:solidFill>
              <a:srgbClr val="1D5E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" name="Rectangle 547"/>
          <p:cNvSpPr/>
          <p:nvPr/>
        </p:nvSpPr>
        <p:spPr>
          <a:xfrm>
            <a:off x="19011900" y="3670300"/>
            <a:ext cx="101600" cy="228600"/>
          </a:xfrm>
          <a:prstGeom prst="rect">
            <a:avLst/>
          </a:prstGeom>
          <a:solidFill>
            <a:srgbClr val="ECF4FF"/>
          </a:solidFill>
          <a:ln w="12700">
            <a:solidFill>
              <a:srgbClr val="1D5E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" name="Rectangle 548"/>
          <p:cNvSpPr/>
          <p:nvPr/>
        </p:nvSpPr>
        <p:spPr>
          <a:xfrm>
            <a:off x="19164300" y="3594100"/>
            <a:ext cx="101600" cy="304800"/>
          </a:xfrm>
          <a:prstGeom prst="rect">
            <a:avLst/>
          </a:prstGeom>
          <a:solidFill>
            <a:srgbClr val="ECF4FF"/>
          </a:solidFill>
          <a:ln w="12700">
            <a:solidFill>
              <a:srgbClr val="1D5E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0" name="Rectangle 549"/>
          <p:cNvSpPr/>
          <p:nvPr/>
        </p:nvSpPr>
        <p:spPr>
          <a:xfrm>
            <a:off x="19316700" y="3505200"/>
            <a:ext cx="101600" cy="393700"/>
          </a:xfrm>
          <a:prstGeom prst="rect">
            <a:avLst/>
          </a:prstGeom>
          <a:solidFill>
            <a:srgbClr val="ECF4FF"/>
          </a:solidFill>
          <a:ln w="12700">
            <a:solidFill>
              <a:srgbClr val="1D5E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1" name="Connector 550"/>
          <p:cNvCxnSpPr/>
          <p:nvPr/>
        </p:nvCxnSpPr>
        <p:spPr>
          <a:xfrm>
            <a:off x="19748500" y="3619500"/>
            <a:ext cx="381000" cy="0"/>
          </a:xfrm>
          <a:prstGeom prst="line">
            <a:avLst/>
          </a:prstGeom>
          <a:ln w="19050">
            <a:solidFill>
              <a:srgbClr val="062B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2" name="Freeform 551"/>
          <p:cNvSpPr/>
          <p:nvPr/>
        </p:nvSpPr>
        <p:spPr>
          <a:xfrm>
            <a:off x="20129500" y="3581400"/>
            <a:ext cx="88900" cy="76200"/>
          </a:xfrm>
          <a:custGeom>
            <a:avLst/>
            <a:gdLst/>
            <a:ahLst/>
            <a:cxnLst/>
            <a:rect l="l" t="t" r="r" b="b"/>
            <a:pathLst>
              <a:path w="7" h="6">
                <a:moveTo>
                  <a:pt x="7" y="3"/>
                </a:moveTo>
                <a:lnTo>
                  <a:pt x="0" y="6"/>
                </a:lnTo>
                <a:lnTo>
                  <a:pt x="0" y="0"/>
                </a:lnTo>
                <a:close/>
              </a:path>
            </a:pathLst>
          </a:custGeom>
          <a:solidFill>
            <a:srgbClr val="062B68"/>
          </a:solidFill>
          <a:ln w="6350">
            <a:solidFill>
              <a:srgbClr val="062B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3" name="Rounded Rectangle 552"/>
          <p:cNvSpPr/>
          <p:nvPr/>
        </p:nvSpPr>
        <p:spPr>
          <a:xfrm>
            <a:off x="20243800" y="3162300"/>
            <a:ext cx="1206500" cy="901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9BA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4" name="Oval 553"/>
          <p:cNvSpPr/>
          <p:nvPr/>
        </p:nvSpPr>
        <p:spPr>
          <a:xfrm>
            <a:off x="20454518" y="3505200"/>
            <a:ext cx="110947" cy="110947"/>
          </a:xfrm>
          <a:prstGeom prst="ellipse">
            <a:avLst/>
          </a:prstGeom>
          <a:solidFill>
            <a:srgbClr val="E82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5" name="Rounded Rectangle 554"/>
          <p:cNvSpPr/>
          <p:nvPr/>
        </p:nvSpPr>
        <p:spPr>
          <a:xfrm>
            <a:off x="20434604" y="3610457"/>
            <a:ext cx="150774" cy="170688"/>
          </a:xfrm>
          <a:prstGeom prst="roundRect">
            <a:avLst>
              <a:gd name="adj" fmla="val 8000"/>
            </a:avLst>
          </a:prstGeom>
          <a:solidFill>
            <a:srgbClr val="E82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6" name="Connector 555"/>
          <p:cNvCxnSpPr/>
          <p:nvPr/>
        </p:nvCxnSpPr>
        <p:spPr>
          <a:xfrm flipH="1">
            <a:off x="20404734" y="3655974"/>
            <a:ext cx="29870" cy="105258"/>
          </a:xfrm>
          <a:prstGeom prst="line">
            <a:avLst/>
          </a:prstGeom>
          <a:ln w="32715">
            <a:solidFill>
              <a:srgbClr val="E821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7" name="Connector 556"/>
          <p:cNvCxnSpPr/>
          <p:nvPr/>
        </p:nvCxnSpPr>
        <p:spPr>
          <a:xfrm>
            <a:off x="20585379" y="3655974"/>
            <a:ext cx="29870" cy="105258"/>
          </a:xfrm>
          <a:prstGeom prst="line">
            <a:avLst/>
          </a:prstGeom>
          <a:ln w="32715">
            <a:solidFill>
              <a:srgbClr val="E821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8" name="Rounded Rectangle 557"/>
          <p:cNvSpPr/>
          <p:nvPr/>
        </p:nvSpPr>
        <p:spPr>
          <a:xfrm>
            <a:off x="20453096" y="3761232"/>
            <a:ext cx="48361" cy="122326"/>
          </a:xfrm>
          <a:prstGeom prst="roundRect">
            <a:avLst>
              <a:gd name="adj" fmla="val 8000"/>
            </a:avLst>
          </a:prstGeom>
          <a:solidFill>
            <a:srgbClr val="E82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9" name="Rounded Rectangle 558"/>
          <p:cNvSpPr/>
          <p:nvPr/>
        </p:nvSpPr>
        <p:spPr>
          <a:xfrm>
            <a:off x="20518526" y="3761232"/>
            <a:ext cx="48361" cy="122326"/>
          </a:xfrm>
          <a:prstGeom prst="roundRect">
            <a:avLst>
              <a:gd name="adj" fmla="val 8000"/>
            </a:avLst>
          </a:prstGeom>
          <a:solidFill>
            <a:srgbClr val="E82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0" name="TextBox 559"/>
          <p:cNvSpPr txBox="1"/>
          <p:nvPr/>
        </p:nvSpPr>
        <p:spPr>
          <a:xfrm>
            <a:off x="20675600" y="3251200"/>
            <a:ext cx="673100" cy="6350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ctr"/>
            <a:r>
              <a:rPr sz="1100" b="1" i="0">
                <a:solidFill>
                  <a:srgbClr val="062B68"/>
                </a:solidFill>
                <a:latin typeface="Arial"/>
              </a:rPr>
              <a:t>Test</a:t>
            </a:r>
          </a:p>
          <a:p>
            <a:pPr algn="ctr"/>
            <a:r>
              <a:rPr sz="1100" b="1" i="0">
                <a:solidFill>
                  <a:srgbClr val="062B68"/>
                </a:solidFill>
                <a:latin typeface="Arial"/>
              </a:rPr>
              <a:t>(held-out</a:t>
            </a:r>
          </a:p>
          <a:p>
            <a:pPr algn="ctr"/>
            <a:r>
              <a:rPr sz="1100" b="1" i="0">
                <a:solidFill>
                  <a:srgbClr val="062B68"/>
                </a:solidFill>
                <a:latin typeface="Arial"/>
              </a:rPr>
              <a:t>subjects)</a:t>
            </a:r>
          </a:p>
        </p:txBody>
      </p:sp>
      <p:sp>
        <p:nvSpPr>
          <p:cNvPr id="561" name="Rounded Rectangle 560"/>
          <p:cNvSpPr/>
          <p:nvPr/>
        </p:nvSpPr>
        <p:spPr>
          <a:xfrm>
            <a:off x="16598900" y="4254500"/>
            <a:ext cx="4762500" cy="1574800"/>
          </a:xfrm>
          <a:prstGeom prst="roundRect">
            <a:avLst>
              <a:gd name="adj" fmla="val 8000"/>
            </a:avLst>
          </a:prstGeom>
          <a:solidFill>
            <a:srgbClr val="F7F4FF"/>
          </a:solidFill>
          <a:ln w="12700">
            <a:solidFill>
              <a:srgbClr val="B9A7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" name="TextBox 561"/>
          <p:cNvSpPr txBox="1"/>
          <p:nvPr/>
        </p:nvSpPr>
        <p:spPr>
          <a:xfrm>
            <a:off x="17170400" y="4381500"/>
            <a:ext cx="3632200" cy="2413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ctr"/>
            <a:r>
              <a:rPr sz="1275" b="1" i="0">
                <a:solidFill>
                  <a:srgbClr val="062B68"/>
                </a:solidFill>
                <a:latin typeface="Arial"/>
              </a:rPr>
              <a:t>Aggregated Across All Held-Out Windows</a:t>
            </a:r>
          </a:p>
        </p:txBody>
      </p:sp>
      <p:sp>
        <p:nvSpPr>
          <p:cNvPr id="563" name="Oval 562"/>
          <p:cNvSpPr/>
          <p:nvPr/>
        </p:nvSpPr>
        <p:spPr>
          <a:xfrm>
            <a:off x="16738600" y="4673600"/>
            <a:ext cx="152400" cy="15240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62B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" name="Freeform 563"/>
          <p:cNvSpPr/>
          <p:nvPr/>
        </p:nvSpPr>
        <p:spPr>
          <a:xfrm>
            <a:off x="16789400" y="4699000"/>
            <a:ext cx="101600" cy="88900"/>
          </a:xfrm>
          <a:custGeom>
            <a:avLst/>
            <a:gdLst/>
            <a:ahLst/>
            <a:cxnLst/>
            <a:rect l="l" t="t" r="r" b="b"/>
            <a:pathLst>
              <a:path w="8" h="7">
                <a:moveTo>
                  <a:pt x="0" y="4"/>
                </a:moveTo>
                <a:lnTo>
                  <a:pt x="3" y="7"/>
                </a:lnTo>
                <a:lnTo>
                  <a:pt x="8" y="0"/>
                </a:lnTo>
              </a:path>
            </a:pathLst>
          </a:custGeom>
          <a:noFill/>
          <a:ln w="15240">
            <a:solidFill>
              <a:srgbClr val="062B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5" name="TextBox 564"/>
          <p:cNvSpPr txBox="1"/>
          <p:nvPr/>
        </p:nvSpPr>
        <p:spPr>
          <a:xfrm>
            <a:off x="16967200" y="4648200"/>
            <a:ext cx="4191000" cy="2032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l"/>
            <a:r>
              <a:rPr sz="1056" b="1" i="0">
                <a:solidFill>
                  <a:srgbClr val="111111"/>
                </a:solidFill>
                <a:latin typeface="Arial"/>
              </a:rPr>
              <a:t>Primary metrics: ME, MAE, SDE, RMSE, r</a:t>
            </a:r>
          </a:p>
        </p:txBody>
      </p:sp>
      <p:sp>
        <p:nvSpPr>
          <p:cNvPr id="566" name="Oval 565"/>
          <p:cNvSpPr/>
          <p:nvPr/>
        </p:nvSpPr>
        <p:spPr>
          <a:xfrm>
            <a:off x="16738600" y="4902200"/>
            <a:ext cx="152400" cy="15240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62B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7" name="Freeform 566"/>
          <p:cNvSpPr/>
          <p:nvPr/>
        </p:nvSpPr>
        <p:spPr>
          <a:xfrm>
            <a:off x="16789400" y="4927600"/>
            <a:ext cx="101600" cy="88900"/>
          </a:xfrm>
          <a:custGeom>
            <a:avLst/>
            <a:gdLst/>
            <a:ahLst/>
            <a:cxnLst/>
            <a:rect l="l" t="t" r="r" b="b"/>
            <a:pathLst>
              <a:path w="8" h="7">
                <a:moveTo>
                  <a:pt x="0" y="4"/>
                </a:moveTo>
                <a:lnTo>
                  <a:pt x="3" y="7"/>
                </a:lnTo>
                <a:lnTo>
                  <a:pt x="8" y="0"/>
                </a:lnTo>
              </a:path>
            </a:pathLst>
          </a:custGeom>
          <a:noFill/>
          <a:ln w="15240">
            <a:solidFill>
              <a:srgbClr val="062B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8" name="TextBox 567"/>
          <p:cNvSpPr txBox="1"/>
          <p:nvPr/>
        </p:nvSpPr>
        <p:spPr>
          <a:xfrm>
            <a:off x="16967200" y="4876800"/>
            <a:ext cx="4191000" cy="2032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l"/>
            <a:r>
              <a:rPr sz="1056" b="1" i="0">
                <a:solidFill>
                  <a:srgbClr val="111111"/>
                </a:solidFill>
                <a:latin typeface="Arial"/>
              </a:rPr>
              <a:t>Agreement: Bland–Altman (ME ± 1.96×SDE)</a:t>
            </a:r>
          </a:p>
        </p:txBody>
      </p:sp>
      <p:sp>
        <p:nvSpPr>
          <p:cNvPr id="569" name="Oval 568"/>
          <p:cNvSpPr/>
          <p:nvPr/>
        </p:nvSpPr>
        <p:spPr>
          <a:xfrm>
            <a:off x="16738600" y="5130800"/>
            <a:ext cx="152400" cy="15240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62B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0" name="Freeform 569"/>
          <p:cNvSpPr/>
          <p:nvPr/>
        </p:nvSpPr>
        <p:spPr>
          <a:xfrm>
            <a:off x="16789400" y="5156200"/>
            <a:ext cx="101600" cy="88900"/>
          </a:xfrm>
          <a:custGeom>
            <a:avLst/>
            <a:gdLst/>
            <a:ahLst/>
            <a:cxnLst/>
            <a:rect l="l" t="t" r="r" b="b"/>
            <a:pathLst>
              <a:path w="8" h="7">
                <a:moveTo>
                  <a:pt x="0" y="4"/>
                </a:moveTo>
                <a:lnTo>
                  <a:pt x="3" y="7"/>
                </a:lnTo>
                <a:lnTo>
                  <a:pt x="8" y="0"/>
                </a:lnTo>
              </a:path>
            </a:pathLst>
          </a:custGeom>
          <a:noFill/>
          <a:ln w="15240">
            <a:solidFill>
              <a:srgbClr val="062B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1" name="TextBox 570"/>
          <p:cNvSpPr txBox="1"/>
          <p:nvPr/>
        </p:nvSpPr>
        <p:spPr>
          <a:xfrm>
            <a:off x="16967200" y="5105400"/>
            <a:ext cx="4191000" cy="2032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l"/>
            <a:r>
              <a:rPr sz="1056" b="1" i="0">
                <a:solidFill>
                  <a:srgbClr val="111111"/>
                </a:solidFill>
                <a:latin typeface="Arial"/>
              </a:rPr>
              <a:t>Error thresholds: ≤5 / ≤10 / ≤15 mmHg</a:t>
            </a:r>
          </a:p>
        </p:txBody>
      </p:sp>
      <p:sp>
        <p:nvSpPr>
          <p:cNvPr id="572" name="Oval 571"/>
          <p:cNvSpPr/>
          <p:nvPr/>
        </p:nvSpPr>
        <p:spPr>
          <a:xfrm>
            <a:off x="16738600" y="5359400"/>
            <a:ext cx="152400" cy="15240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62B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3" name="Freeform 572"/>
          <p:cNvSpPr/>
          <p:nvPr/>
        </p:nvSpPr>
        <p:spPr>
          <a:xfrm>
            <a:off x="16789400" y="5384800"/>
            <a:ext cx="101600" cy="88900"/>
          </a:xfrm>
          <a:custGeom>
            <a:avLst/>
            <a:gdLst/>
            <a:ahLst/>
            <a:cxnLst/>
            <a:rect l="l" t="t" r="r" b="b"/>
            <a:pathLst>
              <a:path w="8" h="7">
                <a:moveTo>
                  <a:pt x="0" y="4"/>
                </a:moveTo>
                <a:lnTo>
                  <a:pt x="3" y="7"/>
                </a:lnTo>
                <a:lnTo>
                  <a:pt x="8" y="0"/>
                </a:lnTo>
              </a:path>
            </a:pathLst>
          </a:custGeom>
          <a:noFill/>
          <a:ln w="15240">
            <a:solidFill>
              <a:srgbClr val="062B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4" name="TextBox 573"/>
          <p:cNvSpPr txBox="1"/>
          <p:nvPr/>
        </p:nvSpPr>
        <p:spPr>
          <a:xfrm>
            <a:off x="16967200" y="5334000"/>
            <a:ext cx="4191000" cy="2032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l"/>
            <a:r>
              <a:rPr sz="1056" b="1" i="0">
                <a:solidFill>
                  <a:srgbClr val="111111"/>
                </a:solidFill>
                <a:latin typeface="Arial"/>
              </a:rPr>
              <a:t>Uncertainty: subject-level bootstrap (2,000 resamples)</a:t>
            </a:r>
          </a:p>
        </p:txBody>
      </p:sp>
      <p:sp>
        <p:nvSpPr>
          <p:cNvPr id="575" name="Oval 574"/>
          <p:cNvSpPr/>
          <p:nvPr/>
        </p:nvSpPr>
        <p:spPr>
          <a:xfrm>
            <a:off x="16738600" y="5588000"/>
            <a:ext cx="152400" cy="15240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62B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6" name="Freeform 575"/>
          <p:cNvSpPr/>
          <p:nvPr/>
        </p:nvSpPr>
        <p:spPr>
          <a:xfrm>
            <a:off x="16789400" y="5613400"/>
            <a:ext cx="101600" cy="88900"/>
          </a:xfrm>
          <a:custGeom>
            <a:avLst/>
            <a:gdLst/>
            <a:ahLst/>
            <a:cxnLst/>
            <a:rect l="l" t="t" r="r" b="b"/>
            <a:pathLst>
              <a:path w="8" h="7">
                <a:moveTo>
                  <a:pt x="0" y="4"/>
                </a:moveTo>
                <a:lnTo>
                  <a:pt x="3" y="7"/>
                </a:lnTo>
                <a:lnTo>
                  <a:pt x="8" y="0"/>
                </a:lnTo>
              </a:path>
            </a:pathLst>
          </a:custGeom>
          <a:noFill/>
          <a:ln w="15240">
            <a:solidFill>
              <a:srgbClr val="062B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7" name="TextBox 576"/>
          <p:cNvSpPr txBox="1"/>
          <p:nvPr/>
        </p:nvSpPr>
        <p:spPr>
          <a:xfrm>
            <a:off x="16967200" y="5562600"/>
            <a:ext cx="4191000" cy="2032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l"/>
            <a:r>
              <a:rPr sz="1056" b="1" i="0">
                <a:solidFill>
                  <a:srgbClr val="111111"/>
                </a:solidFill>
                <a:latin typeface="Arial"/>
              </a:rPr>
              <a:t>Statistics: paired Wilcoxon signed-rank tests</a:t>
            </a:r>
          </a:p>
        </p:txBody>
      </p:sp>
      <p:sp>
        <p:nvSpPr>
          <p:cNvPr id="578" name="Rounded Rectangle 577"/>
          <p:cNvSpPr/>
          <p:nvPr/>
        </p:nvSpPr>
        <p:spPr>
          <a:xfrm>
            <a:off x="88900" y="6083300"/>
            <a:ext cx="4191000" cy="469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B9C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" name="Rectangle 578"/>
          <p:cNvSpPr/>
          <p:nvPr/>
        </p:nvSpPr>
        <p:spPr>
          <a:xfrm>
            <a:off x="88900" y="6083300"/>
            <a:ext cx="4191000" cy="393700"/>
          </a:xfrm>
          <a:prstGeom prst="rect">
            <a:avLst/>
          </a:prstGeom>
          <a:solidFill>
            <a:srgbClr val="5E3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" name="TextBox 579"/>
          <p:cNvSpPr txBox="1"/>
          <p:nvPr/>
        </p:nvSpPr>
        <p:spPr>
          <a:xfrm>
            <a:off x="127000" y="6108700"/>
            <a:ext cx="4114800" cy="3429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D. Protocol-Specific External Transfer</a:t>
            </a:r>
          </a:p>
        </p:txBody>
      </p:sp>
      <p:sp>
        <p:nvSpPr>
          <p:cNvPr id="581" name="Rounded Rectangle 580"/>
          <p:cNvSpPr/>
          <p:nvPr/>
        </p:nvSpPr>
        <p:spPr>
          <a:xfrm>
            <a:off x="1206500" y="6591300"/>
            <a:ext cx="1955800" cy="952500"/>
          </a:xfrm>
          <a:prstGeom prst="roundRect">
            <a:avLst>
              <a:gd name="adj" fmla="val 8000"/>
            </a:avLst>
          </a:prstGeom>
          <a:solidFill>
            <a:srgbClr val="FBF8FF"/>
          </a:solidFill>
          <a:ln w="15240">
            <a:solidFill>
              <a:srgbClr val="B39D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2" name="Connector 581"/>
          <p:cNvCxnSpPr/>
          <p:nvPr/>
        </p:nvCxnSpPr>
        <p:spPr>
          <a:xfrm flipV="1">
            <a:off x="1473200" y="6972300"/>
            <a:ext cx="215900" cy="190500"/>
          </a:xfrm>
          <a:prstGeom prst="line">
            <a:avLst/>
          </a:prstGeom>
          <a:ln w="12700">
            <a:solidFill>
              <a:srgbClr val="5E35B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3" name="Connector 582"/>
          <p:cNvCxnSpPr/>
          <p:nvPr/>
        </p:nvCxnSpPr>
        <p:spPr>
          <a:xfrm>
            <a:off x="1689100" y="6972300"/>
            <a:ext cx="203200" cy="241300"/>
          </a:xfrm>
          <a:prstGeom prst="line">
            <a:avLst/>
          </a:prstGeom>
          <a:ln w="12700">
            <a:solidFill>
              <a:srgbClr val="5E35B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4" name="Connector 583"/>
          <p:cNvCxnSpPr/>
          <p:nvPr/>
        </p:nvCxnSpPr>
        <p:spPr>
          <a:xfrm flipH="1" flipV="1">
            <a:off x="1587500" y="6743700"/>
            <a:ext cx="101600" cy="228600"/>
          </a:xfrm>
          <a:prstGeom prst="line">
            <a:avLst/>
          </a:prstGeom>
          <a:ln w="12700">
            <a:solidFill>
              <a:srgbClr val="5E35B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5" name="Connector 584"/>
          <p:cNvCxnSpPr/>
          <p:nvPr/>
        </p:nvCxnSpPr>
        <p:spPr>
          <a:xfrm>
            <a:off x="1587500" y="6743700"/>
            <a:ext cx="482600" cy="88900"/>
          </a:xfrm>
          <a:prstGeom prst="line">
            <a:avLst/>
          </a:prstGeom>
          <a:ln w="12700">
            <a:solidFill>
              <a:srgbClr val="5E35B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6" name="Connector 585"/>
          <p:cNvCxnSpPr/>
          <p:nvPr/>
        </p:nvCxnSpPr>
        <p:spPr>
          <a:xfrm flipV="1">
            <a:off x="1892300" y="6832600"/>
            <a:ext cx="177800" cy="381000"/>
          </a:xfrm>
          <a:prstGeom prst="line">
            <a:avLst/>
          </a:prstGeom>
          <a:ln w="12700">
            <a:solidFill>
              <a:srgbClr val="5E35B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7" name="Oval 586"/>
          <p:cNvSpPr/>
          <p:nvPr/>
        </p:nvSpPr>
        <p:spPr>
          <a:xfrm>
            <a:off x="1435100" y="7124700"/>
            <a:ext cx="76200" cy="76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5E3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" name="Oval 587"/>
          <p:cNvSpPr/>
          <p:nvPr/>
        </p:nvSpPr>
        <p:spPr>
          <a:xfrm>
            <a:off x="1651000" y="6934200"/>
            <a:ext cx="76200" cy="76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5E3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" name="Oval 588"/>
          <p:cNvSpPr/>
          <p:nvPr/>
        </p:nvSpPr>
        <p:spPr>
          <a:xfrm>
            <a:off x="1854200" y="7175500"/>
            <a:ext cx="76200" cy="76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5E3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" name="Oval 589"/>
          <p:cNvSpPr/>
          <p:nvPr/>
        </p:nvSpPr>
        <p:spPr>
          <a:xfrm>
            <a:off x="1549400" y="6705600"/>
            <a:ext cx="76200" cy="76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5E3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" name="Oval 590"/>
          <p:cNvSpPr/>
          <p:nvPr/>
        </p:nvSpPr>
        <p:spPr>
          <a:xfrm>
            <a:off x="2032000" y="6794500"/>
            <a:ext cx="76200" cy="76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5E3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" name="TextBox 591"/>
          <p:cNvSpPr txBox="1"/>
          <p:nvPr/>
        </p:nvSpPr>
        <p:spPr>
          <a:xfrm>
            <a:off x="1968500" y="6667500"/>
            <a:ext cx="1041400" cy="7747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ctr"/>
            <a:r>
              <a:rPr sz="1087" b="1" i="0">
                <a:solidFill>
                  <a:srgbClr val="062B68"/>
                </a:solidFill>
                <a:latin typeface="Arial"/>
              </a:rPr>
              <a:t>Trained on</a:t>
            </a:r>
          </a:p>
          <a:p>
            <a:pPr algn="ctr"/>
            <a:r>
              <a:rPr sz="1087" b="1" i="0">
                <a:solidFill>
                  <a:srgbClr val="062B68"/>
                </a:solidFill>
                <a:latin typeface="Arial"/>
              </a:rPr>
              <a:t>PulseDB-Vital</a:t>
            </a:r>
          </a:p>
          <a:p>
            <a:pPr algn="ctr"/>
            <a:r>
              <a:rPr sz="1087" b="1" i="0">
                <a:solidFill>
                  <a:srgbClr val="062B68"/>
                </a:solidFill>
                <a:latin typeface="Arial"/>
              </a:rPr>
              <a:t>(2,442 train;</a:t>
            </a:r>
          </a:p>
          <a:p>
            <a:pPr algn="ctr"/>
            <a:r>
              <a:rPr sz="1087" b="1" i="0">
                <a:solidFill>
                  <a:srgbClr val="062B68"/>
                </a:solidFill>
                <a:latin typeface="Arial"/>
              </a:rPr>
              <a:t>272 validation)</a:t>
            </a:r>
          </a:p>
        </p:txBody>
      </p:sp>
      <p:cxnSp>
        <p:nvCxnSpPr>
          <p:cNvPr id="593" name="Connector 592"/>
          <p:cNvCxnSpPr/>
          <p:nvPr/>
        </p:nvCxnSpPr>
        <p:spPr>
          <a:xfrm flipH="1">
            <a:off x="1384489" y="7594600"/>
            <a:ext cx="342711" cy="381877"/>
          </a:xfrm>
          <a:prstGeom prst="line">
            <a:avLst/>
          </a:prstGeom>
          <a:ln w="50800">
            <a:solidFill>
              <a:srgbClr val="5E35B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4" name="Freeform 593"/>
          <p:cNvSpPr/>
          <p:nvPr/>
        </p:nvSpPr>
        <p:spPr>
          <a:xfrm>
            <a:off x="1282700" y="7924800"/>
            <a:ext cx="152400" cy="165100"/>
          </a:xfrm>
          <a:custGeom>
            <a:avLst/>
            <a:gdLst/>
            <a:ahLst/>
            <a:cxnLst/>
            <a:rect l="l" t="t" r="r" b="b"/>
            <a:pathLst>
              <a:path w="12" h="13">
                <a:moveTo>
                  <a:pt x="0" y="13"/>
                </a:moveTo>
                <a:lnTo>
                  <a:pt x="4" y="0"/>
                </a:lnTo>
                <a:lnTo>
                  <a:pt x="12" y="8"/>
                </a:lnTo>
                <a:close/>
              </a:path>
            </a:pathLst>
          </a:custGeom>
          <a:solidFill>
            <a:srgbClr val="5E35B1"/>
          </a:solidFill>
          <a:ln w="6350">
            <a:solidFill>
              <a:srgbClr val="5E3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5" name="Connector 594"/>
          <p:cNvCxnSpPr/>
          <p:nvPr/>
        </p:nvCxnSpPr>
        <p:spPr>
          <a:xfrm>
            <a:off x="2628900" y="7594600"/>
            <a:ext cx="353830" cy="383315"/>
          </a:xfrm>
          <a:prstGeom prst="line">
            <a:avLst/>
          </a:prstGeom>
          <a:ln w="50800">
            <a:solidFill>
              <a:srgbClr val="5E35B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6" name="Freeform 595"/>
          <p:cNvSpPr/>
          <p:nvPr/>
        </p:nvSpPr>
        <p:spPr>
          <a:xfrm>
            <a:off x="2933700" y="7924800"/>
            <a:ext cx="152400" cy="165100"/>
          </a:xfrm>
          <a:custGeom>
            <a:avLst/>
            <a:gdLst/>
            <a:ahLst/>
            <a:cxnLst/>
            <a:rect l="l" t="t" r="r" b="b"/>
            <a:pathLst>
              <a:path w="12" h="13">
                <a:moveTo>
                  <a:pt x="12" y="13"/>
                </a:moveTo>
                <a:lnTo>
                  <a:pt x="0" y="8"/>
                </a:lnTo>
                <a:lnTo>
                  <a:pt x="8" y="0"/>
                </a:lnTo>
                <a:close/>
              </a:path>
            </a:pathLst>
          </a:custGeom>
          <a:solidFill>
            <a:srgbClr val="5E35B1"/>
          </a:solidFill>
          <a:ln w="6350">
            <a:solidFill>
              <a:srgbClr val="5E3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" name="Rounded Rectangle 596"/>
          <p:cNvSpPr/>
          <p:nvPr/>
        </p:nvSpPr>
        <p:spPr>
          <a:xfrm>
            <a:off x="495300" y="8077200"/>
            <a:ext cx="1600200" cy="838200"/>
          </a:xfrm>
          <a:prstGeom prst="roundRect">
            <a:avLst>
              <a:gd name="adj" fmla="val 8000"/>
            </a:avLst>
          </a:prstGeom>
          <a:solidFill>
            <a:srgbClr val="FBF8FF"/>
          </a:solidFill>
          <a:ln w="13970">
            <a:solidFill>
              <a:srgbClr val="B39D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" name="Can 597"/>
          <p:cNvSpPr/>
          <p:nvPr/>
        </p:nvSpPr>
        <p:spPr>
          <a:xfrm>
            <a:off x="660400" y="8407400"/>
            <a:ext cx="330200" cy="381000"/>
          </a:xfrm>
          <a:prstGeom prst="can">
            <a:avLst/>
          </a:prstGeom>
          <a:solidFill>
            <a:srgbClr val="F7FAFF"/>
          </a:solidFill>
          <a:ln w="20320">
            <a:solidFill>
              <a:srgbClr val="D82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9" name="Connector 598"/>
          <p:cNvCxnSpPr/>
          <p:nvPr/>
        </p:nvCxnSpPr>
        <p:spPr>
          <a:xfrm>
            <a:off x="685800" y="8534400"/>
            <a:ext cx="279400" cy="0"/>
          </a:xfrm>
          <a:prstGeom prst="line">
            <a:avLst/>
          </a:prstGeom>
          <a:ln w="11430">
            <a:solidFill>
              <a:srgbClr val="D820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0" name="Connector 599"/>
          <p:cNvCxnSpPr/>
          <p:nvPr/>
        </p:nvCxnSpPr>
        <p:spPr>
          <a:xfrm>
            <a:off x="698500" y="8661400"/>
            <a:ext cx="254000" cy="0"/>
          </a:xfrm>
          <a:prstGeom prst="line">
            <a:avLst/>
          </a:prstGeom>
          <a:ln w="11430">
            <a:solidFill>
              <a:srgbClr val="D820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1" name="TextBox 600"/>
          <p:cNvSpPr txBox="1"/>
          <p:nvPr/>
        </p:nvSpPr>
        <p:spPr>
          <a:xfrm>
            <a:off x="1092200" y="8216900"/>
            <a:ext cx="863600" cy="5715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ctr"/>
            <a:r>
              <a:rPr sz="1062" b="1" i="0">
                <a:solidFill>
                  <a:srgbClr val="D82020"/>
                </a:solidFill>
                <a:latin typeface="Arial"/>
              </a:rPr>
              <a:t>Test on</a:t>
            </a:r>
          </a:p>
          <a:p>
            <a:pPr algn="ctr"/>
            <a:r>
              <a:rPr sz="1062" b="1" i="0">
                <a:solidFill>
                  <a:srgbClr val="D82020"/>
                </a:solidFill>
                <a:latin typeface="Arial"/>
              </a:rPr>
              <a:t>PulseDB-MIMIC</a:t>
            </a:r>
          </a:p>
          <a:p>
            <a:pPr algn="ctr"/>
            <a:r>
              <a:rPr sz="1062" b="1" i="0">
                <a:solidFill>
                  <a:srgbClr val="D82020"/>
                </a:solidFill>
                <a:latin typeface="Arial"/>
              </a:rPr>
              <a:t>(zero-shot)</a:t>
            </a:r>
          </a:p>
        </p:txBody>
      </p:sp>
      <p:sp>
        <p:nvSpPr>
          <p:cNvPr id="602" name="Rounded Rectangle 601"/>
          <p:cNvSpPr/>
          <p:nvPr/>
        </p:nvSpPr>
        <p:spPr>
          <a:xfrm>
            <a:off x="2311400" y="8077200"/>
            <a:ext cx="1485900" cy="838200"/>
          </a:xfrm>
          <a:prstGeom prst="roundRect">
            <a:avLst>
              <a:gd name="adj" fmla="val 8000"/>
            </a:avLst>
          </a:prstGeom>
          <a:solidFill>
            <a:srgbClr val="FBF8FF"/>
          </a:solidFill>
          <a:ln w="13970">
            <a:solidFill>
              <a:srgbClr val="B39D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" name="Can 602"/>
          <p:cNvSpPr/>
          <p:nvPr/>
        </p:nvSpPr>
        <p:spPr>
          <a:xfrm>
            <a:off x="2476500" y="8407400"/>
            <a:ext cx="330200" cy="381000"/>
          </a:xfrm>
          <a:prstGeom prst="can">
            <a:avLst/>
          </a:prstGeom>
          <a:solidFill>
            <a:srgbClr val="F7FAFF"/>
          </a:solidFill>
          <a:ln w="20320">
            <a:solidFill>
              <a:srgbClr val="007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4" name="Connector 603"/>
          <p:cNvCxnSpPr/>
          <p:nvPr/>
        </p:nvCxnSpPr>
        <p:spPr>
          <a:xfrm>
            <a:off x="2501900" y="8534400"/>
            <a:ext cx="279400" cy="0"/>
          </a:xfrm>
          <a:prstGeom prst="line">
            <a:avLst/>
          </a:prstGeom>
          <a:ln w="11430">
            <a:solidFill>
              <a:srgbClr val="007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5" name="Connector 604"/>
          <p:cNvCxnSpPr/>
          <p:nvPr/>
        </p:nvCxnSpPr>
        <p:spPr>
          <a:xfrm>
            <a:off x="2514600" y="8661400"/>
            <a:ext cx="254000" cy="0"/>
          </a:xfrm>
          <a:prstGeom prst="line">
            <a:avLst/>
          </a:prstGeom>
          <a:ln w="11430">
            <a:solidFill>
              <a:srgbClr val="007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6" name="TextBox 605"/>
          <p:cNvSpPr txBox="1"/>
          <p:nvPr/>
        </p:nvSpPr>
        <p:spPr>
          <a:xfrm>
            <a:off x="2908300" y="8216900"/>
            <a:ext cx="736600" cy="5715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ctr"/>
            <a:r>
              <a:rPr sz="1062" b="1" i="0">
                <a:solidFill>
                  <a:srgbClr val="007A32"/>
                </a:solidFill>
                <a:latin typeface="Arial"/>
              </a:rPr>
              <a:t>Test on</a:t>
            </a:r>
          </a:p>
          <a:p>
            <a:pPr algn="ctr"/>
            <a:r>
              <a:rPr sz="1062" b="1" i="0">
                <a:solidFill>
                  <a:srgbClr val="007A32"/>
                </a:solidFill>
                <a:latin typeface="Arial"/>
              </a:rPr>
              <a:t>MIMIC-BP</a:t>
            </a:r>
          </a:p>
          <a:p>
            <a:pPr algn="ctr"/>
            <a:r>
              <a:rPr sz="1062" b="1" i="0">
                <a:solidFill>
                  <a:srgbClr val="007A32"/>
                </a:solidFill>
                <a:latin typeface="Arial"/>
              </a:rPr>
              <a:t>(zero-shot)</a:t>
            </a:r>
          </a:p>
        </p:txBody>
      </p:sp>
      <p:cxnSp>
        <p:nvCxnSpPr>
          <p:cNvPr id="607" name="Connector 606"/>
          <p:cNvCxnSpPr/>
          <p:nvPr/>
        </p:nvCxnSpPr>
        <p:spPr>
          <a:xfrm>
            <a:off x="1282700" y="8940800"/>
            <a:ext cx="0" cy="355600"/>
          </a:xfrm>
          <a:prstGeom prst="line">
            <a:avLst/>
          </a:prstGeom>
          <a:ln w="50800">
            <a:solidFill>
              <a:srgbClr val="5E35B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8" name="Freeform 607"/>
          <p:cNvSpPr/>
          <p:nvPr/>
        </p:nvSpPr>
        <p:spPr>
          <a:xfrm>
            <a:off x="1206500" y="9296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2" h="12">
                <a:moveTo>
                  <a:pt x="6" y="12"/>
                </a:moveTo>
                <a:lnTo>
                  <a:pt x="0" y="0"/>
                </a:lnTo>
                <a:lnTo>
                  <a:pt x="12" y="0"/>
                </a:lnTo>
                <a:close/>
              </a:path>
            </a:pathLst>
          </a:custGeom>
          <a:solidFill>
            <a:srgbClr val="5E35B1"/>
          </a:solidFill>
          <a:ln w="6350">
            <a:solidFill>
              <a:srgbClr val="5E3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9" name="Connector 608"/>
          <p:cNvCxnSpPr/>
          <p:nvPr/>
        </p:nvCxnSpPr>
        <p:spPr>
          <a:xfrm>
            <a:off x="3073400" y="8940800"/>
            <a:ext cx="0" cy="355600"/>
          </a:xfrm>
          <a:prstGeom prst="line">
            <a:avLst/>
          </a:prstGeom>
          <a:ln w="50800">
            <a:solidFill>
              <a:srgbClr val="5E35B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0" name="Freeform 609"/>
          <p:cNvSpPr/>
          <p:nvPr/>
        </p:nvSpPr>
        <p:spPr>
          <a:xfrm>
            <a:off x="2997200" y="9296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2" h="12">
                <a:moveTo>
                  <a:pt x="6" y="12"/>
                </a:moveTo>
                <a:lnTo>
                  <a:pt x="0" y="0"/>
                </a:lnTo>
                <a:lnTo>
                  <a:pt x="12" y="0"/>
                </a:lnTo>
                <a:close/>
              </a:path>
            </a:pathLst>
          </a:custGeom>
          <a:solidFill>
            <a:srgbClr val="5E35B1"/>
          </a:solidFill>
          <a:ln w="6350">
            <a:solidFill>
              <a:srgbClr val="5E3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" name="Rounded Rectangle 610"/>
          <p:cNvSpPr/>
          <p:nvPr/>
        </p:nvSpPr>
        <p:spPr>
          <a:xfrm>
            <a:off x="495300" y="9588500"/>
            <a:ext cx="3302000" cy="558800"/>
          </a:xfrm>
          <a:prstGeom prst="roundRect">
            <a:avLst>
              <a:gd name="adj" fmla="val 8000"/>
            </a:avLst>
          </a:prstGeom>
          <a:solidFill>
            <a:srgbClr val="FBF8FF"/>
          </a:solidFill>
          <a:ln w="13970">
            <a:solidFill>
              <a:srgbClr val="B39D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" name="TextBox 611"/>
          <p:cNvSpPr txBox="1"/>
          <p:nvPr/>
        </p:nvSpPr>
        <p:spPr>
          <a:xfrm>
            <a:off x="711200" y="9715500"/>
            <a:ext cx="2870200" cy="3048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ctr"/>
            <a:r>
              <a:rPr sz="1150" b="1" i="0">
                <a:solidFill>
                  <a:srgbClr val="5E35B1"/>
                </a:solidFill>
                <a:latin typeface="Arial"/>
              </a:rPr>
              <a:t>Frozen model; no target tuning</a:t>
            </a:r>
          </a:p>
        </p:txBody>
      </p:sp>
      <p:sp>
        <p:nvSpPr>
          <p:cNvPr id="613" name="Rounded Rectangle 612"/>
          <p:cNvSpPr/>
          <p:nvPr/>
        </p:nvSpPr>
        <p:spPr>
          <a:xfrm>
            <a:off x="4419600" y="6083300"/>
            <a:ext cx="17132300" cy="469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B9C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" name="Rectangle 613"/>
          <p:cNvSpPr/>
          <p:nvPr/>
        </p:nvSpPr>
        <p:spPr>
          <a:xfrm>
            <a:off x="4419600" y="6083300"/>
            <a:ext cx="17132300" cy="393700"/>
          </a:xfrm>
          <a:prstGeom prst="rect">
            <a:avLst/>
          </a:prstGeom>
          <a:solidFill>
            <a:srgbClr val="062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" name="TextBox 614"/>
          <p:cNvSpPr txBox="1"/>
          <p:nvPr/>
        </p:nvSpPr>
        <p:spPr>
          <a:xfrm>
            <a:off x="4457700" y="6108700"/>
            <a:ext cx="17056100" cy="3429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ctr"/>
            <a:r>
              <a:rPr sz="1875" b="1" i="0">
                <a:solidFill>
                  <a:srgbClr val="FFFFFF"/>
                </a:solidFill>
                <a:latin typeface="Arial"/>
              </a:rPr>
              <a:t>E. Mechanism-Oriented Analyses</a:t>
            </a:r>
          </a:p>
        </p:txBody>
      </p:sp>
      <p:sp>
        <p:nvSpPr>
          <p:cNvPr id="616" name="Rounded Rectangle 615"/>
          <p:cNvSpPr/>
          <p:nvPr/>
        </p:nvSpPr>
        <p:spPr>
          <a:xfrm>
            <a:off x="4495800" y="6553200"/>
            <a:ext cx="2692400" cy="4229100"/>
          </a:xfrm>
          <a:prstGeom prst="roundRect">
            <a:avLst>
              <a:gd name="adj" fmla="val 8000"/>
            </a:avLst>
          </a:prstGeom>
          <a:solidFill>
            <a:srgbClr val="F8FBFF"/>
          </a:solidFill>
          <a:ln w="12700">
            <a:solidFill>
              <a:srgbClr val="A7B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7" name="Rectangle 616"/>
          <p:cNvSpPr/>
          <p:nvPr/>
        </p:nvSpPr>
        <p:spPr>
          <a:xfrm>
            <a:off x="4495800" y="6553200"/>
            <a:ext cx="2692400" cy="355600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8" name="TextBox 617"/>
          <p:cNvSpPr txBox="1"/>
          <p:nvPr/>
        </p:nvSpPr>
        <p:spPr>
          <a:xfrm>
            <a:off x="4533900" y="6591300"/>
            <a:ext cx="2616200" cy="2540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Arial"/>
              </a:rPr>
              <a:t>1. Ablation Studies</a:t>
            </a:r>
          </a:p>
        </p:txBody>
      </p:sp>
      <p:sp>
        <p:nvSpPr>
          <p:cNvPr id="619" name="TextBox 618"/>
          <p:cNvSpPr txBox="1"/>
          <p:nvPr/>
        </p:nvSpPr>
        <p:spPr>
          <a:xfrm>
            <a:off x="4572000" y="7150100"/>
            <a:ext cx="800100" cy="4191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ctr"/>
            <a:r>
              <a:rPr sz="868" b="1" i="0">
                <a:solidFill>
                  <a:srgbClr val="062B68"/>
                </a:solidFill>
                <a:latin typeface="Arial"/>
              </a:rPr>
              <a:t>Delay Band</a:t>
            </a:r>
          </a:p>
          <a:p>
            <a:pPr algn="ctr"/>
            <a:r>
              <a:rPr sz="868" b="1" i="0">
                <a:solidFill>
                  <a:srgbClr val="062B68"/>
                </a:solidFill>
                <a:latin typeface="Arial"/>
              </a:rPr>
              <a:t>(120–450 ms)</a:t>
            </a:r>
          </a:p>
        </p:txBody>
      </p:sp>
      <p:sp>
        <p:nvSpPr>
          <p:cNvPr id="620" name="TextBox 619"/>
          <p:cNvSpPr txBox="1"/>
          <p:nvPr/>
        </p:nvSpPr>
        <p:spPr>
          <a:xfrm>
            <a:off x="5372100" y="7150100"/>
            <a:ext cx="673100" cy="4191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ctr"/>
            <a:r>
              <a:rPr sz="868" b="1" i="0">
                <a:solidFill>
                  <a:srgbClr val="062B68"/>
                </a:solidFill>
                <a:latin typeface="Arial"/>
              </a:rPr>
              <a:t>SQI Fusion</a:t>
            </a:r>
          </a:p>
        </p:txBody>
      </p:sp>
      <p:sp>
        <p:nvSpPr>
          <p:cNvPr id="621" name="TextBox 620"/>
          <p:cNvSpPr txBox="1"/>
          <p:nvPr/>
        </p:nvSpPr>
        <p:spPr>
          <a:xfrm>
            <a:off x="6045200" y="7150100"/>
            <a:ext cx="546100" cy="4191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ctr"/>
            <a:r>
              <a:rPr sz="868" b="1" i="0">
                <a:solidFill>
                  <a:srgbClr val="062B68"/>
                </a:solidFill>
                <a:latin typeface="Arial"/>
              </a:rPr>
              <a:t>SBP MAE</a:t>
            </a:r>
          </a:p>
          <a:p>
            <a:pPr algn="ctr"/>
            <a:r>
              <a:rPr sz="868" b="1" i="0">
                <a:solidFill>
                  <a:srgbClr val="062B68"/>
                </a:solidFill>
                <a:latin typeface="Arial"/>
              </a:rPr>
              <a:t>(mmHg)</a:t>
            </a:r>
          </a:p>
        </p:txBody>
      </p:sp>
      <p:sp>
        <p:nvSpPr>
          <p:cNvPr id="622" name="TextBox 621"/>
          <p:cNvSpPr txBox="1"/>
          <p:nvPr/>
        </p:nvSpPr>
        <p:spPr>
          <a:xfrm>
            <a:off x="6591300" y="7150100"/>
            <a:ext cx="546100" cy="4191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ctr"/>
            <a:r>
              <a:rPr sz="868" b="1" i="0">
                <a:solidFill>
                  <a:srgbClr val="062B68"/>
                </a:solidFill>
                <a:latin typeface="Arial"/>
              </a:rPr>
              <a:t>DBP MAE</a:t>
            </a:r>
          </a:p>
          <a:p>
            <a:pPr algn="ctr"/>
            <a:r>
              <a:rPr sz="868" b="1" i="0">
                <a:solidFill>
                  <a:srgbClr val="062B68"/>
                </a:solidFill>
                <a:latin typeface="Arial"/>
              </a:rPr>
              <a:t>(mmHg)</a:t>
            </a:r>
          </a:p>
        </p:txBody>
      </p:sp>
      <p:cxnSp>
        <p:nvCxnSpPr>
          <p:cNvPr id="623" name="Connector 622"/>
          <p:cNvCxnSpPr/>
          <p:nvPr/>
        </p:nvCxnSpPr>
        <p:spPr>
          <a:xfrm>
            <a:off x="4572000" y="7607300"/>
            <a:ext cx="2565400" cy="0"/>
          </a:xfrm>
          <a:prstGeom prst="line">
            <a:avLst/>
          </a:prstGeom>
          <a:ln w="10160">
            <a:solidFill>
              <a:srgbClr val="D8DE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4" name="Oval 623"/>
          <p:cNvSpPr/>
          <p:nvPr/>
        </p:nvSpPr>
        <p:spPr>
          <a:xfrm>
            <a:off x="4876800" y="7734300"/>
            <a:ext cx="203200" cy="20320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1495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" name="Freeform 624"/>
          <p:cNvSpPr/>
          <p:nvPr/>
        </p:nvSpPr>
        <p:spPr>
          <a:xfrm>
            <a:off x="4927600" y="7797800"/>
            <a:ext cx="101600" cy="76200"/>
          </a:xfrm>
          <a:custGeom>
            <a:avLst/>
            <a:gdLst/>
            <a:ahLst/>
            <a:cxnLst/>
            <a:rect l="l" t="t" r="r" b="b"/>
            <a:pathLst>
              <a:path w="8" h="6">
                <a:moveTo>
                  <a:pt x="0" y="4"/>
                </a:moveTo>
                <a:lnTo>
                  <a:pt x="3" y="6"/>
                </a:lnTo>
                <a:lnTo>
                  <a:pt x="8" y="0"/>
                </a:lnTo>
              </a:path>
            </a:pathLst>
          </a:custGeom>
          <a:noFill/>
          <a:ln w="20320">
            <a:solidFill>
              <a:srgbClr val="1495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6" name="Oval 625"/>
          <p:cNvSpPr/>
          <p:nvPr/>
        </p:nvSpPr>
        <p:spPr>
          <a:xfrm>
            <a:off x="5638800" y="7734300"/>
            <a:ext cx="203200" cy="20320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1495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" name="Freeform 626"/>
          <p:cNvSpPr/>
          <p:nvPr/>
        </p:nvSpPr>
        <p:spPr>
          <a:xfrm>
            <a:off x="5689600" y="7797800"/>
            <a:ext cx="101600" cy="76200"/>
          </a:xfrm>
          <a:custGeom>
            <a:avLst/>
            <a:gdLst/>
            <a:ahLst/>
            <a:cxnLst/>
            <a:rect l="l" t="t" r="r" b="b"/>
            <a:pathLst>
              <a:path w="8" h="6">
                <a:moveTo>
                  <a:pt x="0" y="4"/>
                </a:moveTo>
                <a:lnTo>
                  <a:pt x="3" y="6"/>
                </a:lnTo>
                <a:lnTo>
                  <a:pt x="8" y="0"/>
                </a:lnTo>
              </a:path>
            </a:pathLst>
          </a:custGeom>
          <a:noFill/>
          <a:ln w="20320">
            <a:solidFill>
              <a:srgbClr val="1495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" name="TextBox 627"/>
          <p:cNvSpPr txBox="1"/>
          <p:nvPr/>
        </p:nvSpPr>
        <p:spPr>
          <a:xfrm>
            <a:off x="6045200" y="7721600"/>
            <a:ext cx="546100" cy="2286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ctr"/>
            <a:r>
              <a:rPr sz="1150" b="1" i="0">
                <a:solidFill>
                  <a:srgbClr val="007A32"/>
                </a:solidFill>
                <a:latin typeface="Arial"/>
              </a:rPr>
              <a:t>4.26</a:t>
            </a:r>
          </a:p>
        </p:txBody>
      </p:sp>
      <p:sp>
        <p:nvSpPr>
          <p:cNvPr id="629" name="TextBox 628"/>
          <p:cNvSpPr txBox="1"/>
          <p:nvPr/>
        </p:nvSpPr>
        <p:spPr>
          <a:xfrm>
            <a:off x="6591300" y="7721600"/>
            <a:ext cx="546100" cy="2286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ctr"/>
            <a:r>
              <a:rPr sz="1150" b="1" i="0">
                <a:solidFill>
                  <a:srgbClr val="007A32"/>
                </a:solidFill>
                <a:latin typeface="Arial"/>
              </a:rPr>
              <a:t>3.11</a:t>
            </a:r>
          </a:p>
        </p:txBody>
      </p:sp>
      <p:sp>
        <p:nvSpPr>
          <p:cNvPr id="630" name="Oval 629"/>
          <p:cNvSpPr/>
          <p:nvPr/>
        </p:nvSpPr>
        <p:spPr>
          <a:xfrm>
            <a:off x="4876800" y="8267700"/>
            <a:ext cx="203200" cy="20320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1495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" name="Freeform 630"/>
          <p:cNvSpPr/>
          <p:nvPr/>
        </p:nvSpPr>
        <p:spPr>
          <a:xfrm>
            <a:off x="4927600" y="8331200"/>
            <a:ext cx="101600" cy="76200"/>
          </a:xfrm>
          <a:custGeom>
            <a:avLst/>
            <a:gdLst/>
            <a:ahLst/>
            <a:cxnLst/>
            <a:rect l="l" t="t" r="r" b="b"/>
            <a:pathLst>
              <a:path w="8" h="6">
                <a:moveTo>
                  <a:pt x="0" y="4"/>
                </a:moveTo>
                <a:lnTo>
                  <a:pt x="3" y="6"/>
                </a:lnTo>
                <a:lnTo>
                  <a:pt x="8" y="0"/>
                </a:lnTo>
              </a:path>
            </a:pathLst>
          </a:custGeom>
          <a:noFill/>
          <a:ln w="20320">
            <a:solidFill>
              <a:srgbClr val="1495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" name="Oval 631"/>
          <p:cNvSpPr/>
          <p:nvPr/>
        </p:nvSpPr>
        <p:spPr>
          <a:xfrm>
            <a:off x="5638800" y="8267700"/>
            <a:ext cx="203200" cy="20320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E821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3" name="Connector 632"/>
          <p:cNvCxnSpPr/>
          <p:nvPr/>
        </p:nvCxnSpPr>
        <p:spPr>
          <a:xfrm>
            <a:off x="5702300" y="8331200"/>
            <a:ext cx="76200" cy="76200"/>
          </a:xfrm>
          <a:prstGeom prst="line">
            <a:avLst/>
          </a:prstGeom>
          <a:ln w="20320">
            <a:solidFill>
              <a:srgbClr val="E821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4" name="Connector 633"/>
          <p:cNvCxnSpPr/>
          <p:nvPr/>
        </p:nvCxnSpPr>
        <p:spPr>
          <a:xfrm flipH="1">
            <a:off x="5702300" y="8331200"/>
            <a:ext cx="76200" cy="76200"/>
          </a:xfrm>
          <a:prstGeom prst="line">
            <a:avLst/>
          </a:prstGeom>
          <a:ln w="20320">
            <a:solidFill>
              <a:srgbClr val="E821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5" name="TextBox 634"/>
          <p:cNvSpPr txBox="1"/>
          <p:nvPr/>
        </p:nvSpPr>
        <p:spPr>
          <a:xfrm>
            <a:off x="6045200" y="8255000"/>
            <a:ext cx="546100" cy="2286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ctr"/>
            <a:r>
              <a:rPr sz="1150" b="1" i="0">
                <a:solidFill>
                  <a:srgbClr val="111111"/>
                </a:solidFill>
                <a:latin typeface="Arial"/>
              </a:rPr>
              <a:t>4.61</a:t>
            </a:r>
          </a:p>
        </p:txBody>
      </p:sp>
      <p:sp>
        <p:nvSpPr>
          <p:cNvPr id="636" name="TextBox 635"/>
          <p:cNvSpPr txBox="1"/>
          <p:nvPr/>
        </p:nvSpPr>
        <p:spPr>
          <a:xfrm>
            <a:off x="6591300" y="8255000"/>
            <a:ext cx="546100" cy="2286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ctr"/>
            <a:r>
              <a:rPr sz="1150" b="1" i="0">
                <a:solidFill>
                  <a:srgbClr val="111111"/>
                </a:solidFill>
                <a:latin typeface="Arial"/>
              </a:rPr>
              <a:t>3.33</a:t>
            </a:r>
          </a:p>
        </p:txBody>
      </p:sp>
      <p:sp>
        <p:nvSpPr>
          <p:cNvPr id="637" name="Oval 636"/>
          <p:cNvSpPr/>
          <p:nvPr/>
        </p:nvSpPr>
        <p:spPr>
          <a:xfrm>
            <a:off x="4876800" y="8801100"/>
            <a:ext cx="203200" cy="20320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E821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8" name="Connector 637"/>
          <p:cNvCxnSpPr/>
          <p:nvPr/>
        </p:nvCxnSpPr>
        <p:spPr>
          <a:xfrm>
            <a:off x="4940300" y="8864600"/>
            <a:ext cx="76200" cy="76200"/>
          </a:xfrm>
          <a:prstGeom prst="line">
            <a:avLst/>
          </a:prstGeom>
          <a:ln w="20320">
            <a:solidFill>
              <a:srgbClr val="E821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9" name="Connector 638"/>
          <p:cNvCxnSpPr/>
          <p:nvPr/>
        </p:nvCxnSpPr>
        <p:spPr>
          <a:xfrm flipH="1">
            <a:off x="4940300" y="8864600"/>
            <a:ext cx="76200" cy="76200"/>
          </a:xfrm>
          <a:prstGeom prst="line">
            <a:avLst/>
          </a:prstGeom>
          <a:ln w="20320">
            <a:solidFill>
              <a:srgbClr val="E821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0" name="Oval 639"/>
          <p:cNvSpPr/>
          <p:nvPr/>
        </p:nvSpPr>
        <p:spPr>
          <a:xfrm>
            <a:off x="5638800" y="8801100"/>
            <a:ext cx="203200" cy="20320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1495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1" name="Freeform 640"/>
          <p:cNvSpPr/>
          <p:nvPr/>
        </p:nvSpPr>
        <p:spPr>
          <a:xfrm>
            <a:off x="5689600" y="8864600"/>
            <a:ext cx="101600" cy="76200"/>
          </a:xfrm>
          <a:custGeom>
            <a:avLst/>
            <a:gdLst/>
            <a:ahLst/>
            <a:cxnLst/>
            <a:rect l="l" t="t" r="r" b="b"/>
            <a:pathLst>
              <a:path w="8" h="6">
                <a:moveTo>
                  <a:pt x="0" y="4"/>
                </a:moveTo>
                <a:lnTo>
                  <a:pt x="3" y="6"/>
                </a:lnTo>
                <a:lnTo>
                  <a:pt x="8" y="0"/>
                </a:lnTo>
              </a:path>
            </a:pathLst>
          </a:custGeom>
          <a:noFill/>
          <a:ln w="20320">
            <a:solidFill>
              <a:srgbClr val="1495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2" name="TextBox 641"/>
          <p:cNvSpPr txBox="1"/>
          <p:nvPr/>
        </p:nvSpPr>
        <p:spPr>
          <a:xfrm>
            <a:off x="6045200" y="8788400"/>
            <a:ext cx="546100" cy="2286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ctr"/>
            <a:r>
              <a:rPr sz="1150" b="1" i="0">
                <a:solidFill>
                  <a:srgbClr val="111111"/>
                </a:solidFill>
                <a:latin typeface="Arial"/>
              </a:rPr>
              <a:t>5.25</a:t>
            </a:r>
          </a:p>
        </p:txBody>
      </p:sp>
      <p:sp>
        <p:nvSpPr>
          <p:cNvPr id="643" name="TextBox 642"/>
          <p:cNvSpPr txBox="1"/>
          <p:nvPr/>
        </p:nvSpPr>
        <p:spPr>
          <a:xfrm>
            <a:off x="6591300" y="8788400"/>
            <a:ext cx="546100" cy="2286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ctr"/>
            <a:r>
              <a:rPr sz="1150" b="1" i="0">
                <a:solidFill>
                  <a:srgbClr val="111111"/>
                </a:solidFill>
                <a:latin typeface="Arial"/>
              </a:rPr>
              <a:t>3.51</a:t>
            </a:r>
          </a:p>
        </p:txBody>
      </p:sp>
      <p:sp>
        <p:nvSpPr>
          <p:cNvPr id="644" name="Oval 643"/>
          <p:cNvSpPr/>
          <p:nvPr/>
        </p:nvSpPr>
        <p:spPr>
          <a:xfrm>
            <a:off x="4876800" y="9334500"/>
            <a:ext cx="203200" cy="20320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E821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5" name="Connector 644"/>
          <p:cNvCxnSpPr/>
          <p:nvPr/>
        </p:nvCxnSpPr>
        <p:spPr>
          <a:xfrm>
            <a:off x="4940300" y="9398000"/>
            <a:ext cx="76200" cy="76200"/>
          </a:xfrm>
          <a:prstGeom prst="line">
            <a:avLst/>
          </a:prstGeom>
          <a:ln w="20320">
            <a:solidFill>
              <a:srgbClr val="E821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6" name="Connector 645"/>
          <p:cNvCxnSpPr/>
          <p:nvPr/>
        </p:nvCxnSpPr>
        <p:spPr>
          <a:xfrm flipH="1">
            <a:off x="4940300" y="9398000"/>
            <a:ext cx="76200" cy="76200"/>
          </a:xfrm>
          <a:prstGeom prst="line">
            <a:avLst/>
          </a:prstGeom>
          <a:ln w="20320">
            <a:solidFill>
              <a:srgbClr val="E821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7" name="Oval 646"/>
          <p:cNvSpPr/>
          <p:nvPr/>
        </p:nvSpPr>
        <p:spPr>
          <a:xfrm>
            <a:off x="5638800" y="9334500"/>
            <a:ext cx="203200" cy="20320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E821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8" name="Connector 647"/>
          <p:cNvCxnSpPr/>
          <p:nvPr/>
        </p:nvCxnSpPr>
        <p:spPr>
          <a:xfrm>
            <a:off x="5702300" y="9398000"/>
            <a:ext cx="76200" cy="76200"/>
          </a:xfrm>
          <a:prstGeom prst="line">
            <a:avLst/>
          </a:prstGeom>
          <a:ln w="20320">
            <a:solidFill>
              <a:srgbClr val="E821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9" name="Connector 648"/>
          <p:cNvCxnSpPr/>
          <p:nvPr/>
        </p:nvCxnSpPr>
        <p:spPr>
          <a:xfrm flipH="1">
            <a:off x="5702300" y="9398000"/>
            <a:ext cx="76200" cy="76200"/>
          </a:xfrm>
          <a:prstGeom prst="line">
            <a:avLst/>
          </a:prstGeom>
          <a:ln w="20320">
            <a:solidFill>
              <a:srgbClr val="E821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0" name="TextBox 649"/>
          <p:cNvSpPr txBox="1"/>
          <p:nvPr/>
        </p:nvSpPr>
        <p:spPr>
          <a:xfrm>
            <a:off x="6045200" y="9321800"/>
            <a:ext cx="546100" cy="2286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ctr"/>
            <a:r>
              <a:rPr sz="1150" b="1" i="0">
                <a:solidFill>
                  <a:srgbClr val="111111"/>
                </a:solidFill>
                <a:latin typeface="Arial"/>
              </a:rPr>
              <a:t>6.09</a:t>
            </a:r>
          </a:p>
        </p:txBody>
      </p:sp>
      <p:sp>
        <p:nvSpPr>
          <p:cNvPr id="651" name="TextBox 650"/>
          <p:cNvSpPr txBox="1"/>
          <p:nvPr/>
        </p:nvSpPr>
        <p:spPr>
          <a:xfrm>
            <a:off x="6591300" y="9321800"/>
            <a:ext cx="546100" cy="2286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ctr"/>
            <a:r>
              <a:rPr sz="1150" b="1" i="0">
                <a:solidFill>
                  <a:srgbClr val="111111"/>
                </a:solidFill>
                <a:latin typeface="Arial"/>
              </a:rPr>
              <a:t>3.96</a:t>
            </a:r>
          </a:p>
        </p:txBody>
      </p:sp>
      <p:cxnSp>
        <p:nvCxnSpPr>
          <p:cNvPr id="652" name="Connector 651"/>
          <p:cNvCxnSpPr/>
          <p:nvPr/>
        </p:nvCxnSpPr>
        <p:spPr>
          <a:xfrm>
            <a:off x="5372100" y="7594600"/>
            <a:ext cx="0" cy="2197100"/>
          </a:xfrm>
          <a:prstGeom prst="line">
            <a:avLst/>
          </a:prstGeom>
          <a:ln w="8890">
            <a:solidFill>
              <a:srgbClr val="D8DEE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3" name="Connector 652"/>
          <p:cNvCxnSpPr/>
          <p:nvPr/>
        </p:nvCxnSpPr>
        <p:spPr>
          <a:xfrm>
            <a:off x="6045200" y="7594600"/>
            <a:ext cx="0" cy="2197100"/>
          </a:xfrm>
          <a:prstGeom prst="line">
            <a:avLst/>
          </a:prstGeom>
          <a:ln w="8890">
            <a:solidFill>
              <a:srgbClr val="D8DEE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4" name="Connector 653"/>
          <p:cNvCxnSpPr/>
          <p:nvPr/>
        </p:nvCxnSpPr>
        <p:spPr>
          <a:xfrm>
            <a:off x="6591300" y="7594600"/>
            <a:ext cx="0" cy="2197100"/>
          </a:xfrm>
          <a:prstGeom prst="line">
            <a:avLst/>
          </a:prstGeom>
          <a:ln w="8890">
            <a:solidFill>
              <a:srgbClr val="D8DEE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5" name="Rounded Rectangle 654"/>
          <p:cNvSpPr/>
          <p:nvPr/>
        </p:nvSpPr>
        <p:spPr>
          <a:xfrm>
            <a:off x="4622800" y="9931400"/>
            <a:ext cx="2438400" cy="622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D5EB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6" name="TextBox 655"/>
          <p:cNvSpPr txBox="1"/>
          <p:nvPr/>
        </p:nvSpPr>
        <p:spPr>
          <a:xfrm>
            <a:off x="4610100" y="10058400"/>
            <a:ext cx="2463800" cy="4064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ctr"/>
            <a:r>
              <a:rPr sz="912" b="1" i="0">
                <a:solidFill>
                  <a:srgbClr val="111111"/>
                </a:solidFill>
                <a:latin typeface="Arial"/>
              </a:rPr>
              <a:t>Factorized tests isolate</a:t>
            </a:r>
          </a:p>
          <a:p>
            <a:pPr algn="ctr"/>
            <a:r>
              <a:rPr sz="912" b="1" i="0">
                <a:solidFill>
                  <a:srgbClr val="111111"/>
                </a:solidFill>
                <a:latin typeface="Arial"/>
              </a:rPr>
              <a:t>delay band and SQI fusion</a:t>
            </a:r>
          </a:p>
        </p:txBody>
      </p:sp>
      <p:sp>
        <p:nvSpPr>
          <p:cNvPr id="657" name="Rounded Rectangle 656"/>
          <p:cNvSpPr/>
          <p:nvPr/>
        </p:nvSpPr>
        <p:spPr>
          <a:xfrm>
            <a:off x="7251700" y="6553200"/>
            <a:ext cx="2578100" cy="4229100"/>
          </a:xfrm>
          <a:prstGeom prst="roundRect">
            <a:avLst>
              <a:gd name="adj" fmla="val 8000"/>
            </a:avLst>
          </a:prstGeom>
          <a:solidFill>
            <a:srgbClr val="F8FBFF"/>
          </a:solidFill>
          <a:ln w="12700">
            <a:solidFill>
              <a:srgbClr val="A7B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8" name="Rectangle 657"/>
          <p:cNvSpPr/>
          <p:nvPr/>
        </p:nvSpPr>
        <p:spPr>
          <a:xfrm>
            <a:off x="7251700" y="6553200"/>
            <a:ext cx="2578100" cy="355600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9" name="TextBox 658"/>
          <p:cNvSpPr txBox="1"/>
          <p:nvPr/>
        </p:nvSpPr>
        <p:spPr>
          <a:xfrm>
            <a:off x="7289800" y="6591300"/>
            <a:ext cx="2501900" cy="2540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Arial"/>
              </a:rPr>
              <a:t>2. Negative Controls</a:t>
            </a:r>
          </a:p>
        </p:txBody>
      </p:sp>
      <p:cxnSp>
        <p:nvCxnSpPr>
          <p:cNvPr id="660" name="Connector 659"/>
          <p:cNvCxnSpPr/>
          <p:nvPr/>
        </p:nvCxnSpPr>
        <p:spPr>
          <a:xfrm>
            <a:off x="8356600" y="9385300"/>
            <a:ext cx="1447800" cy="0"/>
          </a:xfrm>
          <a:prstGeom prst="line">
            <a:avLst/>
          </a:prstGeom>
          <a:ln w="11430">
            <a:solidFill>
              <a:srgbClr val="5D64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1" name="Connector 660"/>
          <p:cNvCxnSpPr/>
          <p:nvPr/>
        </p:nvCxnSpPr>
        <p:spPr>
          <a:xfrm>
            <a:off x="8356600" y="7543800"/>
            <a:ext cx="0" cy="1841500"/>
          </a:xfrm>
          <a:prstGeom prst="line">
            <a:avLst/>
          </a:prstGeom>
          <a:ln w="11430">
            <a:solidFill>
              <a:srgbClr val="5D64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2" name="TextBox 661"/>
          <p:cNvSpPr txBox="1"/>
          <p:nvPr/>
        </p:nvSpPr>
        <p:spPr>
          <a:xfrm>
            <a:off x="8293100" y="7213600"/>
            <a:ext cx="1460500" cy="2032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ctr"/>
            <a:r>
              <a:rPr sz="887" b="0" i="0">
                <a:solidFill>
                  <a:srgbClr val="111111"/>
                </a:solidFill>
                <a:latin typeface="Arial"/>
              </a:rPr>
              <a:t>SBP MAE Increase (mmHg)</a:t>
            </a:r>
          </a:p>
        </p:txBody>
      </p:sp>
      <p:sp>
        <p:nvSpPr>
          <p:cNvPr id="663" name="TextBox 662"/>
          <p:cNvSpPr txBox="1"/>
          <p:nvPr/>
        </p:nvSpPr>
        <p:spPr>
          <a:xfrm>
            <a:off x="8293100" y="7302500"/>
            <a:ext cx="127000" cy="1524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ctr"/>
            <a:r>
              <a:rPr sz="862" b="0" i="0">
                <a:solidFill>
                  <a:srgbClr val="111111"/>
                </a:solidFill>
                <a:latin typeface="Arial"/>
              </a:rPr>
              <a:t>0</a:t>
            </a:r>
          </a:p>
        </p:txBody>
      </p:sp>
      <p:sp>
        <p:nvSpPr>
          <p:cNvPr id="664" name="TextBox 663"/>
          <p:cNvSpPr txBox="1"/>
          <p:nvPr/>
        </p:nvSpPr>
        <p:spPr>
          <a:xfrm>
            <a:off x="8655050" y="7302500"/>
            <a:ext cx="127000" cy="1524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ctr"/>
            <a:r>
              <a:rPr sz="862" b="0" i="0">
                <a:solidFill>
                  <a:srgbClr val="111111"/>
                </a:solidFill>
                <a:latin typeface="Arial"/>
              </a:rPr>
              <a:t>1</a:t>
            </a:r>
          </a:p>
        </p:txBody>
      </p:sp>
      <p:sp>
        <p:nvSpPr>
          <p:cNvPr id="665" name="TextBox 664"/>
          <p:cNvSpPr txBox="1"/>
          <p:nvPr/>
        </p:nvSpPr>
        <p:spPr>
          <a:xfrm>
            <a:off x="9017000" y="7302500"/>
            <a:ext cx="127000" cy="1524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ctr"/>
            <a:r>
              <a:rPr sz="862" b="0" i="0">
                <a:solidFill>
                  <a:srgbClr val="111111"/>
                </a:solidFill>
                <a:latin typeface="Arial"/>
              </a:rPr>
              <a:t>2</a:t>
            </a:r>
          </a:p>
        </p:txBody>
      </p:sp>
      <p:sp>
        <p:nvSpPr>
          <p:cNvPr id="666" name="TextBox 665"/>
          <p:cNvSpPr txBox="1"/>
          <p:nvPr/>
        </p:nvSpPr>
        <p:spPr>
          <a:xfrm>
            <a:off x="9378950" y="7302500"/>
            <a:ext cx="127000" cy="1524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ctr"/>
            <a:r>
              <a:rPr sz="862" b="0" i="0">
                <a:solidFill>
                  <a:srgbClr val="111111"/>
                </a:solidFill>
                <a:latin typeface="Arial"/>
              </a:rPr>
              <a:t>3</a:t>
            </a:r>
          </a:p>
        </p:txBody>
      </p:sp>
      <p:sp>
        <p:nvSpPr>
          <p:cNvPr id="667" name="TextBox 666"/>
          <p:cNvSpPr txBox="1"/>
          <p:nvPr/>
        </p:nvSpPr>
        <p:spPr>
          <a:xfrm>
            <a:off x="9740900" y="7302500"/>
            <a:ext cx="127000" cy="1524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ctr"/>
            <a:r>
              <a:rPr sz="862" b="0" i="0">
                <a:solidFill>
                  <a:srgbClr val="111111"/>
                </a:solidFill>
                <a:latin typeface="Arial"/>
              </a:rPr>
              <a:t>4</a:t>
            </a:r>
          </a:p>
        </p:txBody>
      </p:sp>
      <p:sp>
        <p:nvSpPr>
          <p:cNvPr id="668" name="TextBox 667"/>
          <p:cNvSpPr txBox="1"/>
          <p:nvPr/>
        </p:nvSpPr>
        <p:spPr>
          <a:xfrm>
            <a:off x="7353300" y="7594600"/>
            <a:ext cx="990600" cy="2413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r"/>
            <a:r>
              <a:rPr sz="862" b="0" i="0">
                <a:solidFill>
                  <a:srgbClr val="111111"/>
                </a:solidFill>
                <a:latin typeface="Arial"/>
              </a:rPr>
              <a:t>Token-aligned PPG shift</a:t>
            </a:r>
          </a:p>
        </p:txBody>
      </p:sp>
      <p:sp>
        <p:nvSpPr>
          <p:cNvPr id="669" name="Rectangle 668"/>
          <p:cNvSpPr/>
          <p:nvPr/>
        </p:nvSpPr>
        <p:spPr>
          <a:xfrm>
            <a:off x="8356600" y="7658100"/>
            <a:ext cx="1024318" cy="165100"/>
          </a:xfrm>
          <a:prstGeom prst="rect">
            <a:avLst/>
          </a:prstGeom>
          <a:solidFill>
            <a:srgbClr val="E82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0" name="TextBox 669"/>
          <p:cNvSpPr txBox="1"/>
          <p:nvPr/>
        </p:nvSpPr>
        <p:spPr>
          <a:xfrm>
            <a:off x="9419018" y="7632700"/>
            <a:ext cx="279400" cy="1778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l"/>
            <a:r>
              <a:rPr sz="825" b="0" i="0">
                <a:solidFill>
                  <a:srgbClr val="111111"/>
                </a:solidFill>
                <a:latin typeface="Arial"/>
              </a:rPr>
              <a:t>4.06</a:t>
            </a:r>
          </a:p>
        </p:txBody>
      </p:sp>
      <p:sp>
        <p:nvSpPr>
          <p:cNvPr id="671" name="TextBox 670"/>
          <p:cNvSpPr txBox="1"/>
          <p:nvPr/>
        </p:nvSpPr>
        <p:spPr>
          <a:xfrm>
            <a:off x="7353300" y="7988300"/>
            <a:ext cx="990600" cy="2413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r"/>
            <a:r>
              <a:rPr sz="862" b="0" i="0">
                <a:solidFill>
                  <a:srgbClr val="111111"/>
                </a:solidFill>
                <a:latin typeface="Arial"/>
              </a:rPr>
              <a:t>Cross-subject pairing</a:t>
            </a:r>
          </a:p>
        </p:txBody>
      </p:sp>
      <p:sp>
        <p:nvSpPr>
          <p:cNvPr id="672" name="Rectangle 671"/>
          <p:cNvSpPr/>
          <p:nvPr/>
        </p:nvSpPr>
        <p:spPr>
          <a:xfrm>
            <a:off x="8356600" y="8051800"/>
            <a:ext cx="1212532" cy="165100"/>
          </a:xfrm>
          <a:prstGeom prst="rect">
            <a:avLst/>
          </a:prstGeom>
          <a:solidFill>
            <a:srgbClr val="E82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3" name="TextBox 672"/>
          <p:cNvSpPr txBox="1"/>
          <p:nvPr/>
        </p:nvSpPr>
        <p:spPr>
          <a:xfrm>
            <a:off x="9607232" y="8026400"/>
            <a:ext cx="279400" cy="1778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l"/>
            <a:r>
              <a:rPr sz="825" b="0" i="0">
                <a:solidFill>
                  <a:srgbClr val="111111"/>
                </a:solidFill>
                <a:latin typeface="Arial"/>
              </a:rPr>
              <a:t>4.52</a:t>
            </a:r>
          </a:p>
        </p:txBody>
      </p:sp>
      <p:sp>
        <p:nvSpPr>
          <p:cNvPr id="674" name="TextBox 673"/>
          <p:cNvSpPr txBox="1"/>
          <p:nvPr/>
        </p:nvSpPr>
        <p:spPr>
          <a:xfrm>
            <a:off x="7353300" y="8382000"/>
            <a:ext cx="990600" cy="2413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r"/>
            <a:r>
              <a:rPr sz="862" b="0" i="0">
                <a:solidFill>
                  <a:srgbClr val="111111"/>
                </a:solidFill>
                <a:latin typeface="Arial"/>
              </a:rPr>
              <a:t>PPG time reversal</a:t>
            </a:r>
          </a:p>
        </p:txBody>
      </p:sp>
      <p:sp>
        <p:nvSpPr>
          <p:cNvPr id="675" name="Rectangle 674"/>
          <p:cNvSpPr/>
          <p:nvPr/>
        </p:nvSpPr>
        <p:spPr>
          <a:xfrm>
            <a:off x="8356600" y="8445500"/>
            <a:ext cx="1089469" cy="165100"/>
          </a:xfrm>
          <a:prstGeom prst="rect">
            <a:avLst/>
          </a:prstGeom>
          <a:solidFill>
            <a:srgbClr val="E82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6" name="TextBox 675"/>
          <p:cNvSpPr txBox="1"/>
          <p:nvPr/>
        </p:nvSpPr>
        <p:spPr>
          <a:xfrm>
            <a:off x="9484169" y="8420100"/>
            <a:ext cx="279400" cy="1778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l"/>
            <a:r>
              <a:rPr sz="825" b="0" i="0">
                <a:solidFill>
                  <a:srgbClr val="111111"/>
                </a:solidFill>
                <a:latin typeface="Arial"/>
              </a:rPr>
              <a:t>4.21</a:t>
            </a:r>
          </a:p>
        </p:txBody>
      </p:sp>
      <p:sp>
        <p:nvSpPr>
          <p:cNvPr id="677" name="TextBox 676"/>
          <p:cNvSpPr txBox="1"/>
          <p:nvPr/>
        </p:nvSpPr>
        <p:spPr>
          <a:xfrm>
            <a:off x="7353300" y="8775700"/>
            <a:ext cx="990600" cy="2413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r"/>
            <a:r>
              <a:rPr sz="862" b="0" i="0">
                <a:solidFill>
                  <a:srgbClr val="111111"/>
                </a:solidFill>
                <a:latin typeface="Arial"/>
              </a:rPr>
              <a:t>Implausible delay mask</a:t>
            </a:r>
          </a:p>
        </p:txBody>
      </p:sp>
      <p:sp>
        <p:nvSpPr>
          <p:cNvPr id="678" name="Rectangle 677"/>
          <p:cNvSpPr/>
          <p:nvPr/>
        </p:nvSpPr>
        <p:spPr>
          <a:xfrm>
            <a:off x="8356600" y="8839200"/>
            <a:ext cx="821626" cy="165100"/>
          </a:xfrm>
          <a:prstGeom prst="rect">
            <a:avLst/>
          </a:prstGeom>
          <a:solidFill>
            <a:srgbClr val="E82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9" name="TextBox 678"/>
          <p:cNvSpPr txBox="1"/>
          <p:nvPr/>
        </p:nvSpPr>
        <p:spPr>
          <a:xfrm>
            <a:off x="9216326" y="8813800"/>
            <a:ext cx="279400" cy="1778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l"/>
            <a:r>
              <a:rPr sz="825" b="0" i="0">
                <a:solidFill>
                  <a:srgbClr val="111111"/>
                </a:solidFill>
                <a:latin typeface="Arial"/>
              </a:rPr>
              <a:t>3.39</a:t>
            </a:r>
          </a:p>
        </p:txBody>
      </p:sp>
      <p:sp>
        <p:nvSpPr>
          <p:cNvPr id="680" name="Rounded Rectangle 679"/>
          <p:cNvSpPr/>
          <p:nvPr/>
        </p:nvSpPr>
        <p:spPr>
          <a:xfrm>
            <a:off x="7378700" y="9931400"/>
            <a:ext cx="2324100" cy="622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D5EB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1" name="TextBox 680"/>
          <p:cNvSpPr txBox="1"/>
          <p:nvPr/>
        </p:nvSpPr>
        <p:spPr>
          <a:xfrm>
            <a:off x="7366000" y="10058400"/>
            <a:ext cx="2349500" cy="4064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ctr"/>
            <a:r>
              <a:rPr sz="912" b="1" i="0">
                <a:solidFill>
                  <a:srgbClr val="111111"/>
                </a:solidFill>
                <a:latin typeface="Arial"/>
              </a:rPr>
              <a:t>Timing disruption selectively</a:t>
            </a:r>
          </a:p>
          <a:p>
            <a:pPr algn="ctr"/>
            <a:r>
              <a:rPr sz="912" b="1" i="0">
                <a:solidFill>
                  <a:srgbClr val="111111"/>
                </a:solidFill>
                <a:latin typeface="Arial"/>
              </a:rPr>
              <a:t>penalizes PhysioCAT</a:t>
            </a:r>
          </a:p>
        </p:txBody>
      </p:sp>
      <p:sp>
        <p:nvSpPr>
          <p:cNvPr id="682" name="Rounded Rectangle 681"/>
          <p:cNvSpPr/>
          <p:nvPr/>
        </p:nvSpPr>
        <p:spPr>
          <a:xfrm>
            <a:off x="9906000" y="6553200"/>
            <a:ext cx="2578100" cy="4229100"/>
          </a:xfrm>
          <a:prstGeom prst="roundRect">
            <a:avLst>
              <a:gd name="adj" fmla="val 8000"/>
            </a:avLst>
          </a:prstGeom>
          <a:solidFill>
            <a:srgbClr val="F8FBFF"/>
          </a:solidFill>
          <a:ln w="12700">
            <a:solidFill>
              <a:srgbClr val="A7B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3" name="Rectangle 682"/>
          <p:cNvSpPr/>
          <p:nvPr/>
        </p:nvSpPr>
        <p:spPr>
          <a:xfrm>
            <a:off x="9906000" y="6553200"/>
            <a:ext cx="2578100" cy="355600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4" name="TextBox 683"/>
          <p:cNvSpPr txBox="1"/>
          <p:nvPr/>
        </p:nvSpPr>
        <p:spPr>
          <a:xfrm>
            <a:off x="9944100" y="6591300"/>
            <a:ext cx="2501900" cy="2540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Arial"/>
              </a:rPr>
              <a:t>3. Delay–Band Sensitivity</a:t>
            </a:r>
          </a:p>
        </p:txBody>
      </p:sp>
      <p:cxnSp>
        <p:nvCxnSpPr>
          <p:cNvPr id="685" name="Connector 684"/>
          <p:cNvCxnSpPr/>
          <p:nvPr/>
        </p:nvCxnSpPr>
        <p:spPr>
          <a:xfrm>
            <a:off x="10350500" y="9029700"/>
            <a:ext cx="1917700" cy="0"/>
          </a:xfrm>
          <a:prstGeom prst="line">
            <a:avLst/>
          </a:prstGeom>
          <a:ln w="11430">
            <a:solidFill>
              <a:srgbClr val="5D64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6" name="Connector 685"/>
          <p:cNvCxnSpPr/>
          <p:nvPr/>
        </p:nvCxnSpPr>
        <p:spPr>
          <a:xfrm>
            <a:off x="10350500" y="7467600"/>
            <a:ext cx="0" cy="1562100"/>
          </a:xfrm>
          <a:prstGeom prst="line">
            <a:avLst/>
          </a:prstGeom>
          <a:ln w="11430">
            <a:solidFill>
              <a:srgbClr val="5D64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7" name="TextBox 686"/>
          <p:cNvSpPr txBox="1"/>
          <p:nvPr/>
        </p:nvSpPr>
        <p:spPr>
          <a:xfrm>
            <a:off x="10731500" y="7112000"/>
            <a:ext cx="1193800" cy="1905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ctr"/>
            <a:r>
              <a:rPr sz="912" b="0" i="0">
                <a:solidFill>
                  <a:srgbClr val="111111"/>
                </a:solidFill>
                <a:latin typeface="Arial"/>
              </a:rPr>
              <a:t>SBP MAE (mmHg)</a:t>
            </a:r>
          </a:p>
        </p:txBody>
      </p:sp>
      <p:cxnSp>
        <p:nvCxnSpPr>
          <p:cNvPr id="688" name="Connector 687"/>
          <p:cNvCxnSpPr/>
          <p:nvPr/>
        </p:nvCxnSpPr>
        <p:spPr>
          <a:xfrm>
            <a:off x="10350500" y="9029700"/>
            <a:ext cx="1917700" cy="0"/>
          </a:xfrm>
          <a:prstGeom prst="line">
            <a:avLst/>
          </a:prstGeom>
          <a:ln w="5715">
            <a:solidFill>
              <a:srgbClr val="D8DE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9" name="TextBox 688"/>
          <p:cNvSpPr txBox="1"/>
          <p:nvPr/>
        </p:nvSpPr>
        <p:spPr>
          <a:xfrm>
            <a:off x="9994900" y="8940800"/>
            <a:ext cx="279400" cy="1524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r"/>
            <a:r>
              <a:rPr sz="875" b="0" i="0">
                <a:solidFill>
                  <a:srgbClr val="111111"/>
                </a:solidFill>
                <a:latin typeface="Arial"/>
              </a:rPr>
              <a:t>3.0</a:t>
            </a:r>
          </a:p>
        </p:txBody>
      </p:sp>
      <p:cxnSp>
        <p:nvCxnSpPr>
          <p:cNvPr id="690" name="Connector 689"/>
          <p:cNvCxnSpPr/>
          <p:nvPr/>
        </p:nvCxnSpPr>
        <p:spPr>
          <a:xfrm>
            <a:off x="10350500" y="8509000"/>
            <a:ext cx="1917700" cy="0"/>
          </a:xfrm>
          <a:prstGeom prst="line">
            <a:avLst/>
          </a:prstGeom>
          <a:ln w="5715">
            <a:solidFill>
              <a:srgbClr val="D8DE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1" name="TextBox 690"/>
          <p:cNvSpPr txBox="1"/>
          <p:nvPr/>
        </p:nvSpPr>
        <p:spPr>
          <a:xfrm>
            <a:off x="9994900" y="8420100"/>
            <a:ext cx="279400" cy="1524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r"/>
            <a:r>
              <a:rPr sz="875" b="0" i="0">
                <a:solidFill>
                  <a:srgbClr val="111111"/>
                </a:solidFill>
                <a:latin typeface="Arial"/>
              </a:rPr>
              <a:t>4.0</a:t>
            </a:r>
          </a:p>
        </p:txBody>
      </p:sp>
      <p:cxnSp>
        <p:nvCxnSpPr>
          <p:cNvPr id="692" name="Connector 691"/>
          <p:cNvCxnSpPr/>
          <p:nvPr/>
        </p:nvCxnSpPr>
        <p:spPr>
          <a:xfrm>
            <a:off x="10350500" y="7988300"/>
            <a:ext cx="1917700" cy="0"/>
          </a:xfrm>
          <a:prstGeom prst="line">
            <a:avLst/>
          </a:prstGeom>
          <a:ln w="5715">
            <a:solidFill>
              <a:srgbClr val="D8DE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3" name="TextBox 692"/>
          <p:cNvSpPr txBox="1"/>
          <p:nvPr/>
        </p:nvSpPr>
        <p:spPr>
          <a:xfrm>
            <a:off x="9994900" y="7899400"/>
            <a:ext cx="279400" cy="1524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r"/>
            <a:r>
              <a:rPr sz="875" b="0" i="0">
                <a:solidFill>
                  <a:srgbClr val="111111"/>
                </a:solidFill>
                <a:latin typeface="Arial"/>
              </a:rPr>
              <a:t>5.0</a:t>
            </a:r>
          </a:p>
        </p:txBody>
      </p:sp>
      <p:cxnSp>
        <p:nvCxnSpPr>
          <p:cNvPr id="694" name="Connector 693"/>
          <p:cNvCxnSpPr/>
          <p:nvPr/>
        </p:nvCxnSpPr>
        <p:spPr>
          <a:xfrm>
            <a:off x="10350500" y="7467600"/>
            <a:ext cx="1917700" cy="0"/>
          </a:xfrm>
          <a:prstGeom prst="line">
            <a:avLst/>
          </a:prstGeom>
          <a:ln w="5715">
            <a:solidFill>
              <a:srgbClr val="D8DE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5" name="TextBox 694"/>
          <p:cNvSpPr txBox="1"/>
          <p:nvPr/>
        </p:nvSpPr>
        <p:spPr>
          <a:xfrm>
            <a:off x="9994900" y="7378700"/>
            <a:ext cx="279400" cy="1524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r"/>
            <a:r>
              <a:rPr sz="875" b="0" i="0">
                <a:solidFill>
                  <a:srgbClr val="111111"/>
                </a:solidFill>
                <a:latin typeface="Arial"/>
              </a:rPr>
              <a:t>6.0</a:t>
            </a:r>
          </a:p>
        </p:txBody>
      </p:sp>
      <p:cxnSp>
        <p:nvCxnSpPr>
          <p:cNvPr id="696" name="Connector 695"/>
          <p:cNvCxnSpPr/>
          <p:nvPr/>
        </p:nvCxnSpPr>
        <p:spPr>
          <a:xfrm>
            <a:off x="10515600" y="9029700"/>
            <a:ext cx="0" cy="50800"/>
          </a:xfrm>
          <a:prstGeom prst="line">
            <a:avLst/>
          </a:prstGeom>
          <a:ln w="7620">
            <a:solidFill>
              <a:srgbClr val="7C879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7" name="Oval 696"/>
          <p:cNvSpPr/>
          <p:nvPr/>
        </p:nvSpPr>
        <p:spPr>
          <a:xfrm>
            <a:off x="10477500" y="8116824"/>
            <a:ext cx="76200" cy="76200"/>
          </a:xfrm>
          <a:prstGeom prst="ellipse">
            <a:avLst/>
          </a:prstGeom>
          <a:solidFill>
            <a:srgbClr val="1D5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8" name="TextBox 697"/>
          <p:cNvSpPr txBox="1"/>
          <p:nvPr/>
        </p:nvSpPr>
        <p:spPr>
          <a:xfrm>
            <a:off x="10210800" y="9131300"/>
            <a:ext cx="609600" cy="2032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ctr"/>
            <a:r>
              <a:rPr sz="812" b="0" i="0">
                <a:solidFill>
                  <a:srgbClr val="111111"/>
                </a:solidFill>
                <a:latin typeface="Arial"/>
              </a:rPr>
              <a:t>120–300</a:t>
            </a:r>
          </a:p>
        </p:txBody>
      </p:sp>
      <p:cxnSp>
        <p:nvCxnSpPr>
          <p:cNvPr id="699" name="Connector 698"/>
          <p:cNvCxnSpPr/>
          <p:nvPr/>
        </p:nvCxnSpPr>
        <p:spPr>
          <a:xfrm>
            <a:off x="10912475" y="9029700"/>
            <a:ext cx="0" cy="50800"/>
          </a:xfrm>
          <a:prstGeom prst="line">
            <a:avLst/>
          </a:prstGeom>
          <a:ln w="7620">
            <a:solidFill>
              <a:srgbClr val="7C879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0" name="Oval 699"/>
          <p:cNvSpPr/>
          <p:nvPr/>
        </p:nvSpPr>
        <p:spPr>
          <a:xfrm>
            <a:off x="10874375" y="8314690"/>
            <a:ext cx="76200" cy="76200"/>
          </a:xfrm>
          <a:prstGeom prst="ellipse">
            <a:avLst/>
          </a:prstGeom>
          <a:solidFill>
            <a:srgbClr val="1D5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1" name="Connector 700"/>
          <p:cNvCxnSpPr/>
          <p:nvPr/>
        </p:nvCxnSpPr>
        <p:spPr>
          <a:xfrm>
            <a:off x="11309350" y="9029700"/>
            <a:ext cx="0" cy="50800"/>
          </a:xfrm>
          <a:prstGeom prst="line">
            <a:avLst/>
          </a:prstGeom>
          <a:ln w="7620">
            <a:solidFill>
              <a:srgbClr val="7C879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2" name="Oval 701"/>
          <p:cNvSpPr/>
          <p:nvPr/>
        </p:nvSpPr>
        <p:spPr>
          <a:xfrm>
            <a:off x="11271250" y="8408416"/>
            <a:ext cx="76200" cy="76200"/>
          </a:xfrm>
          <a:prstGeom prst="ellipse">
            <a:avLst/>
          </a:prstGeom>
          <a:solidFill>
            <a:srgbClr val="E82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3" name="TextBox 702"/>
          <p:cNvSpPr txBox="1"/>
          <p:nvPr/>
        </p:nvSpPr>
        <p:spPr>
          <a:xfrm>
            <a:off x="11004550" y="9131300"/>
            <a:ext cx="609600" cy="2032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ctr"/>
            <a:r>
              <a:rPr sz="812" b="1" i="0">
                <a:solidFill>
                  <a:srgbClr val="E82128"/>
                </a:solidFill>
                <a:latin typeface="Arial"/>
              </a:rPr>
              <a:t>120–450</a:t>
            </a:r>
          </a:p>
        </p:txBody>
      </p:sp>
      <p:cxnSp>
        <p:nvCxnSpPr>
          <p:cNvPr id="704" name="Connector 703"/>
          <p:cNvCxnSpPr/>
          <p:nvPr/>
        </p:nvCxnSpPr>
        <p:spPr>
          <a:xfrm>
            <a:off x="11706225" y="9029700"/>
            <a:ext cx="0" cy="50800"/>
          </a:xfrm>
          <a:prstGeom prst="line">
            <a:avLst/>
          </a:prstGeom>
          <a:ln w="7620">
            <a:solidFill>
              <a:srgbClr val="7C879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5" name="Oval 704"/>
          <p:cNvSpPr/>
          <p:nvPr/>
        </p:nvSpPr>
        <p:spPr>
          <a:xfrm>
            <a:off x="11668125" y="8293862"/>
            <a:ext cx="76200" cy="76200"/>
          </a:xfrm>
          <a:prstGeom prst="ellipse">
            <a:avLst/>
          </a:prstGeom>
          <a:solidFill>
            <a:srgbClr val="1D5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6" name="Connector 705"/>
          <p:cNvCxnSpPr/>
          <p:nvPr/>
        </p:nvCxnSpPr>
        <p:spPr>
          <a:xfrm>
            <a:off x="12103100" y="9029700"/>
            <a:ext cx="0" cy="50800"/>
          </a:xfrm>
          <a:prstGeom prst="line">
            <a:avLst/>
          </a:prstGeom>
          <a:ln w="7620">
            <a:solidFill>
              <a:srgbClr val="7C879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7" name="Oval 706"/>
          <p:cNvSpPr/>
          <p:nvPr/>
        </p:nvSpPr>
        <p:spPr>
          <a:xfrm>
            <a:off x="12065000" y="7898130"/>
            <a:ext cx="76200" cy="76200"/>
          </a:xfrm>
          <a:prstGeom prst="ellipse">
            <a:avLst/>
          </a:prstGeom>
          <a:solidFill>
            <a:srgbClr val="1D5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8" name="TextBox 707"/>
          <p:cNvSpPr txBox="1"/>
          <p:nvPr/>
        </p:nvSpPr>
        <p:spPr>
          <a:xfrm>
            <a:off x="11798300" y="9093200"/>
            <a:ext cx="609600" cy="3175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ctr"/>
            <a:r>
              <a:rPr sz="775" b="0" i="0">
                <a:solidFill>
                  <a:srgbClr val="111111"/>
                </a:solidFill>
                <a:latin typeface="Arial"/>
              </a:rPr>
              <a:t>No delay</a:t>
            </a:r>
          </a:p>
          <a:p>
            <a:pPr algn="ctr"/>
            <a:r>
              <a:rPr sz="775" b="0" i="0">
                <a:solidFill>
                  <a:srgbClr val="111111"/>
                </a:solidFill>
                <a:latin typeface="Arial"/>
              </a:rPr>
              <a:t>band</a:t>
            </a:r>
          </a:p>
        </p:txBody>
      </p:sp>
      <p:sp>
        <p:nvSpPr>
          <p:cNvPr id="709" name="Freeform 708"/>
          <p:cNvSpPr/>
          <p:nvPr/>
        </p:nvSpPr>
        <p:spPr>
          <a:xfrm>
            <a:off x="10515600" y="7937500"/>
            <a:ext cx="1587500" cy="508000"/>
          </a:xfrm>
          <a:custGeom>
            <a:avLst/>
            <a:gdLst/>
            <a:ahLst/>
            <a:cxnLst/>
            <a:rect l="l" t="t" r="r" b="b"/>
            <a:pathLst>
              <a:path w="125" h="40">
                <a:moveTo>
                  <a:pt x="0" y="17"/>
                </a:moveTo>
                <a:lnTo>
                  <a:pt x="31" y="33"/>
                </a:lnTo>
                <a:lnTo>
                  <a:pt x="62" y="40"/>
                </a:lnTo>
                <a:lnTo>
                  <a:pt x="94" y="31"/>
                </a:lnTo>
                <a:lnTo>
                  <a:pt x="125" y="0"/>
                </a:lnTo>
              </a:path>
            </a:pathLst>
          </a:custGeom>
          <a:noFill/>
          <a:ln w="16510">
            <a:solidFill>
              <a:srgbClr val="1D5E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0" name="Rounded Rectangle 709"/>
          <p:cNvSpPr/>
          <p:nvPr/>
        </p:nvSpPr>
        <p:spPr>
          <a:xfrm>
            <a:off x="10033000" y="9931400"/>
            <a:ext cx="2324100" cy="622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D5EB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1" name="TextBox 710"/>
          <p:cNvSpPr txBox="1"/>
          <p:nvPr/>
        </p:nvSpPr>
        <p:spPr>
          <a:xfrm>
            <a:off x="10020300" y="10058400"/>
            <a:ext cx="2349500" cy="4064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ctr"/>
            <a:r>
              <a:rPr sz="906" b="1" i="0">
                <a:solidFill>
                  <a:srgbClr val="062B68"/>
                </a:solidFill>
                <a:latin typeface="Arial"/>
              </a:rPr>
              <a:t>120–450 ms lies on a broad,</a:t>
            </a:r>
          </a:p>
          <a:p>
            <a:pPr algn="ctr"/>
            <a:r>
              <a:rPr sz="906" b="1" i="0">
                <a:solidFill>
                  <a:srgbClr val="062B68"/>
                </a:solidFill>
                <a:latin typeface="Arial"/>
              </a:rPr>
              <a:t>stable performance plateau</a:t>
            </a:r>
          </a:p>
        </p:txBody>
      </p:sp>
      <p:sp>
        <p:nvSpPr>
          <p:cNvPr id="712" name="Rounded Rectangle 711"/>
          <p:cNvSpPr/>
          <p:nvPr/>
        </p:nvSpPr>
        <p:spPr>
          <a:xfrm>
            <a:off x="12560300" y="6553200"/>
            <a:ext cx="2578100" cy="4229100"/>
          </a:xfrm>
          <a:prstGeom prst="roundRect">
            <a:avLst>
              <a:gd name="adj" fmla="val 8000"/>
            </a:avLst>
          </a:prstGeom>
          <a:solidFill>
            <a:srgbClr val="F8FBFF"/>
          </a:solidFill>
          <a:ln w="12700">
            <a:solidFill>
              <a:srgbClr val="A7B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3" name="Rectangle 712"/>
          <p:cNvSpPr/>
          <p:nvPr/>
        </p:nvSpPr>
        <p:spPr>
          <a:xfrm>
            <a:off x="12560300" y="6553200"/>
            <a:ext cx="2578100" cy="355600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4" name="TextBox 713"/>
          <p:cNvSpPr txBox="1"/>
          <p:nvPr/>
        </p:nvSpPr>
        <p:spPr>
          <a:xfrm>
            <a:off x="12598400" y="6591300"/>
            <a:ext cx="2501900" cy="2540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Arial"/>
              </a:rPr>
              <a:t>4. Attention–Delay Analysis</a:t>
            </a:r>
          </a:p>
        </p:txBody>
      </p:sp>
      <p:cxnSp>
        <p:nvCxnSpPr>
          <p:cNvPr id="715" name="Connector 714"/>
          <p:cNvCxnSpPr/>
          <p:nvPr/>
        </p:nvCxnSpPr>
        <p:spPr>
          <a:xfrm>
            <a:off x="13296900" y="9232900"/>
            <a:ext cx="1574800" cy="0"/>
          </a:xfrm>
          <a:prstGeom prst="line">
            <a:avLst/>
          </a:prstGeom>
          <a:ln w="11430">
            <a:solidFill>
              <a:srgbClr val="5D64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6" name="Connector 715"/>
          <p:cNvCxnSpPr/>
          <p:nvPr/>
        </p:nvCxnSpPr>
        <p:spPr>
          <a:xfrm>
            <a:off x="13296900" y="7327900"/>
            <a:ext cx="0" cy="1905000"/>
          </a:xfrm>
          <a:prstGeom prst="line">
            <a:avLst/>
          </a:prstGeom>
          <a:ln w="11430">
            <a:solidFill>
              <a:srgbClr val="5D64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7" name="Connector 716"/>
          <p:cNvCxnSpPr/>
          <p:nvPr/>
        </p:nvCxnSpPr>
        <p:spPr>
          <a:xfrm>
            <a:off x="13296900" y="9232900"/>
            <a:ext cx="1574800" cy="0"/>
          </a:xfrm>
          <a:prstGeom prst="line">
            <a:avLst/>
          </a:prstGeom>
          <a:ln w="4445">
            <a:solidFill>
              <a:srgbClr val="D8DE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8" name="TextBox 717"/>
          <p:cNvSpPr txBox="1"/>
          <p:nvPr/>
        </p:nvSpPr>
        <p:spPr>
          <a:xfrm>
            <a:off x="12890500" y="9144000"/>
            <a:ext cx="304800" cy="1524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r"/>
            <a:r>
              <a:rPr sz="837" b="0" i="0">
                <a:solidFill>
                  <a:srgbClr val="111111"/>
                </a:solidFill>
                <a:latin typeface="Arial"/>
              </a:rPr>
              <a:t>0</a:t>
            </a:r>
          </a:p>
        </p:txBody>
      </p:sp>
      <p:cxnSp>
        <p:nvCxnSpPr>
          <p:cNvPr id="719" name="Connector 718"/>
          <p:cNvCxnSpPr/>
          <p:nvPr/>
        </p:nvCxnSpPr>
        <p:spPr>
          <a:xfrm>
            <a:off x="13296900" y="7327900"/>
            <a:ext cx="0" cy="1905000"/>
          </a:xfrm>
          <a:prstGeom prst="line">
            <a:avLst/>
          </a:prstGeom>
          <a:ln w="4445">
            <a:solidFill>
              <a:srgbClr val="D8DE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0" name="Connector 719"/>
          <p:cNvCxnSpPr/>
          <p:nvPr/>
        </p:nvCxnSpPr>
        <p:spPr>
          <a:xfrm>
            <a:off x="13296900" y="8756650"/>
            <a:ext cx="1574800" cy="0"/>
          </a:xfrm>
          <a:prstGeom prst="line">
            <a:avLst/>
          </a:prstGeom>
          <a:ln w="4445">
            <a:solidFill>
              <a:srgbClr val="D8DE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1" name="TextBox 720"/>
          <p:cNvSpPr txBox="1"/>
          <p:nvPr/>
        </p:nvSpPr>
        <p:spPr>
          <a:xfrm>
            <a:off x="12890500" y="8667750"/>
            <a:ext cx="304800" cy="1524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r"/>
            <a:r>
              <a:rPr sz="837" b="0" i="0">
                <a:solidFill>
                  <a:srgbClr val="111111"/>
                </a:solidFill>
                <a:latin typeface="Arial"/>
              </a:rPr>
              <a:t>200</a:t>
            </a:r>
          </a:p>
        </p:txBody>
      </p:sp>
      <p:cxnSp>
        <p:nvCxnSpPr>
          <p:cNvPr id="722" name="Connector 721"/>
          <p:cNvCxnSpPr/>
          <p:nvPr/>
        </p:nvCxnSpPr>
        <p:spPr>
          <a:xfrm>
            <a:off x="13690600" y="7327900"/>
            <a:ext cx="0" cy="1905000"/>
          </a:xfrm>
          <a:prstGeom prst="line">
            <a:avLst/>
          </a:prstGeom>
          <a:ln w="4445">
            <a:solidFill>
              <a:srgbClr val="D8DE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3" name="Connector 722"/>
          <p:cNvCxnSpPr/>
          <p:nvPr/>
        </p:nvCxnSpPr>
        <p:spPr>
          <a:xfrm>
            <a:off x="13296900" y="8280400"/>
            <a:ext cx="1574800" cy="0"/>
          </a:xfrm>
          <a:prstGeom prst="line">
            <a:avLst/>
          </a:prstGeom>
          <a:ln w="4445">
            <a:solidFill>
              <a:srgbClr val="D8DE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4" name="TextBox 723"/>
          <p:cNvSpPr txBox="1"/>
          <p:nvPr/>
        </p:nvSpPr>
        <p:spPr>
          <a:xfrm>
            <a:off x="12890500" y="8191500"/>
            <a:ext cx="304800" cy="1524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r"/>
            <a:r>
              <a:rPr sz="837" b="0" i="0">
                <a:solidFill>
                  <a:srgbClr val="111111"/>
                </a:solidFill>
                <a:latin typeface="Arial"/>
              </a:rPr>
              <a:t>400</a:t>
            </a:r>
          </a:p>
        </p:txBody>
      </p:sp>
      <p:cxnSp>
        <p:nvCxnSpPr>
          <p:cNvPr id="725" name="Connector 724"/>
          <p:cNvCxnSpPr/>
          <p:nvPr/>
        </p:nvCxnSpPr>
        <p:spPr>
          <a:xfrm>
            <a:off x="14084300" y="7327900"/>
            <a:ext cx="0" cy="1905000"/>
          </a:xfrm>
          <a:prstGeom prst="line">
            <a:avLst/>
          </a:prstGeom>
          <a:ln w="4445">
            <a:solidFill>
              <a:srgbClr val="D8DE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6" name="Connector 725"/>
          <p:cNvCxnSpPr/>
          <p:nvPr/>
        </p:nvCxnSpPr>
        <p:spPr>
          <a:xfrm>
            <a:off x="13296900" y="7804150"/>
            <a:ext cx="1574800" cy="0"/>
          </a:xfrm>
          <a:prstGeom prst="line">
            <a:avLst/>
          </a:prstGeom>
          <a:ln w="4445">
            <a:solidFill>
              <a:srgbClr val="D8DE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7" name="TextBox 726"/>
          <p:cNvSpPr txBox="1"/>
          <p:nvPr/>
        </p:nvSpPr>
        <p:spPr>
          <a:xfrm>
            <a:off x="12890500" y="7715250"/>
            <a:ext cx="304800" cy="1524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r"/>
            <a:r>
              <a:rPr sz="837" b="0" i="0">
                <a:solidFill>
                  <a:srgbClr val="111111"/>
                </a:solidFill>
                <a:latin typeface="Arial"/>
              </a:rPr>
              <a:t>600</a:t>
            </a:r>
          </a:p>
        </p:txBody>
      </p:sp>
      <p:cxnSp>
        <p:nvCxnSpPr>
          <p:cNvPr id="728" name="Connector 727"/>
          <p:cNvCxnSpPr/>
          <p:nvPr/>
        </p:nvCxnSpPr>
        <p:spPr>
          <a:xfrm>
            <a:off x="14478000" y="7327900"/>
            <a:ext cx="0" cy="1905000"/>
          </a:xfrm>
          <a:prstGeom prst="line">
            <a:avLst/>
          </a:prstGeom>
          <a:ln w="4445">
            <a:solidFill>
              <a:srgbClr val="D8DE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9" name="Connector 728"/>
          <p:cNvCxnSpPr/>
          <p:nvPr/>
        </p:nvCxnSpPr>
        <p:spPr>
          <a:xfrm>
            <a:off x="13296900" y="7327900"/>
            <a:ext cx="1574800" cy="0"/>
          </a:xfrm>
          <a:prstGeom prst="line">
            <a:avLst/>
          </a:prstGeom>
          <a:ln w="4445">
            <a:solidFill>
              <a:srgbClr val="D8DE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0" name="TextBox 729"/>
          <p:cNvSpPr txBox="1"/>
          <p:nvPr/>
        </p:nvSpPr>
        <p:spPr>
          <a:xfrm>
            <a:off x="12890500" y="7239000"/>
            <a:ext cx="304800" cy="1524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r"/>
            <a:r>
              <a:rPr sz="837" b="0" i="0">
                <a:solidFill>
                  <a:srgbClr val="111111"/>
                </a:solidFill>
                <a:latin typeface="Arial"/>
              </a:rPr>
              <a:t>800</a:t>
            </a:r>
          </a:p>
        </p:txBody>
      </p:sp>
      <p:cxnSp>
        <p:nvCxnSpPr>
          <p:cNvPr id="731" name="Connector 730"/>
          <p:cNvCxnSpPr/>
          <p:nvPr/>
        </p:nvCxnSpPr>
        <p:spPr>
          <a:xfrm>
            <a:off x="14871700" y="7327900"/>
            <a:ext cx="0" cy="1905000"/>
          </a:xfrm>
          <a:prstGeom prst="line">
            <a:avLst/>
          </a:prstGeom>
          <a:ln w="4445">
            <a:solidFill>
              <a:srgbClr val="D8DE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2" name="TextBox 731"/>
          <p:cNvSpPr txBox="1"/>
          <p:nvPr/>
        </p:nvSpPr>
        <p:spPr>
          <a:xfrm>
            <a:off x="13639800" y="9385300"/>
            <a:ext cx="1092200" cy="1905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ctr"/>
            <a:r>
              <a:rPr sz="875" b="1" i="0">
                <a:solidFill>
                  <a:srgbClr val="111111"/>
                </a:solidFill>
                <a:latin typeface="Arial"/>
              </a:rPr>
              <a:t>Apparent PAT estimate (ms)</a:t>
            </a:r>
          </a:p>
        </p:txBody>
      </p:sp>
      <p:sp>
        <p:nvSpPr>
          <p:cNvPr id="733" name="TextBox 732"/>
          <p:cNvSpPr txBox="1"/>
          <p:nvPr/>
        </p:nvSpPr>
        <p:spPr>
          <a:xfrm rot="16200000">
            <a:off x="12585700" y="7747000"/>
            <a:ext cx="609600" cy="4445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ctr"/>
            <a:r>
              <a:rPr sz="862" b="1" i="0">
                <a:solidFill>
                  <a:srgbClr val="111111"/>
                </a:solidFill>
                <a:latin typeface="Arial"/>
              </a:rPr>
              <a:t>Attention-peak</a:t>
            </a:r>
          </a:p>
          <a:p>
            <a:pPr algn="ctr"/>
            <a:r>
              <a:rPr sz="862" b="1" i="0">
                <a:solidFill>
                  <a:srgbClr val="111111"/>
                </a:solidFill>
                <a:latin typeface="Arial"/>
              </a:rPr>
              <a:t>delay (ms)</a:t>
            </a:r>
          </a:p>
        </p:txBody>
      </p:sp>
      <p:sp>
        <p:nvSpPr>
          <p:cNvPr id="734" name="Oval 733"/>
          <p:cNvSpPr/>
          <p:nvPr/>
        </p:nvSpPr>
        <p:spPr>
          <a:xfrm>
            <a:off x="14053743" y="8208040"/>
            <a:ext cx="48260" cy="48260"/>
          </a:xfrm>
          <a:prstGeom prst="ellipse">
            <a:avLst/>
          </a:prstGeom>
          <a:solidFill>
            <a:srgbClr val="2F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5" name="Oval 734"/>
          <p:cNvSpPr/>
          <p:nvPr/>
        </p:nvSpPr>
        <p:spPr>
          <a:xfrm>
            <a:off x="14061365" y="8338615"/>
            <a:ext cx="48260" cy="48260"/>
          </a:xfrm>
          <a:prstGeom prst="ellipse">
            <a:avLst/>
          </a:prstGeom>
          <a:solidFill>
            <a:srgbClr val="2F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6" name="Oval 735"/>
          <p:cNvSpPr/>
          <p:nvPr/>
        </p:nvSpPr>
        <p:spPr>
          <a:xfrm>
            <a:off x="13881228" y="8491620"/>
            <a:ext cx="48260" cy="48260"/>
          </a:xfrm>
          <a:prstGeom prst="ellipse">
            <a:avLst/>
          </a:prstGeom>
          <a:solidFill>
            <a:srgbClr val="2F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7" name="Oval 736"/>
          <p:cNvSpPr/>
          <p:nvPr/>
        </p:nvSpPr>
        <p:spPr>
          <a:xfrm>
            <a:off x="14403770" y="7892322"/>
            <a:ext cx="48260" cy="48260"/>
          </a:xfrm>
          <a:prstGeom prst="ellipse">
            <a:avLst/>
          </a:prstGeom>
          <a:solidFill>
            <a:srgbClr val="2F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8" name="Oval 737"/>
          <p:cNvSpPr/>
          <p:nvPr/>
        </p:nvSpPr>
        <p:spPr>
          <a:xfrm>
            <a:off x="14384567" y="7939652"/>
            <a:ext cx="48260" cy="48260"/>
          </a:xfrm>
          <a:prstGeom prst="ellipse">
            <a:avLst/>
          </a:prstGeom>
          <a:solidFill>
            <a:srgbClr val="2F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9" name="Oval 738"/>
          <p:cNvSpPr/>
          <p:nvPr/>
        </p:nvSpPr>
        <p:spPr>
          <a:xfrm>
            <a:off x="14220248" y="8105292"/>
            <a:ext cx="48260" cy="48260"/>
          </a:xfrm>
          <a:prstGeom prst="ellipse">
            <a:avLst/>
          </a:prstGeom>
          <a:solidFill>
            <a:srgbClr val="2F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0" name="Oval 739"/>
          <p:cNvSpPr/>
          <p:nvPr/>
        </p:nvSpPr>
        <p:spPr>
          <a:xfrm>
            <a:off x="13692871" y="8491230"/>
            <a:ext cx="48260" cy="48260"/>
          </a:xfrm>
          <a:prstGeom prst="ellipse">
            <a:avLst/>
          </a:prstGeom>
          <a:solidFill>
            <a:srgbClr val="2F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1" name="Oval 740"/>
          <p:cNvSpPr/>
          <p:nvPr/>
        </p:nvSpPr>
        <p:spPr>
          <a:xfrm>
            <a:off x="14248811" y="8026087"/>
            <a:ext cx="48260" cy="48260"/>
          </a:xfrm>
          <a:prstGeom prst="ellipse">
            <a:avLst/>
          </a:prstGeom>
          <a:solidFill>
            <a:srgbClr val="2F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2" name="Oval 741"/>
          <p:cNvSpPr/>
          <p:nvPr/>
        </p:nvSpPr>
        <p:spPr>
          <a:xfrm>
            <a:off x="13686396" y="8923020"/>
            <a:ext cx="48260" cy="48260"/>
          </a:xfrm>
          <a:prstGeom prst="ellipse">
            <a:avLst/>
          </a:prstGeom>
          <a:solidFill>
            <a:srgbClr val="2F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3" name="Oval 742"/>
          <p:cNvSpPr/>
          <p:nvPr/>
        </p:nvSpPr>
        <p:spPr>
          <a:xfrm>
            <a:off x="13891567" y="8524351"/>
            <a:ext cx="48260" cy="48260"/>
          </a:xfrm>
          <a:prstGeom prst="ellipse">
            <a:avLst/>
          </a:prstGeom>
          <a:solidFill>
            <a:srgbClr val="2F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4" name="Oval 743"/>
          <p:cNvSpPr/>
          <p:nvPr/>
        </p:nvSpPr>
        <p:spPr>
          <a:xfrm>
            <a:off x="14197390" y="8165405"/>
            <a:ext cx="48260" cy="48260"/>
          </a:xfrm>
          <a:prstGeom prst="ellipse">
            <a:avLst/>
          </a:prstGeom>
          <a:solidFill>
            <a:srgbClr val="2F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5" name="Oval 744"/>
          <p:cNvSpPr/>
          <p:nvPr/>
        </p:nvSpPr>
        <p:spPr>
          <a:xfrm>
            <a:off x="14252545" y="8212763"/>
            <a:ext cx="48260" cy="48260"/>
          </a:xfrm>
          <a:prstGeom prst="ellipse">
            <a:avLst/>
          </a:prstGeom>
          <a:solidFill>
            <a:srgbClr val="2F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6" name="Oval 745"/>
          <p:cNvSpPr/>
          <p:nvPr/>
        </p:nvSpPr>
        <p:spPr>
          <a:xfrm>
            <a:off x="14198223" y="8091265"/>
            <a:ext cx="48260" cy="48260"/>
          </a:xfrm>
          <a:prstGeom prst="ellipse">
            <a:avLst/>
          </a:prstGeom>
          <a:solidFill>
            <a:srgbClr val="2F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7" name="Oval 746"/>
          <p:cNvSpPr/>
          <p:nvPr/>
        </p:nvSpPr>
        <p:spPr>
          <a:xfrm>
            <a:off x="13950036" y="8104851"/>
            <a:ext cx="48260" cy="48260"/>
          </a:xfrm>
          <a:prstGeom prst="ellipse">
            <a:avLst/>
          </a:prstGeom>
          <a:solidFill>
            <a:srgbClr val="2F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8" name="Oval 747"/>
          <p:cNvSpPr/>
          <p:nvPr/>
        </p:nvSpPr>
        <p:spPr>
          <a:xfrm>
            <a:off x="14261664" y="7897580"/>
            <a:ext cx="48260" cy="48260"/>
          </a:xfrm>
          <a:prstGeom prst="ellipse">
            <a:avLst/>
          </a:prstGeom>
          <a:solidFill>
            <a:srgbClr val="2F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9" name="Oval 748"/>
          <p:cNvSpPr/>
          <p:nvPr/>
        </p:nvSpPr>
        <p:spPr>
          <a:xfrm>
            <a:off x="13960478" y="8504557"/>
            <a:ext cx="48260" cy="48260"/>
          </a:xfrm>
          <a:prstGeom prst="ellipse">
            <a:avLst/>
          </a:prstGeom>
          <a:solidFill>
            <a:srgbClr val="2F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0" name="Oval 749"/>
          <p:cNvSpPr/>
          <p:nvPr/>
        </p:nvSpPr>
        <p:spPr>
          <a:xfrm>
            <a:off x="14031181" y="8332317"/>
            <a:ext cx="48260" cy="48260"/>
          </a:xfrm>
          <a:prstGeom prst="ellipse">
            <a:avLst/>
          </a:prstGeom>
          <a:solidFill>
            <a:srgbClr val="2F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1" name="Oval 750"/>
          <p:cNvSpPr/>
          <p:nvPr/>
        </p:nvSpPr>
        <p:spPr>
          <a:xfrm>
            <a:off x="14280977" y="8037474"/>
            <a:ext cx="48260" cy="48260"/>
          </a:xfrm>
          <a:prstGeom prst="ellipse">
            <a:avLst/>
          </a:prstGeom>
          <a:solidFill>
            <a:srgbClr val="2F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2" name="Oval 751"/>
          <p:cNvSpPr/>
          <p:nvPr/>
        </p:nvSpPr>
        <p:spPr>
          <a:xfrm>
            <a:off x="14004744" y="8499028"/>
            <a:ext cx="48260" cy="48260"/>
          </a:xfrm>
          <a:prstGeom prst="ellipse">
            <a:avLst/>
          </a:prstGeom>
          <a:solidFill>
            <a:srgbClr val="2F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3" name="Oval 752"/>
          <p:cNvSpPr/>
          <p:nvPr/>
        </p:nvSpPr>
        <p:spPr>
          <a:xfrm>
            <a:off x="13986003" y="8153693"/>
            <a:ext cx="48260" cy="48260"/>
          </a:xfrm>
          <a:prstGeom prst="ellipse">
            <a:avLst/>
          </a:prstGeom>
          <a:solidFill>
            <a:srgbClr val="2F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4" name="Oval 753"/>
          <p:cNvSpPr/>
          <p:nvPr/>
        </p:nvSpPr>
        <p:spPr>
          <a:xfrm>
            <a:off x="13912467" y="8385792"/>
            <a:ext cx="48260" cy="48260"/>
          </a:xfrm>
          <a:prstGeom prst="ellipse">
            <a:avLst/>
          </a:prstGeom>
          <a:solidFill>
            <a:srgbClr val="2F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5" name="Oval 754"/>
          <p:cNvSpPr/>
          <p:nvPr/>
        </p:nvSpPr>
        <p:spPr>
          <a:xfrm>
            <a:off x="14228373" y="8376839"/>
            <a:ext cx="48260" cy="48260"/>
          </a:xfrm>
          <a:prstGeom prst="ellipse">
            <a:avLst/>
          </a:prstGeom>
          <a:solidFill>
            <a:srgbClr val="2F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6" name="Oval 755"/>
          <p:cNvSpPr/>
          <p:nvPr/>
        </p:nvSpPr>
        <p:spPr>
          <a:xfrm>
            <a:off x="14131629" y="8002065"/>
            <a:ext cx="48260" cy="48260"/>
          </a:xfrm>
          <a:prstGeom prst="ellipse">
            <a:avLst/>
          </a:prstGeom>
          <a:solidFill>
            <a:srgbClr val="2F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7" name="Oval 756"/>
          <p:cNvSpPr/>
          <p:nvPr/>
        </p:nvSpPr>
        <p:spPr>
          <a:xfrm>
            <a:off x="13603739" y="8771496"/>
            <a:ext cx="48260" cy="48260"/>
          </a:xfrm>
          <a:prstGeom prst="ellipse">
            <a:avLst/>
          </a:prstGeom>
          <a:solidFill>
            <a:srgbClr val="2F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8" name="Oval 757"/>
          <p:cNvSpPr/>
          <p:nvPr/>
        </p:nvSpPr>
        <p:spPr>
          <a:xfrm>
            <a:off x="14092063" y="8393360"/>
            <a:ext cx="48260" cy="48260"/>
          </a:xfrm>
          <a:prstGeom prst="ellipse">
            <a:avLst/>
          </a:prstGeom>
          <a:solidFill>
            <a:srgbClr val="2F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9" name="Oval 758"/>
          <p:cNvSpPr/>
          <p:nvPr/>
        </p:nvSpPr>
        <p:spPr>
          <a:xfrm>
            <a:off x="14246509" y="8121787"/>
            <a:ext cx="48260" cy="48260"/>
          </a:xfrm>
          <a:prstGeom prst="ellipse">
            <a:avLst/>
          </a:prstGeom>
          <a:solidFill>
            <a:srgbClr val="2F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0" name="Oval 759"/>
          <p:cNvSpPr/>
          <p:nvPr/>
        </p:nvSpPr>
        <p:spPr>
          <a:xfrm>
            <a:off x="13744412" y="8447167"/>
            <a:ext cx="48260" cy="48260"/>
          </a:xfrm>
          <a:prstGeom prst="ellipse">
            <a:avLst/>
          </a:prstGeom>
          <a:solidFill>
            <a:srgbClr val="2F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1" name="Oval 760"/>
          <p:cNvSpPr/>
          <p:nvPr/>
        </p:nvSpPr>
        <p:spPr>
          <a:xfrm>
            <a:off x="14290511" y="7912228"/>
            <a:ext cx="48260" cy="48260"/>
          </a:xfrm>
          <a:prstGeom prst="ellipse">
            <a:avLst/>
          </a:prstGeom>
          <a:solidFill>
            <a:srgbClr val="2F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2" name="Oval 761"/>
          <p:cNvSpPr/>
          <p:nvPr/>
        </p:nvSpPr>
        <p:spPr>
          <a:xfrm>
            <a:off x="14487881" y="7823278"/>
            <a:ext cx="48260" cy="48260"/>
          </a:xfrm>
          <a:prstGeom prst="ellipse">
            <a:avLst/>
          </a:prstGeom>
          <a:solidFill>
            <a:srgbClr val="2F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3" name="Oval 762"/>
          <p:cNvSpPr/>
          <p:nvPr/>
        </p:nvSpPr>
        <p:spPr>
          <a:xfrm>
            <a:off x="14149747" y="8419260"/>
            <a:ext cx="48260" cy="48260"/>
          </a:xfrm>
          <a:prstGeom prst="ellipse">
            <a:avLst/>
          </a:prstGeom>
          <a:solidFill>
            <a:srgbClr val="2F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4" name="Oval 763"/>
          <p:cNvSpPr/>
          <p:nvPr/>
        </p:nvSpPr>
        <p:spPr>
          <a:xfrm>
            <a:off x="14276719" y="8184873"/>
            <a:ext cx="48260" cy="48260"/>
          </a:xfrm>
          <a:prstGeom prst="ellipse">
            <a:avLst/>
          </a:prstGeom>
          <a:solidFill>
            <a:srgbClr val="2F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5" name="Oval 764"/>
          <p:cNvSpPr/>
          <p:nvPr/>
        </p:nvSpPr>
        <p:spPr>
          <a:xfrm>
            <a:off x="14003376" y="8551638"/>
            <a:ext cx="48260" cy="48260"/>
          </a:xfrm>
          <a:prstGeom prst="ellipse">
            <a:avLst/>
          </a:prstGeom>
          <a:solidFill>
            <a:srgbClr val="2F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6" name="Oval 765"/>
          <p:cNvSpPr/>
          <p:nvPr/>
        </p:nvSpPr>
        <p:spPr>
          <a:xfrm>
            <a:off x="13871607" y="8553675"/>
            <a:ext cx="48260" cy="48260"/>
          </a:xfrm>
          <a:prstGeom prst="ellipse">
            <a:avLst/>
          </a:prstGeom>
          <a:solidFill>
            <a:srgbClr val="2F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7" name="Oval 766"/>
          <p:cNvSpPr/>
          <p:nvPr/>
        </p:nvSpPr>
        <p:spPr>
          <a:xfrm>
            <a:off x="14449044" y="8258978"/>
            <a:ext cx="48260" cy="48260"/>
          </a:xfrm>
          <a:prstGeom prst="ellipse">
            <a:avLst/>
          </a:prstGeom>
          <a:solidFill>
            <a:srgbClr val="2F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8" name="Oval 767"/>
          <p:cNvSpPr/>
          <p:nvPr/>
        </p:nvSpPr>
        <p:spPr>
          <a:xfrm>
            <a:off x="13746190" y="8543583"/>
            <a:ext cx="48260" cy="48260"/>
          </a:xfrm>
          <a:prstGeom prst="ellipse">
            <a:avLst/>
          </a:prstGeom>
          <a:solidFill>
            <a:srgbClr val="2F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9" name="Oval 768"/>
          <p:cNvSpPr/>
          <p:nvPr/>
        </p:nvSpPr>
        <p:spPr>
          <a:xfrm>
            <a:off x="14488585" y="7786567"/>
            <a:ext cx="48260" cy="48260"/>
          </a:xfrm>
          <a:prstGeom prst="ellipse">
            <a:avLst/>
          </a:prstGeom>
          <a:solidFill>
            <a:srgbClr val="2F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0" name="Oval 769"/>
          <p:cNvSpPr/>
          <p:nvPr/>
        </p:nvSpPr>
        <p:spPr>
          <a:xfrm>
            <a:off x="13633020" y="8923020"/>
            <a:ext cx="48260" cy="48260"/>
          </a:xfrm>
          <a:prstGeom prst="ellipse">
            <a:avLst/>
          </a:prstGeom>
          <a:solidFill>
            <a:srgbClr val="2F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1" name="Oval 770"/>
          <p:cNvSpPr/>
          <p:nvPr/>
        </p:nvSpPr>
        <p:spPr>
          <a:xfrm>
            <a:off x="14210684" y="8267933"/>
            <a:ext cx="48260" cy="48260"/>
          </a:xfrm>
          <a:prstGeom prst="ellipse">
            <a:avLst/>
          </a:prstGeom>
          <a:solidFill>
            <a:srgbClr val="2F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2" name="Oval 771"/>
          <p:cNvSpPr/>
          <p:nvPr/>
        </p:nvSpPr>
        <p:spPr>
          <a:xfrm>
            <a:off x="13832666" y="8338971"/>
            <a:ext cx="48260" cy="48260"/>
          </a:xfrm>
          <a:prstGeom prst="ellipse">
            <a:avLst/>
          </a:prstGeom>
          <a:solidFill>
            <a:srgbClr val="2F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3" name="Oval 772"/>
          <p:cNvSpPr/>
          <p:nvPr/>
        </p:nvSpPr>
        <p:spPr>
          <a:xfrm>
            <a:off x="14401177" y="7939257"/>
            <a:ext cx="48260" cy="48260"/>
          </a:xfrm>
          <a:prstGeom prst="ellipse">
            <a:avLst/>
          </a:prstGeom>
          <a:solidFill>
            <a:srgbClr val="2F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4" name="Oval 773"/>
          <p:cNvSpPr/>
          <p:nvPr/>
        </p:nvSpPr>
        <p:spPr>
          <a:xfrm>
            <a:off x="14182120" y="8099757"/>
            <a:ext cx="48260" cy="48260"/>
          </a:xfrm>
          <a:prstGeom prst="ellipse">
            <a:avLst/>
          </a:prstGeom>
          <a:solidFill>
            <a:srgbClr val="2F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5" name="Oval 774"/>
          <p:cNvSpPr/>
          <p:nvPr/>
        </p:nvSpPr>
        <p:spPr>
          <a:xfrm>
            <a:off x="14527138" y="7743434"/>
            <a:ext cx="48260" cy="48260"/>
          </a:xfrm>
          <a:prstGeom prst="ellipse">
            <a:avLst/>
          </a:prstGeom>
          <a:solidFill>
            <a:srgbClr val="2F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6" name="Oval 775"/>
          <p:cNvSpPr/>
          <p:nvPr/>
        </p:nvSpPr>
        <p:spPr>
          <a:xfrm>
            <a:off x="14251950" y="8014971"/>
            <a:ext cx="48260" cy="48260"/>
          </a:xfrm>
          <a:prstGeom prst="ellipse">
            <a:avLst/>
          </a:prstGeom>
          <a:solidFill>
            <a:srgbClr val="2F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7" name="Oval 776"/>
          <p:cNvSpPr/>
          <p:nvPr/>
        </p:nvSpPr>
        <p:spPr>
          <a:xfrm>
            <a:off x="13717886" y="8396538"/>
            <a:ext cx="48260" cy="48260"/>
          </a:xfrm>
          <a:prstGeom prst="ellipse">
            <a:avLst/>
          </a:prstGeom>
          <a:solidFill>
            <a:srgbClr val="2F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8" name="Oval 777"/>
          <p:cNvSpPr/>
          <p:nvPr/>
        </p:nvSpPr>
        <p:spPr>
          <a:xfrm>
            <a:off x="14363640" y="7912605"/>
            <a:ext cx="48260" cy="48260"/>
          </a:xfrm>
          <a:prstGeom prst="ellipse">
            <a:avLst/>
          </a:prstGeom>
          <a:solidFill>
            <a:srgbClr val="2F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9" name="Oval 778"/>
          <p:cNvSpPr/>
          <p:nvPr/>
        </p:nvSpPr>
        <p:spPr>
          <a:xfrm>
            <a:off x="13614100" y="8813741"/>
            <a:ext cx="48260" cy="48260"/>
          </a:xfrm>
          <a:prstGeom prst="ellipse">
            <a:avLst/>
          </a:prstGeom>
          <a:solidFill>
            <a:srgbClr val="2F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0" name="Oval 779"/>
          <p:cNvSpPr/>
          <p:nvPr/>
        </p:nvSpPr>
        <p:spPr>
          <a:xfrm>
            <a:off x="14334774" y="8330030"/>
            <a:ext cx="48260" cy="48260"/>
          </a:xfrm>
          <a:prstGeom prst="ellipse">
            <a:avLst/>
          </a:prstGeom>
          <a:solidFill>
            <a:srgbClr val="2F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1" name="Oval 780"/>
          <p:cNvSpPr/>
          <p:nvPr/>
        </p:nvSpPr>
        <p:spPr>
          <a:xfrm>
            <a:off x="14072132" y="8105996"/>
            <a:ext cx="48260" cy="48260"/>
          </a:xfrm>
          <a:prstGeom prst="ellipse">
            <a:avLst/>
          </a:prstGeom>
          <a:solidFill>
            <a:srgbClr val="2F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2" name="Oval 781"/>
          <p:cNvSpPr/>
          <p:nvPr/>
        </p:nvSpPr>
        <p:spPr>
          <a:xfrm>
            <a:off x="13783685" y="8279718"/>
            <a:ext cx="48260" cy="48260"/>
          </a:xfrm>
          <a:prstGeom prst="ellipse">
            <a:avLst/>
          </a:prstGeom>
          <a:solidFill>
            <a:srgbClr val="2F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3" name="Oval 782"/>
          <p:cNvSpPr/>
          <p:nvPr/>
        </p:nvSpPr>
        <p:spPr>
          <a:xfrm>
            <a:off x="14260475" y="8123254"/>
            <a:ext cx="48260" cy="48260"/>
          </a:xfrm>
          <a:prstGeom prst="ellipse">
            <a:avLst/>
          </a:prstGeom>
          <a:solidFill>
            <a:srgbClr val="2F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4" name="Oval 783"/>
          <p:cNvSpPr/>
          <p:nvPr/>
        </p:nvSpPr>
        <p:spPr>
          <a:xfrm>
            <a:off x="14202360" y="8044744"/>
            <a:ext cx="48260" cy="48260"/>
          </a:xfrm>
          <a:prstGeom prst="ellipse">
            <a:avLst/>
          </a:prstGeom>
          <a:solidFill>
            <a:srgbClr val="2F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5" name="Oval 784"/>
          <p:cNvSpPr/>
          <p:nvPr/>
        </p:nvSpPr>
        <p:spPr>
          <a:xfrm>
            <a:off x="14150034" y="8011467"/>
            <a:ext cx="48260" cy="48260"/>
          </a:xfrm>
          <a:prstGeom prst="ellipse">
            <a:avLst/>
          </a:prstGeom>
          <a:solidFill>
            <a:srgbClr val="2F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6" name="Oval 785"/>
          <p:cNvSpPr/>
          <p:nvPr/>
        </p:nvSpPr>
        <p:spPr>
          <a:xfrm>
            <a:off x="13949932" y="8460372"/>
            <a:ext cx="48260" cy="48260"/>
          </a:xfrm>
          <a:prstGeom prst="ellipse">
            <a:avLst/>
          </a:prstGeom>
          <a:solidFill>
            <a:srgbClr val="2F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7" name="Oval 786"/>
          <p:cNvSpPr/>
          <p:nvPr/>
        </p:nvSpPr>
        <p:spPr>
          <a:xfrm>
            <a:off x="14385797" y="7975514"/>
            <a:ext cx="48260" cy="48260"/>
          </a:xfrm>
          <a:prstGeom prst="ellipse">
            <a:avLst/>
          </a:prstGeom>
          <a:solidFill>
            <a:srgbClr val="2F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8" name="Oval 787"/>
          <p:cNvSpPr/>
          <p:nvPr/>
        </p:nvSpPr>
        <p:spPr>
          <a:xfrm>
            <a:off x="13893909" y="8286338"/>
            <a:ext cx="48260" cy="48260"/>
          </a:xfrm>
          <a:prstGeom prst="ellipse">
            <a:avLst/>
          </a:prstGeom>
          <a:solidFill>
            <a:srgbClr val="2F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9" name="Oval 788"/>
          <p:cNvSpPr/>
          <p:nvPr/>
        </p:nvSpPr>
        <p:spPr>
          <a:xfrm>
            <a:off x="14494253" y="7951794"/>
            <a:ext cx="48260" cy="48260"/>
          </a:xfrm>
          <a:prstGeom prst="ellipse">
            <a:avLst/>
          </a:prstGeom>
          <a:solidFill>
            <a:srgbClr val="2F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0" name="Oval 789"/>
          <p:cNvSpPr/>
          <p:nvPr/>
        </p:nvSpPr>
        <p:spPr>
          <a:xfrm>
            <a:off x="13766077" y="8587177"/>
            <a:ext cx="48260" cy="48260"/>
          </a:xfrm>
          <a:prstGeom prst="ellipse">
            <a:avLst/>
          </a:prstGeom>
          <a:solidFill>
            <a:srgbClr val="2F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1" name="Oval 790"/>
          <p:cNvSpPr/>
          <p:nvPr/>
        </p:nvSpPr>
        <p:spPr>
          <a:xfrm>
            <a:off x="14081090" y="8317159"/>
            <a:ext cx="48260" cy="48260"/>
          </a:xfrm>
          <a:prstGeom prst="ellipse">
            <a:avLst/>
          </a:prstGeom>
          <a:solidFill>
            <a:srgbClr val="2F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2" name="Oval 791"/>
          <p:cNvSpPr/>
          <p:nvPr/>
        </p:nvSpPr>
        <p:spPr>
          <a:xfrm>
            <a:off x="14478712" y="8063488"/>
            <a:ext cx="48260" cy="48260"/>
          </a:xfrm>
          <a:prstGeom prst="ellipse">
            <a:avLst/>
          </a:prstGeom>
          <a:solidFill>
            <a:srgbClr val="2F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3" name="Oval 792"/>
          <p:cNvSpPr/>
          <p:nvPr/>
        </p:nvSpPr>
        <p:spPr>
          <a:xfrm>
            <a:off x="14441815" y="8138538"/>
            <a:ext cx="48260" cy="48260"/>
          </a:xfrm>
          <a:prstGeom prst="ellipse">
            <a:avLst/>
          </a:prstGeom>
          <a:solidFill>
            <a:srgbClr val="2F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4" name="Oval 793"/>
          <p:cNvSpPr/>
          <p:nvPr/>
        </p:nvSpPr>
        <p:spPr>
          <a:xfrm>
            <a:off x="13917817" y="8316275"/>
            <a:ext cx="48260" cy="48260"/>
          </a:xfrm>
          <a:prstGeom prst="ellipse">
            <a:avLst/>
          </a:prstGeom>
          <a:solidFill>
            <a:srgbClr val="2F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5" name="Oval 794"/>
          <p:cNvSpPr/>
          <p:nvPr/>
        </p:nvSpPr>
        <p:spPr>
          <a:xfrm>
            <a:off x="14408062" y="7815787"/>
            <a:ext cx="48260" cy="48260"/>
          </a:xfrm>
          <a:prstGeom prst="ellipse">
            <a:avLst/>
          </a:prstGeom>
          <a:solidFill>
            <a:srgbClr val="2F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6" name="Oval 795"/>
          <p:cNvSpPr/>
          <p:nvPr/>
        </p:nvSpPr>
        <p:spPr>
          <a:xfrm>
            <a:off x="14207569" y="8124418"/>
            <a:ext cx="48260" cy="48260"/>
          </a:xfrm>
          <a:prstGeom prst="ellipse">
            <a:avLst/>
          </a:prstGeom>
          <a:solidFill>
            <a:srgbClr val="2F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7" name="Oval 796"/>
          <p:cNvSpPr/>
          <p:nvPr/>
        </p:nvSpPr>
        <p:spPr>
          <a:xfrm>
            <a:off x="14158245" y="8098794"/>
            <a:ext cx="48260" cy="48260"/>
          </a:xfrm>
          <a:prstGeom prst="ellipse">
            <a:avLst/>
          </a:prstGeom>
          <a:solidFill>
            <a:srgbClr val="2F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8" name="Oval 797"/>
          <p:cNvSpPr/>
          <p:nvPr/>
        </p:nvSpPr>
        <p:spPr>
          <a:xfrm>
            <a:off x="14074135" y="8227804"/>
            <a:ext cx="48260" cy="48260"/>
          </a:xfrm>
          <a:prstGeom prst="ellipse">
            <a:avLst/>
          </a:prstGeom>
          <a:solidFill>
            <a:srgbClr val="2F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9" name="Oval 798"/>
          <p:cNvSpPr/>
          <p:nvPr/>
        </p:nvSpPr>
        <p:spPr>
          <a:xfrm>
            <a:off x="14265788" y="8093075"/>
            <a:ext cx="48260" cy="48260"/>
          </a:xfrm>
          <a:prstGeom prst="ellipse">
            <a:avLst/>
          </a:prstGeom>
          <a:solidFill>
            <a:srgbClr val="2F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0" name="Oval 799"/>
          <p:cNvSpPr/>
          <p:nvPr/>
        </p:nvSpPr>
        <p:spPr>
          <a:xfrm>
            <a:off x="14314731" y="7952709"/>
            <a:ext cx="48260" cy="48260"/>
          </a:xfrm>
          <a:prstGeom prst="ellipse">
            <a:avLst/>
          </a:prstGeom>
          <a:solidFill>
            <a:srgbClr val="2F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1" name="Oval 800"/>
          <p:cNvSpPr/>
          <p:nvPr/>
        </p:nvSpPr>
        <p:spPr>
          <a:xfrm>
            <a:off x="14633755" y="7691856"/>
            <a:ext cx="48260" cy="48260"/>
          </a:xfrm>
          <a:prstGeom prst="ellipse">
            <a:avLst/>
          </a:prstGeom>
          <a:solidFill>
            <a:srgbClr val="2F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2" name="Oval 801"/>
          <p:cNvSpPr/>
          <p:nvPr/>
        </p:nvSpPr>
        <p:spPr>
          <a:xfrm>
            <a:off x="14009801" y="8396850"/>
            <a:ext cx="48260" cy="48260"/>
          </a:xfrm>
          <a:prstGeom prst="ellipse">
            <a:avLst/>
          </a:prstGeom>
          <a:solidFill>
            <a:srgbClr val="2F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3" name="Oval 802"/>
          <p:cNvSpPr/>
          <p:nvPr/>
        </p:nvSpPr>
        <p:spPr>
          <a:xfrm>
            <a:off x="14115871" y="8080686"/>
            <a:ext cx="48260" cy="48260"/>
          </a:xfrm>
          <a:prstGeom prst="ellipse">
            <a:avLst/>
          </a:prstGeom>
          <a:solidFill>
            <a:srgbClr val="2F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4" name="Oval 803"/>
          <p:cNvSpPr/>
          <p:nvPr/>
        </p:nvSpPr>
        <p:spPr>
          <a:xfrm>
            <a:off x="14033096" y="8248458"/>
            <a:ext cx="48260" cy="48260"/>
          </a:xfrm>
          <a:prstGeom prst="ellipse">
            <a:avLst/>
          </a:prstGeom>
          <a:solidFill>
            <a:srgbClr val="2F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5" name="Oval 804"/>
          <p:cNvSpPr/>
          <p:nvPr/>
        </p:nvSpPr>
        <p:spPr>
          <a:xfrm>
            <a:off x="14589399" y="8215372"/>
            <a:ext cx="48260" cy="48260"/>
          </a:xfrm>
          <a:prstGeom prst="ellipse">
            <a:avLst/>
          </a:prstGeom>
          <a:solidFill>
            <a:srgbClr val="2F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6" name="Oval 805"/>
          <p:cNvSpPr/>
          <p:nvPr/>
        </p:nvSpPr>
        <p:spPr>
          <a:xfrm>
            <a:off x="13831611" y="8462227"/>
            <a:ext cx="48260" cy="48260"/>
          </a:xfrm>
          <a:prstGeom prst="ellipse">
            <a:avLst/>
          </a:prstGeom>
          <a:solidFill>
            <a:srgbClr val="2F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7" name="Oval 806"/>
          <p:cNvSpPr/>
          <p:nvPr/>
        </p:nvSpPr>
        <p:spPr>
          <a:xfrm>
            <a:off x="14221161" y="8095556"/>
            <a:ext cx="48260" cy="48260"/>
          </a:xfrm>
          <a:prstGeom prst="ellipse">
            <a:avLst/>
          </a:prstGeom>
          <a:solidFill>
            <a:srgbClr val="2F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8" name="Oval 807"/>
          <p:cNvSpPr/>
          <p:nvPr/>
        </p:nvSpPr>
        <p:spPr>
          <a:xfrm>
            <a:off x="14008891" y="8226405"/>
            <a:ext cx="48260" cy="48260"/>
          </a:xfrm>
          <a:prstGeom prst="ellipse">
            <a:avLst/>
          </a:prstGeom>
          <a:solidFill>
            <a:srgbClr val="2F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9" name="Oval 808"/>
          <p:cNvSpPr/>
          <p:nvPr/>
        </p:nvSpPr>
        <p:spPr>
          <a:xfrm>
            <a:off x="14191423" y="8250401"/>
            <a:ext cx="48260" cy="48260"/>
          </a:xfrm>
          <a:prstGeom prst="ellipse">
            <a:avLst/>
          </a:prstGeom>
          <a:solidFill>
            <a:srgbClr val="2F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0" name="Oval 809"/>
          <p:cNvSpPr/>
          <p:nvPr/>
        </p:nvSpPr>
        <p:spPr>
          <a:xfrm>
            <a:off x="14741087" y="7585551"/>
            <a:ext cx="48260" cy="48260"/>
          </a:xfrm>
          <a:prstGeom prst="ellipse">
            <a:avLst/>
          </a:prstGeom>
          <a:solidFill>
            <a:srgbClr val="2F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1" name="Oval 810"/>
          <p:cNvSpPr/>
          <p:nvPr/>
        </p:nvSpPr>
        <p:spPr>
          <a:xfrm>
            <a:off x="13977395" y="8381905"/>
            <a:ext cx="48260" cy="48260"/>
          </a:xfrm>
          <a:prstGeom prst="ellipse">
            <a:avLst/>
          </a:prstGeom>
          <a:solidFill>
            <a:srgbClr val="2F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2" name="Oval 811"/>
          <p:cNvSpPr/>
          <p:nvPr/>
        </p:nvSpPr>
        <p:spPr>
          <a:xfrm>
            <a:off x="14061494" y="8296435"/>
            <a:ext cx="48260" cy="48260"/>
          </a:xfrm>
          <a:prstGeom prst="ellipse">
            <a:avLst/>
          </a:prstGeom>
          <a:solidFill>
            <a:srgbClr val="2F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3" name="Oval 812"/>
          <p:cNvSpPr/>
          <p:nvPr/>
        </p:nvSpPr>
        <p:spPr>
          <a:xfrm>
            <a:off x="13430250" y="8923020"/>
            <a:ext cx="48260" cy="48260"/>
          </a:xfrm>
          <a:prstGeom prst="ellipse">
            <a:avLst/>
          </a:prstGeom>
          <a:solidFill>
            <a:srgbClr val="2F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4" name="Oval 813"/>
          <p:cNvSpPr/>
          <p:nvPr/>
        </p:nvSpPr>
        <p:spPr>
          <a:xfrm>
            <a:off x="14377322" y="8182761"/>
            <a:ext cx="48260" cy="48260"/>
          </a:xfrm>
          <a:prstGeom prst="ellipse">
            <a:avLst/>
          </a:prstGeom>
          <a:solidFill>
            <a:srgbClr val="2F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5" name="Oval 814"/>
          <p:cNvSpPr/>
          <p:nvPr/>
        </p:nvSpPr>
        <p:spPr>
          <a:xfrm>
            <a:off x="14102156" y="8088672"/>
            <a:ext cx="48260" cy="48260"/>
          </a:xfrm>
          <a:prstGeom prst="ellipse">
            <a:avLst/>
          </a:prstGeom>
          <a:solidFill>
            <a:srgbClr val="2F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6" name="Oval 815"/>
          <p:cNvSpPr/>
          <p:nvPr/>
        </p:nvSpPr>
        <p:spPr>
          <a:xfrm>
            <a:off x="14338324" y="7776233"/>
            <a:ext cx="48260" cy="48260"/>
          </a:xfrm>
          <a:prstGeom prst="ellipse">
            <a:avLst/>
          </a:prstGeom>
          <a:solidFill>
            <a:srgbClr val="2F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7" name="Oval 816"/>
          <p:cNvSpPr/>
          <p:nvPr/>
        </p:nvSpPr>
        <p:spPr>
          <a:xfrm>
            <a:off x="13683824" y="8701229"/>
            <a:ext cx="48260" cy="48260"/>
          </a:xfrm>
          <a:prstGeom prst="ellipse">
            <a:avLst/>
          </a:prstGeom>
          <a:solidFill>
            <a:srgbClr val="2F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8" name="Oval 817"/>
          <p:cNvSpPr/>
          <p:nvPr/>
        </p:nvSpPr>
        <p:spPr>
          <a:xfrm>
            <a:off x="14031974" y="8209935"/>
            <a:ext cx="48260" cy="48260"/>
          </a:xfrm>
          <a:prstGeom prst="ellipse">
            <a:avLst/>
          </a:prstGeom>
          <a:solidFill>
            <a:srgbClr val="2F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9" name="Oval 818"/>
          <p:cNvSpPr/>
          <p:nvPr/>
        </p:nvSpPr>
        <p:spPr>
          <a:xfrm>
            <a:off x="14398618" y="8415077"/>
            <a:ext cx="48260" cy="48260"/>
          </a:xfrm>
          <a:prstGeom prst="ellipse">
            <a:avLst/>
          </a:prstGeom>
          <a:solidFill>
            <a:srgbClr val="2F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0" name="Oval 819"/>
          <p:cNvSpPr/>
          <p:nvPr/>
        </p:nvSpPr>
        <p:spPr>
          <a:xfrm>
            <a:off x="14397823" y="8209921"/>
            <a:ext cx="48260" cy="48260"/>
          </a:xfrm>
          <a:prstGeom prst="ellipse">
            <a:avLst/>
          </a:prstGeom>
          <a:solidFill>
            <a:srgbClr val="2F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1" name="Oval 820"/>
          <p:cNvSpPr/>
          <p:nvPr/>
        </p:nvSpPr>
        <p:spPr>
          <a:xfrm>
            <a:off x="14294046" y="8315273"/>
            <a:ext cx="48260" cy="48260"/>
          </a:xfrm>
          <a:prstGeom prst="ellipse">
            <a:avLst/>
          </a:prstGeom>
          <a:solidFill>
            <a:srgbClr val="2F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2" name="Oval 821"/>
          <p:cNvSpPr/>
          <p:nvPr/>
        </p:nvSpPr>
        <p:spPr>
          <a:xfrm>
            <a:off x="14164226" y="7989909"/>
            <a:ext cx="48260" cy="48260"/>
          </a:xfrm>
          <a:prstGeom prst="ellipse">
            <a:avLst/>
          </a:prstGeom>
          <a:solidFill>
            <a:srgbClr val="2F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3" name="Oval 822"/>
          <p:cNvSpPr/>
          <p:nvPr/>
        </p:nvSpPr>
        <p:spPr>
          <a:xfrm>
            <a:off x="14081013" y="8235705"/>
            <a:ext cx="48260" cy="48260"/>
          </a:xfrm>
          <a:prstGeom prst="ellipse">
            <a:avLst/>
          </a:prstGeom>
          <a:solidFill>
            <a:srgbClr val="2F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4" name="Oval 823"/>
          <p:cNvSpPr/>
          <p:nvPr/>
        </p:nvSpPr>
        <p:spPr>
          <a:xfrm>
            <a:off x="14323212" y="8015466"/>
            <a:ext cx="48260" cy="48260"/>
          </a:xfrm>
          <a:prstGeom prst="ellipse">
            <a:avLst/>
          </a:prstGeom>
          <a:solidFill>
            <a:srgbClr val="2F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5" name="Oval 824"/>
          <p:cNvSpPr/>
          <p:nvPr/>
        </p:nvSpPr>
        <p:spPr>
          <a:xfrm>
            <a:off x="14096582" y="7997294"/>
            <a:ext cx="48260" cy="48260"/>
          </a:xfrm>
          <a:prstGeom prst="ellipse">
            <a:avLst/>
          </a:prstGeom>
          <a:solidFill>
            <a:srgbClr val="2F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6" name="Freeform 825"/>
          <p:cNvSpPr/>
          <p:nvPr/>
        </p:nvSpPr>
        <p:spPr>
          <a:xfrm>
            <a:off x="13487400" y="7518400"/>
            <a:ext cx="1333500" cy="1308100"/>
          </a:xfrm>
          <a:custGeom>
            <a:avLst/>
            <a:gdLst/>
            <a:ahLst/>
            <a:cxnLst/>
            <a:rect l="l" t="t" r="r" b="b"/>
            <a:pathLst>
              <a:path w="105" h="103">
                <a:moveTo>
                  <a:pt x="0" y="103"/>
                </a:moveTo>
                <a:lnTo>
                  <a:pt x="105" y="0"/>
                </a:lnTo>
              </a:path>
            </a:pathLst>
          </a:custGeom>
          <a:noFill/>
          <a:ln w="17780">
            <a:solidFill>
              <a:srgbClr val="1D5E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7" name="TextBox 826"/>
          <p:cNvSpPr txBox="1"/>
          <p:nvPr/>
        </p:nvSpPr>
        <p:spPr>
          <a:xfrm>
            <a:off x="14224000" y="8699500"/>
            <a:ext cx="685800" cy="3810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ctr"/>
            <a:r>
              <a:rPr sz="1062" b="0" i="0">
                <a:solidFill>
                  <a:srgbClr val="111111"/>
                </a:solidFill>
                <a:latin typeface="Arial"/>
              </a:rPr>
              <a:t>r = 0.59</a:t>
            </a:r>
          </a:p>
          <a:p>
            <a:pPr algn="ctr"/>
            <a:r>
              <a:rPr sz="1062" b="0" i="0">
                <a:solidFill>
                  <a:srgbClr val="111111"/>
                </a:solidFill>
                <a:latin typeface="Arial"/>
              </a:rPr>
              <a:t/>
            </a:r>
          </a:p>
        </p:txBody>
      </p:sp>
      <p:sp>
        <p:nvSpPr>
          <p:cNvPr id="828" name="Rounded Rectangle 827"/>
          <p:cNvSpPr/>
          <p:nvPr/>
        </p:nvSpPr>
        <p:spPr>
          <a:xfrm>
            <a:off x="12687300" y="9931400"/>
            <a:ext cx="2324100" cy="622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D5EB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9" name="TextBox 828"/>
          <p:cNvSpPr txBox="1"/>
          <p:nvPr/>
        </p:nvSpPr>
        <p:spPr>
          <a:xfrm>
            <a:off x="12674600" y="10058400"/>
            <a:ext cx="2349500" cy="4064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ctr"/>
            <a:r>
              <a:rPr sz="906" b="1" i="0">
                <a:solidFill>
                  <a:srgbClr val="062B68"/>
                </a:solidFill>
                <a:latin typeface="Arial"/>
              </a:rPr>
              <a:t>Attention lag tracks</a:t>
            </a:r>
          </a:p>
          <a:p>
            <a:pPr algn="ctr"/>
            <a:r>
              <a:rPr sz="906" b="1" i="0">
                <a:solidFill>
                  <a:srgbClr val="062B68"/>
                </a:solidFill>
                <a:latin typeface="Arial"/>
              </a:rPr>
              <a:t>apparent pulse timing</a:t>
            </a:r>
          </a:p>
        </p:txBody>
      </p:sp>
      <p:sp>
        <p:nvSpPr>
          <p:cNvPr id="830" name="Rounded Rectangle 829"/>
          <p:cNvSpPr/>
          <p:nvPr/>
        </p:nvSpPr>
        <p:spPr>
          <a:xfrm>
            <a:off x="15214600" y="6553200"/>
            <a:ext cx="2692400" cy="4229100"/>
          </a:xfrm>
          <a:prstGeom prst="roundRect">
            <a:avLst>
              <a:gd name="adj" fmla="val 8000"/>
            </a:avLst>
          </a:prstGeom>
          <a:solidFill>
            <a:srgbClr val="F8FBFF"/>
          </a:solidFill>
          <a:ln w="12700">
            <a:solidFill>
              <a:srgbClr val="A7B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1" name="Rectangle 830"/>
          <p:cNvSpPr/>
          <p:nvPr/>
        </p:nvSpPr>
        <p:spPr>
          <a:xfrm>
            <a:off x="15214600" y="6553200"/>
            <a:ext cx="2692400" cy="355600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2" name="TextBox 831"/>
          <p:cNvSpPr txBox="1"/>
          <p:nvPr/>
        </p:nvSpPr>
        <p:spPr>
          <a:xfrm>
            <a:off x="15252700" y="6591300"/>
            <a:ext cx="2616200" cy="2540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Arial"/>
              </a:rPr>
              <a:t>5. SQI-Stratified Performance</a:t>
            </a:r>
          </a:p>
        </p:txBody>
      </p:sp>
      <p:cxnSp>
        <p:nvCxnSpPr>
          <p:cNvPr id="833" name="Connector 832"/>
          <p:cNvCxnSpPr/>
          <p:nvPr/>
        </p:nvCxnSpPr>
        <p:spPr>
          <a:xfrm>
            <a:off x="15633700" y="9194800"/>
            <a:ext cx="2082800" cy="0"/>
          </a:xfrm>
          <a:prstGeom prst="line">
            <a:avLst/>
          </a:prstGeom>
          <a:ln w="11430">
            <a:solidFill>
              <a:srgbClr val="5D64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4" name="Connector 833"/>
          <p:cNvCxnSpPr/>
          <p:nvPr/>
        </p:nvCxnSpPr>
        <p:spPr>
          <a:xfrm>
            <a:off x="15633700" y="7518400"/>
            <a:ext cx="0" cy="1676400"/>
          </a:xfrm>
          <a:prstGeom prst="line">
            <a:avLst/>
          </a:prstGeom>
          <a:ln w="11430">
            <a:solidFill>
              <a:srgbClr val="5D64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5" name="TextBox 834"/>
          <p:cNvSpPr txBox="1"/>
          <p:nvPr/>
        </p:nvSpPr>
        <p:spPr>
          <a:xfrm>
            <a:off x="15481300" y="7112000"/>
            <a:ext cx="1257300" cy="2159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l"/>
            <a:r>
              <a:rPr sz="912" b="0" i="0">
                <a:solidFill>
                  <a:srgbClr val="111111"/>
                </a:solidFill>
                <a:latin typeface="Arial"/>
              </a:rPr>
              <a:t>SBP MAE (mmHg)</a:t>
            </a:r>
          </a:p>
        </p:txBody>
      </p:sp>
      <p:cxnSp>
        <p:nvCxnSpPr>
          <p:cNvPr id="836" name="Connector 835"/>
          <p:cNvCxnSpPr/>
          <p:nvPr/>
        </p:nvCxnSpPr>
        <p:spPr>
          <a:xfrm>
            <a:off x="15913100" y="7366000"/>
            <a:ext cx="165100" cy="0"/>
          </a:xfrm>
          <a:prstGeom prst="line">
            <a:avLst/>
          </a:prstGeom>
          <a:ln w="19050">
            <a:solidFill>
              <a:srgbClr val="1D5E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7" name="Oval 836"/>
          <p:cNvSpPr/>
          <p:nvPr/>
        </p:nvSpPr>
        <p:spPr>
          <a:xfrm>
            <a:off x="15976600" y="7327900"/>
            <a:ext cx="63500" cy="63500"/>
          </a:xfrm>
          <a:prstGeom prst="ellipse">
            <a:avLst/>
          </a:prstGeom>
          <a:solidFill>
            <a:srgbClr val="1D5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8" name="TextBox 837"/>
          <p:cNvSpPr txBox="1"/>
          <p:nvPr/>
        </p:nvSpPr>
        <p:spPr>
          <a:xfrm>
            <a:off x="16141700" y="7289800"/>
            <a:ext cx="889000" cy="2286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l"/>
            <a:r>
              <a:rPr sz="843" b="0" i="0">
                <a:solidFill>
                  <a:srgbClr val="111111"/>
                </a:solidFill>
                <a:latin typeface="Arial"/>
              </a:rPr>
              <a:t>Baseline</a:t>
            </a:r>
          </a:p>
        </p:txBody>
      </p:sp>
      <p:cxnSp>
        <p:nvCxnSpPr>
          <p:cNvPr id="839" name="Connector 838"/>
          <p:cNvCxnSpPr/>
          <p:nvPr/>
        </p:nvCxnSpPr>
        <p:spPr>
          <a:xfrm>
            <a:off x="15913100" y="7708900"/>
            <a:ext cx="165100" cy="0"/>
          </a:xfrm>
          <a:prstGeom prst="line">
            <a:avLst/>
          </a:prstGeom>
          <a:ln w="19050">
            <a:solidFill>
              <a:srgbClr val="E821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0" name="Oval 839"/>
          <p:cNvSpPr/>
          <p:nvPr/>
        </p:nvSpPr>
        <p:spPr>
          <a:xfrm>
            <a:off x="15976600" y="7670800"/>
            <a:ext cx="63500" cy="63500"/>
          </a:xfrm>
          <a:prstGeom prst="ellipse">
            <a:avLst/>
          </a:prstGeom>
          <a:solidFill>
            <a:srgbClr val="E82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1" name="TextBox 840"/>
          <p:cNvSpPr txBox="1"/>
          <p:nvPr/>
        </p:nvSpPr>
        <p:spPr>
          <a:xfrm>
            <a:off x="16141700" y="7594600"/>
            <a:ext cx="762000" cy="1905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l"/>
            <a:r>
              <a:rPr sz="843" b="0" i="0">
                <a:solidFill>
                  <a:srgbClr val="111111"/>
                </a:solidFill>
                <a:latin typeface="Arial"/>
              </a:rPr>
              <a:t>PhysioCAT</a:t>
            </a:r>
          </a:p>
        </p:txBody>
      </p:sp>
      <p:sp>
        <p:nvSpPr>
          <p:cNvPr id="842" name="Rectangle 841"/>
          <p:cNvSpPr/>
          <p:nvPr/>
        </p:nvSpPr>
        <p:spPr>
          <a:xfrm>
            <a:off x="15925800" y="8062032"/>
            <a:ext cx="177800" cy="1132767"/>
          </a:xfrm>
          <a:prstGeom prst="rect">
            <a:avLst/>
          </a:prstGeom>
          <a:solidFill>
            <a:srgbClr val="1D5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3" name="TextBox 842"/>
          <p:cNvSpPr txBox="1"/>
          <p:nvPr/>
        </p:nvSpPr>
        <p:spPr>
          <a:xfrm>
            <a:off x="15875000" y="7858832"/>
            <a:ext cx="304800" cy="1524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ctr"/>
            <a:r>
              <a:rPr sz="850" b="0" i="0">
                <a:solidFill>
                  <a:srgbClr val="111111"/>
                </a:solidFill>
                <a:latin typeface="Arial"/>
              </a:rPr>
              <a:t>4.78</a:t>
            </a:r>
          </a:p>
        </p:txBody>
      </p:sp>
      <p:sp>
        <p:nvSpPr>
          <p:cNvPr id="844" name="Rectangle 843"/>
          <p:cNvSpPr/>
          <p:nvPr/>
        </p:nvSpPr>
        <p:spPr>
          <a:xfrm>
            <a:off x="16154400" y="8306308"/>
            <a:ext cx="177800" cy="888492"/>
          </a:xfrm>
          <a:prstGeom prst="rect">
            <a:avLst/>
          </a:prstGeom>
          <a:solidFill>
            <a:srgbClr val="E82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5" name="TextBox 844"/>
          <p:cNvSpPr txBox="1"/>
          <p:nvPr/>
        </p:nvSpPr>
        <p:spPr>
          <a:xfrm>
            <a:off x="16103600" y="8103108"/>
            <a:ext cx="304800" cy="1524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ctr"/>
            <a:r>
              <a:rPr sz="850" b="0" i="0">
                <a:solidFill>
                  <a:srgbClr val="111111"/>
                </a:solidFill>
                <a:latin typeface="Arial"/>
              </a:rPr>
              <a:t>4.13</a:t>
            </a:r>
          </a:p>
        </p:txBody>
      </p:sp>
      <p:sp>
        <p:nvSpPr>
          <p:cNvPr id="846" name="TextBox 845"/>
          <p:cNvSpPr txBox="1"/>
          <p:nvPr/>
        </p:nvSpPr>
        <p:spPr>
          <a:xfrm>
            <a:off x="15824200" y="9283700"/>
            <a:ext cx="736600" cy="3175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ctr"/>
            <a:r>
              <a:rPr sz="806" b="0" i="0">
                <a:solidFill>
                  <a:srgbClr val="111111"/>
                </a:solidFill>
                <a:latin typeface="Arial"/>
              </a:rPr>
              <a:t>High SQI</a:t>
            </a:r>
          </a:p>
          <a:p>
            <a:pPr algn="ctr"/>
            <a:r>
              <a:rPr sz="806" b="0" i="0">
                <a:solidFill>
                  <a:srgbClr val="111111"/>
                </a:solidFill>
                <a:latin typeface="Arial"/>
              </a:rPr>
              <a:t>(≥0.85)</a:t>
            </a:r>
          </a:p>
        </p:txBody>
      </p:sp>
      <p:sp>
        <p:nvSpPr>
          <p:cNvPr id="847" name="Rectangle 846"/>
          <p:cNvSpPr/>
          <p:nvPr/>
        </p:nvSpPr>
        <p:spPr>
          <a:xfrm>
            <a:off x="16586200" y="7944684"/>
            <a:ext cx="177800" cy="1250115"/>
          </a:xfrm>
          <a:prstGeom prst="rect">
            <a:avLst/>
          </a:prstGeom>
          <a:solidFill>
            <a:srgbClr val="1D5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8" name="TextBox 847"/>
          <p:cNvSpPr txBox="1"/>
          <p:nvPr/>
        </p:nvSpPr>
        <p:spPr>
          <a:xfrm>
            <a:off x="16535400" y="7741484"/>
            <a:ext cx="304800" cy="1524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ctr"/>
            <a:r>
              <a:rPr sz="850" b="0" i="0">
                <a:solidFill>
                  <a:srgbClr val="111111"/>
                </a:solidFill>
                <a:latin typeface="Arial"/>
              </a:rPr>
              <a:t>5.01</a:t>
            </a:r>
          </a:p>
        </p:txBody>
      </p:sp>
      <p:sp>
        <p:nvSpPr>
          <p:cNvPr id="849" name="Rectangle 848"/>
          <p:cNvSpPr/>
          <p:nvPr/>
        </p:nvSpPr>
        <p:spPr>
          <a:xfrm>
            <a:off x="16814800" y="8184170"/>
            <a:ext cx="177800" cy="1010629"/>
          </a:xfrm>
          <a:prstGeom prst="rect">
            <a:avLst/>
          </a:prstGeom>
          <a:solidFill>
            <a:srgbClr val="E82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0" name="TextBox 849"/>
          <p:cNvSpPr txBox="1"/>
          <p:nvPr/>
        </p:nvSpPr>
        <p:spPr>
          <a:xfrm>
            <a:off x="16764000" y="7980970"/>
            <a:ext cx="304800" cy="1524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ctr"/>
            <a:r>
              <a:rPr sz="850" b="0" i="0">
                <a:solidFill>
                  <a:srgbClr val="111111"/>
                </a:solidFill>
                <a:latin typeface="Arial"/>
              </a:rPr>
              <a:t>4.19</a:t>
            </a:r>
          </a:p>
        </p:txBody>
      </p:sp>
      <p:sp>
        <p:nvSpPr>
          <p:cNvPr id="851" name="TextBox 850"/>
          <p:cNvSpPr txBox="1"/>
          <p:nvPr/>
        </p:nvSpPr>
        <p:spPr>
          <a:xfrm>
            <a:off x="16484600" y="9283700"/>
            <a:ext cx="736600" cy="3175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ctr"/>
            <a:r>
              <a:rPr sz="806" b="0" i="0">
                <a:solidFill>
                  <a:srgbClr val="111111"/>
                </a:solidFill>
                <a:latin typeface="Arial"/>
              </a:rPr>
              <a:t>Medium SQI</a:t>
            </a:r>
          </a:p>
          <a:p>
            <a:pPr algn="ctr"/>
            <a:r>
              <a:rPr sz="806" b="0" i="0">
                <a:solidFill>
                  <a:srgbClr val="111111"/>
                </a:solidFill>
                <a:latin typeface="Arial"/>
              </a:rPr>
              <a:t>(0.70–0.85)</a:t>
            </a:r>
          </a:p>
        </p:txBody>
      </p:sp>
      <p:sp>
        <p:nvSpPr>
          <p:cNvPr id="852" name="Rectangle 851"/>
          <p:cNvSpPr/>
          <p:nvPr/>
        </p:nvSpPr>
        <p:spPr>
          <a:xfrm>
            <a:off x="17246600" y="7745911"/>
            <a:ext cx="177800" cy="1448888"/>
          </a:xfrm>
          <a:prstGeom prst="rect">
            <a:avLst/>
          </a:prstGeom>
          <a:solidFill>
            <a:srgbClr val="1D5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3" name="TextBox 852"/>
          <p:cNvSpPr txBox="1"/>
          <p:nvPr/>
        </p:nvSpPr>
        <p:spPr>
          <a:xfrm>
            <a:off x="17195800" y="7542711"/>
            <a:ext cx="304800" cy="1524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ctr"/>
            <a:r>
              <a:rPr sz="850" b="0" i="0">
                <a:solidFill>
                  <a:srgbClr val="111111"/>
                </a:solidFill>
                <a:latin typeface="Arial"/>
              </a:rPr>
              <a:t>5.52</a:t>
            </a:r>
          </a:p>
        </p:txBody>
      </p:sp>
      <p:sp>
        <p:nvSpPr>
          <p:cNvPr id="854" name="Rectangle 853"/>
          <p:cNvSpPr/>
          <p:nvPr/>
        </p:nvSpPr>
        <p:spPr>
          <a:xfrm>
            <a:off x="17475200" y="7951869"/>
            <a:ext cx="177800" cy="1242930"/>
          </a:xfrm>
          <a:prstGeom prst="rect">
            <a:avLst/>
          </a:prstGeom>
          <a:solidFill>
            <a:srgbClr val="E82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5" name="TextBox 854"/>
          <p:cNvSpPr txBox="1"/>
          <p:nvPr/>
        </p:nvSpPr>
        <p:spPr>
          <a:xfrm>
            <a:off x="17424400" y="7748669"/>
            <a:ext cx="304800" cy="1524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ctr"/>
            <a:r>
              <a:rPr sz="850" b="0" i="0">
                <a:solidFill>
                  <a:srgbClr val="111111"/>
                </a:solidFill>
                <a:latin typeface="Arial"/>
              </a:rPr>
              <a:t>4.34</a:t>
            </a:r>
          </a:p>
        </p:txBody>
      </p:sp>
      <p:sp>
        <p:nvSpPr>
          <p:cNvPr id="856" name="TextBox 855"/>
          <p:cNvSpPr txBox="1"/>
          <p:nvPr/>
        </p:nvSpPr>
        <p:spPr>
          <a:xfrm>
            <a:off x="17145000" y="9283700"/>
            <a:ext cx="736600" cy="3175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ctr"/>
            <a:r>
              <a:rPr sz="806" b="0" i="0">
                <a:solidFill>
                  <a:srgbClr val="111111"/>
                </a:solidFill>
                <a:latin typeface="Arial"/>
              </a:rPr>
              <a:t>Low SQI</a:t>
            </a:r>
          </a:p>
          <a:p>
            <a:pPr algn="ctr"/>
            <a:r>
              <a:rPr sz="806" b="0" i="0">
                <a:solidFill>
                  <a:srgbClr val="111111"/>
                </a:solidFill>
                <a:latin typeface="Arial"/>
              </a:rPr>
              <a:t>(min SQI &lt;0.70*)</a:t>
            </a:r>
          </a:p>
        </p:txBody>
      </p:sp>
      <p:sp>
        <p:nvSpPr>
          <p:cNvPr id="857" name="Rounded Rectangle 856"/>
          <p:cNvSpPr/>
          <p:nvPr/>
        </p:nvSpPr>
        <p:spPr>
          <a:xfrm>
            <a:off x="15341600" y="9931400"/>
            <a:ext cx="2438400" cy="622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D5EB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8" name="TextBox 857"/>
          <p:cNvSpPr txBox="1"/>
          <p:nvPr/>
        </p:nvSpPr>
        <p:spPr>
          <a:xfrm>
            <a:off x="15328900" y="10058400"/>
            <a:ext cx="2463800" cy="4064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ctr"/>
            <a:r>
              <a:rPr sz="906" b="1" i="0">
                <a:solidFill>
                  <a:srgbClr val="062B68"/>
                </a:solidFill>
                <a:latin typeface="Arial"/>
              </a:rPr>
              <a:t>*Joint rule: min≥0.40; max≥0.55</a:t>
            </a:r>
          </a:p>
          <a:p>
            <a:pPr algn="ctr"/>
            <a:r>
              <a:rPr sz="906" b="1" i="0">
                <a:solidFill>
                  <a:srgbClr val="062B68"/>
                </a:solidFill>
                <a:latin typeface="Arial"/>
              </a:rPr>
              <a:t>SQI-aware fusion helps most</a:t>
            </a:r>
          </a:p>
        </p:txBody>
      </p:sp>
      <p:sp>
        <p:nvSpPr>
          <p:cNvPr id="859" name="Rounded Rectangle 858"/>
          <p:cNvSpPr/>
          <p:nvPr/>
        </p:nvSpPr>
        <p:spPr>
          <a:xfrm>
            <a:off x="17957800" y="6553200"/>
            <a:ext cx="3403600" cy="4229100"/>
          </a:xfrm>
          <a:prstGeom prst="roundRect">
            <a:avLst>
              <a:gd name="adj" fmla="val 8000"/>
            </a:avLst>
          </a:prstGeom>
          <a:solidFill>
            <a:srgbClr val="F8FBFF"/>
          </a:solidFill>
          <a:ln w="12700">
            <a:solidFill>
              <a:srgbClr val="A7B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0" name="Rectangle 859"/>
          <p:cNvSpPr/>
          <p:nvPr/>
        </p:nvSpPr>
        <p:spPr>
          <a:xfrm>
            <a:off x="17957800" y="6553200"/>
            <a:ext cx="3403600" cy="355600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1" name="TextBox 860"/>
          <p:cNvSpPr txBox="1"/>
          <p:nvPr/>
        </p:nvSpPr>
        <p:spPr>
          <a:xfrm>
            <a:off x="17995900" y="6591300"/>
            <a:ext cx="3327400" cy="2540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Arial"/>
              </a:rPr>
              <a:t>6. Subgroups &amp; Residual Offset</a:t>
            </a:r>
          </a:p>
        </p:txBody>
      </p:sp>
      <p:sp>
        <p:nvSpPr>
          <p:cNvPr id="862" name="TextBox 861"/>
          <p:cNvSpPr txBox="1"/>
          <p:nvPr/>
        </p:nvSpPr>
        <p:spPr>
          <a:xfrm>
            <a:off x="18313400" y="7175500"/>
            <a:ext cx="2692400" cy="2032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ctr"/>
            <a:r>
              <a:rPr sz="987" b="1" i="0">
                <a:solidFill>
                  <a:srgbClr val="111111"/>
                </a:solidFill>
                <a:latin typeface="Arial"/>
              </a:rPr>
              <a:t>Subgroup checks (PhysioCAT SBP/DBP MAE)</a:t>
            </a:r>
          </a:p>
        </p:txBody>
      </p:sp>
      <p:sp>
        <p:nvSpPr>
          <p:cNvPr id="863" name="Rectangle 862"/>
          <p:cNvSpPr/>
          <p:nvPr/>
        </p:nvSpPr>
        <p:spPr>
          <a:xfrm>
            <a:off x="18110200" y="7505700"/>
            <a:ext cx="3098800" cy="355600"/>
          </a:xfrm>
          <a:prstGeom prst="rect">
            <a:avLst/>
          </a:prstGeom>
          <a:solidFill>
            <a:srgbClr val="F8FBFF"/>
          </a:solidFill>
          <a:ln w="10160">
            <a:solidFill>
              <a:srgbClr val="F2B9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4" name="Freeform 863"/>
          <p:cNvSpPr/>
          <p:nvPr/>
        </p:nvSpPr>
        <p:spPr>
          <a:xfrm>
            <a:off x="18211800" y="7620000"/>
            <a:ext cx="279400" cy="101600"/>
          </a:xfrm>
          <a:custGeom>
            <a:avLst/>
            <a:gdLst/>
            <a:ahLst/>
            <a:cxnLst/>
            <a:rect l="l" t="t" r="r" b="b"/>
            <a:pathLst>
              <a:path w="22" h="8">
                <a:moveTo>
                  <a:pt x="0" y="6"/>
                </a:moveTo>
                <a:lnTo>
                  <a:pt x="2" y="6"/>
                </a:lnTo>
                <a:lnTo>
                  <a:pt x="4" y="5"/>
                </a:lnTo>
                <a:lnTo>
                  <a:pt x="5" y="6"/>
                </a:lnTo>
                <a:lnTo>
                  <a:pt x="6" y="6"/>
                </a:lnTo>
                <a:lnTo>
                  <a:pt x="7" y="6"/>
                </a:lnTo>
                <a:lnTo>
                  <a:pt x="8" y="7"/>
                </a:lnTo>
                <a:lnTo>
                  <a:pt x="9" y="0"/>
                </a:lnTo>
                <a:lnTo>
                  <a:pt x="10" y="8"/>
                </a:lnTo>
                <a:lnTo>
                  <a:pt x="11" y="6"/>
                </a:lnTo>
                <a:lnTo>
                  <a:pt x="13" y="6"/>
                </a:lnTo>
                <a:lnTo>
                  <a:pt x="15" y="5"/>
                </a:lnTo>
                <a:lnTo>
                  <a:pt x="18" y="5"/>
                </a:lnTo>
                <a:lnTo>
                  <a:pt x="21" y="6"/>
                </a:lnTo>
                <a:lnTo>
                  <a:pt x="22" y="6"/>
                </a:lnTo>
              </a:path>
            </a:pathLst>
          </a:custGeom>
          <a:noFill/>
          <a:ln w="12700">
            <a:solidFill>
              <a:srgbClr val="E821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5" name="TextBox 864"/>
          <p:cNvSpPr txBox="1"/>
          <p:nvPr/>
        </p:nvSpPr>
        <p:spPr>
          <a:xfrm>
            <a:off x="18542000" y="7556500"/>
            <a:ext cx="1460500" cy="2159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l"/>
            <a:r>
              <a:rPr sz="975" b="0" i="0">
                <a:solidFill>
                  <a:srgbClr val="111111"/>
                </a:solidFill>
                <a:latin typeface="Arial"/>
              </a:rPr>
              <a:t>Lower-BP window range</a:t>
            </a:r>
          </a:p>
        </p:txBody>
      </p:sp>
      <p:sp>
        <p:nvSpPr>
          <p:cNvPr id="866" name="TextBox 865"/>
          <p:cNvSpPr txBox="1"/>
          <p:nvPr/>
        </p:nvSpPr>
        <p:spPr>
          <a:xfrm>
            <a:off x="20370800" y="7556500"/>
            <a:ext cx="774700" cy="2159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r"/>
            <a:r>
              <a:rPr sz="975" b="1" i="0">
                <a:solidFill>
                  <a:srgbClr val="111111"/>
                </a:solidFill>
                <a:latin typeface="Arial"/>
              </a:rPr>
              <a:t>4.24 / 3.13</a:t>
            </a:r>
          </a:p>
        </p:txBody>
      </p:sp>
      <p:sp>
        <p:nvSpPr>
          <p:cNvPr id="867" name="Rectangle 866"/>
          <p:cNvSpPr/>
          <p:nvPr/>
        </p:nvSpPr>
        <p:spPr>
          <a:xfrm>
            <a:off x="18110200" y="7899400"/>
            <a:ext cx="3098800" cy="355600"/>
          </a:xfrm>
          <a:prstGeom prst="rect">
            <a:avLst/>
          </a:prstGeom>
          <a:solidFill>
            <a:srgbClr val="FDE9E9"/>
          </a:solidFill>
          <a:ln w="10160">
            <a:solidFill>
              <a:srgbClr val="F2B9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8" name="Heart 867"/>
          <p:cNvSpPr/>
          <p:nvPr/>
        </p:nvSpPr>
        <p:spPr>
          <a:xfrm>
            <a:off x="18224500" y="7975600"/>
            <a:ext cx="215900" cy="203200"/>
          </a:xfrm>
          <a:prstGeom prst="heart">
            <a:avLst/>
          </a:prstGeom>
          <a:solidFill>
            <a:srgbClr val="E82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9" name="TextBox 868"/>
          <p:cNvSpPr txBox="1"/>
          <p:nvPr/>
        </p:nvSpPr>
        <p:spPr>
          <a:xfrm>
            <a:off x="18542000" y="7950200"/>
            <a:ext cx="1460500" cy="2159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l"/>
            <a:r>
              <a:rPr sz="975" b="0" i="0">
                <a:solidFill>
                  <a:srgbClr val="111111"/>
                </a:solidFill>
                <a:latin typeface="Arial"/>
              </a:rPr>
              <a:t>Elevated-BP window range</a:t>
            </a:r>
          </a:p>
        </p:txBody>
      </p:sp>
      <p:sp>
        <p:nvSpPr>
          <p:cNvPr id="870" name="TextBox 869"/>
          <p:cNvSpPr txBox="1"/>
          <p:nvPr/>
        </p:nvSpPr>
        <p:spPr>
          <a:xfrm>
            <a:off x="20370800" y="7950200"/>
            <a:ext cx="774700" cy="2159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r"/>
            <a:r>
              <a:rPr sz="975" b="1" i="0">
                <a:solidFill>
                  <a:srgbClr val="111111"/>
                </a:solidFill>
                <a:latin typeface="Arial"/>
              </a:rPr>
              <a:t>4.30 / 3.08</a:t>
            </a:r>
          </a:p>
        </p:txBody>
      </p:sp>
      <p:sp>
        <p:nvSpPr>
          <p:cNvPr id="871" name="Rectangle 870"/>
          <p:cNvSpPr/>
          <p:nvPr/>
        </p:nvSpPr>
        <p:spPr>
          <a:xfrm>
            <a:off x="18110200" y="8293100"/>
            <a:ext cx="3098800" cy="355600"/>
          </a:xfrm>
          <a:prstGeom prst="rect">
            <a:avLst/>
          </a:prstGeom>
          <a:solidFill>
            <a:srgbClr val="FFF7F0"/>
          </a:solidFill>
          <a:ln w="10160">
            <a:solidFill>
              <a:srgbClr val="F2B9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2" name="Rectangle 871"/>
          <p:cNvSpPr/>
          <p:nvPr/>
        </p:nvSpPr>
        <p:spPr>
          <a:xfrm>
            <a:off x="18224500" y="8483600"/>
            <a:ext cx="38100" cy="101600"/>
          </a:xfrm>
          <a:prstGeom prst="rect">
            <a:avLst/>
          </a:prstGeom>
          <a:solidFill>
            <a:srgbClr val="E82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3" name="Rectangle 872"/>
          <p:cNvSpPr/>
          <p:nvPr/>
        </p:nvSpPr>
        <p:spPr>
          <a:xfrm>
            <a:off x="18275300" y="8407400"/>
            <a:ext cx="38100" cy="177800"/>
          </a:xfrm>
          <a:prstGeom prst="rect">
            <a:avLst/>
          </a:prstGeom>
          <a:solidFill>
            <a:srgbClr val="E82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4" name="Rectangle 873"/>
          <p:cNvSpPr/>
          <p:nvPr/>
        </p:nvSpPr>
        <p:spPr>
          <a:xfrm>
            <a:off x="18326100" y="8356600"/>
            <a:ext cx="38100" cy="228600"/>
          </a:xfrm>
          <a:prstGeom prst="rect">
            <a:avLst/>
          </a:prstGeom>
          <a:solidFill>
            <a:srgbClr val="E82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5" name="Rectangle 874"/>
          <p:cNvSpPr/>
          <p:nvPr/>
        </p:nvSpPr>
        <p:spPr>
          <a:xfrm>
            <a:off x="18376900" y="8305800"/>
            <a:ext cx="38100" cy="279400"/>
          </a:xfrm>
          <a:prstGeom prst="rect">
            <a:avLst/>
          </a:prstGeom>
          <a:solidFill>
            <a:srgbClr val="E82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6" name="TextBox 875"/>
          <p:cNvSpPr txBox="1"/>
          <p:nvPr/>
        </p:nvSpPr>
        <p:spPr>
          <a:xfrm>
            <a:off x="18542000" y="8343900"/>
            <a:ext cx="1460500" cy="2159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l"/>
            <a:r>
              <a:rPr sz="975" b="0" i="0">
                <a:solidFill>
                  <a:srgbClr val="111111"/>
                </a:solidFill>
                <a:latin typeface="Arial"/>
              </a:rPr>
              <a:t>Low-SQI stratum</a:t>
            </a:r>
          </a:p>
        </p:txBody>
      </p:sp>
      <p:sp>
        <p:nvSpPr>
          <p:cNvPr id="877" name="TextBox 876"/>
          <p:cNvSpPr txBox="1"/>
          <p:nvPr/>
        </p:nvSpPr>
        <p:spPr>
          <a:xfrm>
            <a:off x="20370800" y="8343900"/>
            <a:ext cx="774700" cy="2159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r"/>
            <a:r>
              <a:rPr sz="975" b="1" i="0">
                <a:solidFill>
                  <a:srgbClr val="111111"/>
                </a:solidFill>
                <a:latin typeface="Arial"/>
              </a:rPr>
              <a:t>4.34 / 3.26</a:t>
            </a:r>
          </a:p>
        </p:txBody>
      </p:sp>
      <p:sp>
        <p:nvSpPr>
          <p:cNvPr id="878" name="TextBox 877"/>
          <p:cNvSpPr txBox="1"/>
          <p:nvPr/>
        </p:nvSpPr>
        <p:spPr>
          <a:xfrm>
            <a:off x="18338800" y="8775700"/>
            <a:ext cx="2641600" cy="2286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ctr"/>
            <a:r>
              <a:rPr sz="975" b="1" i="0">
                <a:solidFill>
                  <a:srgbClr val="062B68"/>
                </a:solidFill>
                <a:latin typeface="Arial"/>
              </a:rPr>
              <a:t>MIMIC-BP residual-offset sensitivity</a:t>
            </a:r>
          </a:p>
        </p:txBody>
      </p:sp>
      <p:sp>
        <p:nvSpPr>
          <p:cNvPr id="879" name="Rectangle 878"/>
          <p:cNvSpPr/>
          <p:nvPr/>
        </p:nvSpPr>
        <p:spPr>
          <a:xfrm>
            <a:off x="18110200" y="9080500"/>
            <a:ext cx="3098800" cy="838200"/>
          </a:xfrm>
          <a:prstGeom prst="rect">
            <a:avLst/>
          </a:prstGeom>
          <a:solidFill>
            <a:srgbClr val="FFFFFF"/>
          </a:solidFill>
          <a:ln w="11430">
            <a:solidFill>
              <a:srgbClr val="B4C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0" name="Rectangle 879"/>
          <p:cNvSpPr/>
          <p:nvPr/>
        </p:nvSpPr>
        <p:spPr>
          <a:xfrm>
            <a:off x="18110200" y="9499600"/>
            <a:ext cx="3098800" cy="419100"/>
          </a:xfrm>
          <a:prstGeom prst="rect">
            <a:avLst/>
          </a:prstGeom>
          <a:solidFill>
            <a:srgbClr val="F1F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81" name="Connector 880"/>
          <p:cNvCxnSpPr/>
          <p:nvPr/>
        </p:nvCxnSpPr>
        <p:spPr>
          <a:xfrm>
            <a:off x="18110200" y="9499600"/>
            <a:ext cx="3098800" cy="0"/>
          </a:xfrm>
          <a:prstGeom prst="line">
            <a:avLst/>
          </a:prstGeom>
          <a:ln w="10160">
            <a:solidFill>
              <a:srgbClr val="B4C7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2" name="Connector 881"/>
          <p:cNvCxnSpPr/>
          <p:nvPr/>
        </p:nvCxnSpPr>
        <p:spPr>
          <a:xfrm>
            <a:off x="20294600" y="9080500"/>
            <a:ext cx="0" cy="838200"/>
          </a:xfrm>
          <a:prstGeom prst="line">
            <a:avLst/>
          </a:prstGeom>
          <a:ln w="10160">
            <a:solidFill>
              <a:srgbClr val="B4C7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3" name="Connector 882"/>
          <p:cNvCxnSpPr/>
          <p:nvPr/>
        </p:nvCxnSpPr>
        <p:spPr>
          <a:xfrm>
            <a:off x="20866100" y="9080500"/>
            <a:ext cx="0" cy="838200"/>
          </a:xfrm>
          <a:prstGeom prst="line">
            <a:avLst/>
          </a:prstGeom>
          <a:ln w="10160">
            <a:solidFill>
              <a:srgbClr val="B4C7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4" name="TextBox 883"/>
          <p:cNvSpPr txBox="1"/>
          <p:nvPr/>
        </p:nvSpPr>
        <p:spPr>
          <a:xfrm>
            <a:off x="18465800" y="9194800"/>
            <a:ext cx="1041400" cy="2032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ctr"/>
            <a:r>
              <a:rPr sz="937" b="0" i="0">
                <a:solidFill>
                  <a:srgbClr val="111111"/>
                </a:solidFill>
                <a:latin typeface="Arial"/>
              </a:rPr>
              <a:t>Zero-shot</a:t>
            </a:r>
          </a:p>
        </p:txBody>
      </p:sp>
      <p:sp>
        <p:nvSpPr>
          <p:cNvPr id="885" name="TextBox 884"/>
          <p:cNvSpPr txBox="1"/>
          <p:nvPr/>
        </p:nvSpPr>
        <p:spPr>
          <a:xfrm>
            <a:off x="20320000" y="9194800"/>
            <a:ext cx="546100" cy="2032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ctr"/>
            <a:r>
              <a:rPr sz="875" b="1" i="0">
                <a:solidFill>
                  <a:srgbClr val="062B68"/>
                </a:solidFill>
                <a:latin typeface="Arial"/>
              </a:rPr>
              <a:t>4.83 / 3.41</a:t>
            </a:r>
          </a:p>
        </p:txBody>
      </p:sp>
      <p:sp>
        <p:nvSpPr>
          <p:cNvPr id="886" name="TextBox 885"/>
          <p:cNvSpPr txBox="1"/>
          <p:nvPr/>
        </p:nvSpPr>
        <p:spPr>
          <a:xfrm>
            <a:off x="18465800" y="9613900"/>
            <a:ext cx="1041400" cy="2032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ctr"/>
            <a:r>
              <a:rPr sz="937" b="0" i="0">
                <a:solidFill>
                  <a:srgbClr val="111111"/>
                </a:solidFill>
                <a:latin typeface="Arial"/>
              </a:rPr>
              <a:t>10-shot offset</a:t>
            </a:r>
          </a:p>
        </p:txBody>
      </p:sp>
      <p:sp>
        <p:nvSpPr>
          <p:cNvPr id="887" name="TextBox 886"/>
          <p:cNvSpPr txBox="1"/>
          <p:nvPr/>
        </p:nvSpPr>
        <p:spPr>
          <a:xfrm>
            <a:off x="20320000" y="9613900"/>
            <a:ext cx="546100" cy="2032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ctr"/>
            <a:r>
              <a:rPr sz="875" b="1" i="0">
                <a:solidFill>
                  <a:srgbClr val="062B68"/>
                </a:solidFill>
                <a:latin typeface="Arial"/>
              </a:rPr>
              <a:t>4.55 / 3.25</a:t>
            </a:r>
          </a:p>
        </p:txBody>
      </p:sp>
      <p:cxnSp>
        <p:nvCxnSpPr>
          <p:cNvPr id="888" name="Connector 887"/>
          <p:cNvCxnSpPr/>
          <p:nvPr/>
        </p:nvCxnSpPr>
        <p:spPr>
          <a:xfrm>
            <a:off x="21031200" y="9588500"/>
            <a:ext cx="0" cy="152400"/>
          </a:xfrm>
          <a:prstGeom prst="line">
            <a:avLst/>
          </a:prstGeom>
          <a:ln w="20320">
            <a:solidFill>
              <a:srgbClr val="007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9" name="Freeform 888"/>
          <p:cNvSpPr/>
          <p:nvPr/>
        </p:nvSpPr>
        <p:spPr>
          <a:xfrm>
            <a:off x="20993100" y="97409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3" y="6"/>
                </a:moveTo>
                <a:lnTo>
                  <a:pt x="0" y="0"/>
                </a:lnTo>
                <a:lnTo>
                  <a:pt x="6" y="0"/>
                </a:lnTo>
                <a:close/>
              </a:path>
            </a:pathLst>
          </a:custGeom>
          <a:solidFill>
            <a:srgbClr val="007A32"/>
          </a:solidFill>
          <a:ln w="6350">
            <a:solidFill>
              <a:srgbClr val="007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0" name="Rounded Rectangle 889"/>
          <p:cNvSpPr/>
          <p:nvPr/>
        </p:nvSpPr>
        <p:spPr>
          <a:xfrm>
            <a:off x="18084800" y="9931400"/>
            <a:ext cx="3149600" cy="622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D5EB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1" name="TextBox 890"/>
          <p:cNvSpPr txBox="1"/>
          <p:nvPr/>
        </p:nvSpPr>
        <p:spPr>
          <a:xfrm>
            <a:off x="18072100" y="10058400"/>
            <a:ext cx="3175000" cy="4064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ctr"/>
            <a:r>
              <a:rPr sz="900" b="1" i="0">
                <a:solidFill>
                  <a:srgbClr val="111111"/>
                </a:solidFill>
                <a:latin typeface="Arial"/>
              </a:rPr>
              <a:t>Subgroup and offset</a:t>
            </a:r>
          </a:p>
          <a:p>
            <a:pPr algn="ctr"/>
            <a:r>
              <a:rPr sz="900" b="1" i="0">
                <a:solidFill>
                  <a:srgbClr val="111111"/>
                </a:solidFill>
                <a:latin typeface="Arial"/>
              </a:rPr>
              <a:t>sensitivity</a:t>
            </a:r>
          </a:p>
        </p:txBody>
      </p:sp>
      <p:sp>
        <p:nvSpPr>
          <p:cNvPr id="892" name="Rounded Rectangle 891"/>
          <p:cNvSpPr/>
          <p:nvPr/>
        </p:nvSpPr>
        <p:spPr>
          <a:xfrm>
            <a:off x="88900" y="11010900"/>
            <a:ext cx="21463000" cy="66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3" name="Can 892"/>
          <p:cNvSpPr/>
          <p:nvPr/>
        </p:nvSpPr>
        <p:spPr>
          <a:xfrm>
            <a:off x="762000" y="11150600"/>
            <a:ext cx="264160" cy="304800"/>
          </a:xfrm>
          <a:prstGeom prst="can">
            <a:avLst/>
          </a:prstGeom>
          <a:solidFill>
            <a:srgbClr val="F7FAFF"/>
          </a:solidFill>
          <a:ln w="16256">
            <a:solidFill>
              <a:srgbClr val="5067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4" name="Connector 893"/>
          <p:cNvCxnSpPr/>
          <p:nvPr/>
        </p:nvCxnSpPr>
        <p:spPr>
          <a:xfrm>
            <a:off x="782320" y="11252200"/>
            <a:ext cx="223520" cy="0"/>
          </a:xfrm>
          <a:prstGeom prst="line">
            <a:avLst/>
          </a:prstGeom>
          <a:ln w="9144">
            <a:solidFill>
              <a:srgbClr val="5067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5" name="Connector 894"/>
          <p:cNvCxnSpPr/>
          <p:nvPr/>
        </p:nvCxnSpPr>
        <p:spPr>
          <a:xfrm>
            <a:off x="792480" y="11353800"/>
            <a:ext cx="203200" cy="0"/>
          </a:xfrm>
          <a:prstGeom prst="line">
            <a:avLst/>
          </a:prstGeom>
          <a:ln w="9144">
            <a:solidFill>
              <a:srgbClr val="5067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6" name="TextBox 895"/>
          <p:cNvSpPr txBox="1"/>
          <p:nvPr/>
        </p:nvSpPr>
        <p:spPr>
          <a:xfrm>
            <a:off x="1168400" y="11214100"/>
            <a:ext cx="787400" cy="2286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l"/>
            <a:r>
              <a:rPr sz="1075" b="0" i="0">
                <a:solidFill>
                  <a:srgbClr val="111111"/>
                </a:solidFill>
                <a:latin typeface="Arial"/>
              </a:rPr>
              <a:t>Dataset</a:t>
            </a:r>
          </a:p>
        </p:txBody>
      </p:sp>
      <p:sp>
        <p:nvSpPr>
          <p:cNvPr id="897" name="Freeform 896"/>
          <p:cNvSpPr/>
          <p:nvPr/>
        </p:nvSpPr>
        <p:spPr>
          <a:xfrm>
            <a:off x="2133600" y="11226800"/>
            <a:ext cx="419100" cy="127000"/>
          </a:xfrm>
          <a:custGeom>
            <a:avLst/>
            <a:gdLst/>
            <a:ahLst/>
            <a:cxnLst/>
            <a:rect l="l" t="t" r="r" b="b"/>
            <a:pathLst>
              <a:path w="33" h="10">
                <a:moveTo>
                  <a:pt x="0" y="7"/>
                </a:moveTo>
                <a:lnTo>
                  <a:pt x="3" y="7"/>
                </a:lnTo>
                <a:lnTo>
                  <a:pt x="5" y="7"/>
                </a:lnTo>
                <a:lnTo>
                  <a:pt x="7" y="8"/>
                </a:lnTo>
                <a:lnTo>
                  <a:pt x="9" y="7"/>
                </a:lnTo>
                <a:lnTo>
                  <a:pt x="11" y="7"/>
                </a:lnTo>
                <a:lnTo>
                  <a:pt x="13" y="9"/>
                </a:lnTo>
                <a:lnTo>
                  <a:pt x="14" y="0"/>
                </a:lnTo>
                <a:lnTo>
                  <a:pt x="15" y="10"/>
                </a:lnTo>
                <a:lnTo>
                  <a:pt x="16" y="8"/>
                </a:lnTo>
                <a:lnTo>
                  <a:pt x="19" y="7"/>
                </a:lnTo>
                <a:lnTo>
                  <a:pt x="23" y="7"/>
                </a:lnTo>
                <a:lnTo>
                  <a:pt x="27" y="6"/>
                </a:lnTo>
                <a:lnTo>
                  <a:pt x="31" y="7"/>
                </a:lnTo>
                <a:lnTo>
                  <a:pt x="33" y="7"/>
                </a:lnTo>
              </a:path>
            </a:pathLst>
          </a:custGeom>
          <a:noFill/>
          <a:ln w="13970">
            <a:solidFill>
              <a:srgbClr val="2D6C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8" name="TextBox 897"/>
          <p:cNvSpPr txBox="1"/>
          <p:nvPr/>
        </p:nvSpPr>
        <p:spPr>
          <a:xfrm>
            <a:off x="2628900" y="11214100"/>
            <a:ext cx="444500" cy="2286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l"/>
            <a:r>
              <a:rPr sz="1075" b="1" i="0">
                <a:solidFill>
                  <a:srgbClr val="2D6CDF"/>
                </a:solidFill>
                <a:latin typeface="Arial"/>
              </a:rPr>
              <a:t>ECG</a:t>
            </a:r>
          </a:p>
        </p:txBody>
      </p:sp>
      <p:sp>
        <p:nvSpPr>
          <p:cNvPr id="899" name="Freeform 898"/>
          <p:cNvSpPr/>
          <p:nvPr/>
        </p:nvSpPr>
        <p:spPr>
          <a:xfrm>
            <a:off x="3429000" y="11252200"/>
            <a:ext cx="419100" cy="114300"/>
          </a:xfrm>
          <a:custGeom>
            <a:avLst/>
            <a:gdLst/>
            <a:ahLst/>
            <a:cxnLst/>
            <a:rect l="l" t="t" r="r" b="b"/>
            <a:pathLst>
              <a:path w="33" h="9">
                <a:moveTo>
                  <a:pt x="0" y="6"/>
                </a:moveTo>
                <a:lnTo>
                  <a:pt x="3" y="6"/>
                </a:lnTo>
                <a:lnTo>
                  <a:pt x="5" y="0"/>
                </a:lnTo>
                <a:lnTo>
                  <a:pt x="9" y="5"/>
                </a:lnTo>
                <a:lnTo>
                  <a:pt x="14" y="8"/>
                </a:lnTo>
                <a:lnTo>
                  <a:pt x="19" y="9"/>
                </a:lnTo>
                <a:lnTo>
                  <a:pt x="22" y="7"/>
                </a:lnTo>
                <a:lnTo>
                  <a:pt x="25" y="8"/>
                </a:lnTo>
                <a:lnTo>
                  <a:pt x="29" y="9"/>
                </a:lnTo>
                <a:lnTo>
                  <a:pt x="33" y="7"/>
                </a:lnTo>
              </a:path>
            </a:pathLst>
          </a:custGeom>
          <a:noFill/>
          <a:ln w="13970">
            <a:solidFill>
              <a:srgbClr val="D82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" name="TextBox 899"/>
          <p:cNvSpPr txBox="1"/>
          <p:nvPr/>
        </p:nvSpPr>
        <p:spPr>
          <a:xfrm>
            <a:off x="3924300" y="11214100"/>
            <a:ext cx="444500" cy="2286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l"/>
            <a:r>
              <a:rPr sz="1075" b="1" i="0">
                <a:solidFill>
                  <a:srgbClr val="D82020"/>
                </a:solidFill>
                <a:latin typeface="Arial"/>
              </a:rPr>
              <a:t>PPG</a:t>
            </a:r>
          </a:p>
        </p:txBody>
      </p:sp>
      <p:sp>
        <p:nvSpPr>
          <p:cNvPr id="901" name="Freeform 900"/>
          <p:cNvSpPr/>
          <p:nvPr/>
        </p:nvSpPr>
        <p:spPr>
          <a:xfrm>
            <a:off x="4711700" y="11252200"/>
            <a:ext cx="419100" cy="101600"/>
          </a:xfrm>
          <a:custGeom>
            <a:avLst/>
            <a:gdLst/>
            <a:ahLst/>
            <a:cxnLst/>
            <a:rect l="l" t="t" r="r" b="b"/>
            <a:pathLst>
              <a:path w="33" h="8">
                <a:moveTo>
                  <a:pt x="0" y="7"/>
                </a:moveTo>
                <a:lnTo>
                  <a:pt x="3" y="7"/>
                </a:lnTo>
                <a:lnTo>
                  <a:pt x="6" y="0"/>
                </a:lnTo>
                <a:lnTo>
                  <a:pt x="10" y="3"/>
                </a:lnTo>
                <a:lnTo>
                  <a:pt x="13" y="6"/>
                </a:lnTo>
                <a:lnTo>
                  <a:pt x="17" y="7"/>
                </a:lnTo>
                <a:lnTo>
                  <a:pt x="20" y="6"/>
                </a:lnTo>
                <a:lnTo>
                  <a:pt x="23" y="7"/>
                </a:lnTo>
                <a:lnTo>
                  <a:pt x="28" y="8"/>
                </a:lnTo>
                <a:lnTo>
                  <a:pt x="33" y="7"/>
                </a:lnTo>
              </a:path>
            </a:pathLst>
          </a:custGeom>
          <a:noFill/>
          <a:ln w="1270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2" name="TextBox 901"/>
          <p:cNvSpPr txBox="1"/>
          <p:nvPr/>
        </p:nvSpPr>
        <p:spPr>
          <a:xfrm>
            <a:off x="5207000" y="11214100"/>
            <a:ext cx="444500" cy="2286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l"/>
            <a:r>
              <a:rPr sz="1075" b="1" i="0">
                <a:solidFill>
                  <a:srgbClr val="222222"/>
                </a:solidFill>
                <a:latin typeface="Arial"/>
              </a:rPr>
              <a:t>BP</a:t>
            </a:r>
          </a:p>
        </p:txBody>
      </p:sp>
      <p:cxnSp>
        <p:nvCxnSpPr>
          <p:cNvPr id="903" name="Connector 902"/>
          <p:cNvCxnSpPr/>
          <p:nvPr/>
        </p:nvCxnSpPr>
        <p:spPr>
          <a:xfrm>
            <a:off x="6019800" y="11201400"/>
            <a:ext cx="0" cy="292100"/>
          </a:xfrm>
          <a:prstGeom prst="line">
            <a:avLst/>
          </a:prstGeom>
          <a:ln w="11430">
            <a:solidFill>
              <a:srgbClr val="C7CE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4" name="Oval 903"/>
          <p:cNvSpPr/>
          <p:nvPr/>
        </p:nvSpPr>
        <p:spPr>
          <a:xfrm>
            <a:off x="6770052" y="11137900"/>
            <a:ext cx="74295" cy="74295"/>
          </a:xfrm>
          <a:prstGeom prst="ellipse">
            <a:avLst/>
          </a:prstGeom>
          <a:solidFill>
            <a:srgbClr val="1D5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5" name="Rounded Rectangle 904"/>
          <p:cNvSpPr/>
          <p:nvPr/>
        </p:nvSpPr>
        <p:spPr>
          <a:xfrm>
            <a:off x="6756717" y="11208385"/>
            <a:ext cx="100964" cy="114300"/>
          </a:xfrm>
          <a:prstGeom prst="roundRect">
            <a:avLst>
              <a:gd name="adj" fmla="val 8000"/>
            </a:avLst>
          </a:prstGeom>
          <a:solidFill>
            <a:srgbClr val="1D5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06" name="Connector 905"/>
          <p:cNvCxnSpPr/>
          <p:nvPr/>
        </p:nvCxnSpPr>
        <p:spPr>
          <a:xfrm flipH="1">
            <a:off x="6736715" y="11238865"/>
            <a:ext cx="20002" cy="70485"/>
          </a:xfrm>
          <a:prstGeom prst="line">
            <a:avLst/>
          </a:prstGeom>
          <a:ln w="21907">
            <a:solidFill>
              <a:srgbClr val="1D5E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7" name="Connector 906"/>
          <p:cNvCxnSpPr/>
          <p:nvPr/>
        </p:nvCxnSpPr>
        <p:spPr>
          <a:xfrm>
            <a:off x="6857682" y="11238865"/>
            <a:ext cx="20002" cy="70485"/>
          </a:xfrm>
          <a:prstGeom prst="line">
            <a:avLst/>
          </a:prstGeom>
          <a:ln w="21907">
            <a:solidFill>
              <a:srgbClr val="1D5E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8" name="Rounded Rectangle 907"/>
          <p:cNvSpPr/>
          <p:nvPr/>
        </p:nvSpPr>
        <p:spPr>
          <a:xfrm>
            <a:off x="6769100" y="11309350"/>
            <a:ext cx="32384" cy="81914"/>
          </a:xfrm>
          <a:prstGeom prst="roundRect">
            <a:avLst>
              <a:gd name="adj" fmla="val 8000"/>
            </a:avLst>
          </a:prstGeom>
          <a:solidFill>
            <a:srgbClr val="1D5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9" name="Rounded Rectangle 908"/>
          <p:cNvSpPr/>
          <p:nvPr/>
        </p:nvSpPr>
        <p:spPr>
          <a:xfrm>
            <a:off x="6812915" y="11309350"/>
            <a:ext cx="32384" cy="81914"/>
          </a:xfrm>
          <a:prstGeom prst="roundRect">
            <a:avLst>
              <a:gd name="adj" fmla="val 8000"/>
            </a:avLst>
          </a:prstGeom>
          <a:solidFill>
            <a:srgbClr val="1D5E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0" name="TextBox 909"/>
          <p:cNvSpPr txBox="1"/>
          <p:nvPr/>
        </p:nvSpPr>
        <p:spPr>
          <a:xfrm>
            <a:off x="7010400" y="11214100"/>
            <a:ext cx="1244600" cy="2286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l"/>
            <a:r>
              <a:rPr sz="1075" b="0" i="0">
                <a:solidFill>
                  <a:srgbClr val="111111"/>
                </a:solidFill>
                <a:latin typeface="Arial"/>
              </a:rPr>
              <a:t>Training subject</a:t>
            </a:r>
          </a:p>
        </p:txBody>
      </p:sp>
      <p:sp>
        <p:nvSpPr>
          <p:cNvPr id="911" name="Oval 910"/>
          <p:cNvSpPr/>
          <p:nvPr/>
        </p:nvSpPr>
        <p:spPr>
          <a:xfrm>
            <a:off x="8738552" y="11137900"/>
            <a:ext cx="74295" cy="74295"/>
          </a:xfrm>
          <a:prstGeom prst="ellipse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2" name="Rounded Rectangle 911"/>
          <p:cNvSpPr/>
          <p:nvPr/>
        </p:nvSpPr>
        <p:spPr>
          <a:xfrm>
            <a:off x="8725217" y="11208385"/>
            <a:ext cx="100964" cy="114300"/>
          </a:xfrm>
          <a:prstGeom prst="roundRect">
            <a:avLst>
              <a:gd name="adj" fmla="val 8000"/>
            </a:avLst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13" name="Connector 912"/>
          <p:cNvCxnSpPr/>
          <p:nvPr/>
        </p:nvCxnSpPr>
        <p:spPr>
          <a:xfrm flipH="1">
            <a:off x="8705215" y="11238865"/>
            <a:ext cx="20002" cy="70485"/>
          </a:xfrm>
          <a:prstGeom prst="line">
            <a:avLst/>
          </a:prstGeom>
          <a:ln w="21907">
            <a:solidFill>
              <a:srgbClr val="F47B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4" name="Connector 913"/>
          <p:cNvCxnSpPr/>
          <p:nvPr/>
        </p:nvCxnSpPr>
        <p:spPr>
          <a:xfrm>
            <a:off x="8826182" y="11238865"/>
            <a:ext cx="20003" cy="70485"/>
          </a:xfrm>
          <a:prstGeom prst="line">
            <a:avLst/>
          </a:prstGeom>
          <a:ln w="21907">
            <a:solidFill>
              <a:srgbClr val="F47B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5" name="Rounded Rectangle 914"/>
          <p:cNvSpPr/>
          <p:nvPr/>
        </p:nvSpPr>
        <p:spPr>
          <a:xfrm>
            <a:off x="8737600" y="11309350"/>
            <a:ext cx="32384" cy="81914"/>
          </a:xfrm>
          <a:prstGeom prst="roundRect">
            <a:avLst>
              <a:gd name="adj" fmla="val 8000"/>
            </a:avLst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6" name="Rounded Rectangle 915"/>
          <p:cNvSpPr/>
          <p:nvPr/>
        </p:nvSpPr>
        <p:spPr>
          <a:xfrm>
            <a:off x="8781415" y="11309350"/>
            <a:ext cx="32384" cy="81914"/>
          </a:xfrm>
          <a:prstGeom prst="roundRect">
            <a:avLst>
              <a:gd name="adj" fmla="val 8000"/>
            </a:avLst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7" name="TextBox 916"/>
          <p:cNvSpPr txBox="1"/>
          <p:nvPr/>
        </p:nvSpPr>
        <p:spPr>
          <a:xfrm>
            <a:off x="8978900" y="11214100"/>
            <a:ext cx="1409700" cy="2286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l"/>
            <a:r>
              <a:rPr sz="1075" b="0" i="0">
                <a:solidFill>
                  <a:srgbClr val="111111"/>
                </a:solidFill>
                <a:latin typeface="Arial"/>
              </a:rPr>
              <a:t>Validation subject</a:t>
            </a:r>
          </a:p>
        </p:txBody>
      </p:sp>
      <p:sp>
        <p:nvSpPr>
          <p:cNvPr id="918" name="Oval 917"/>
          <p:cNvSpPr/>
          <p:nvPr/>
        </p:nvSpPr>
        <p:spPr>
          <a:xfrm>
            <a:off x="10935652" y="11137900"/>
            <a:ext cx="74295" cy="74295"/>
          </a:xfrm>
          <a:prstGeom prst="ellipse">
            <a:avLst/>
          </a:prstGeom>
          <a:solidFill>
            <a:srgbClr val="E82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9" name="Rounded Rectangle 918"/>
          <p:cNvSpPr/>
          <p:nvPr/>
        </p:nvSpPr>
        <p:spPr>
          <a:xfrm>
            <a:off x="10922317" y="11208385"/>
            <a:ext cx="100964" cy="114300"/>
          </a:xfrm>
          <a:prstGeom prst="roundRect">
            <a:avLst>
              <a:gd name="adj" fmla="val 8000"/>
            </a:avLst>
          </a:prstGeom>
          <a:solidFill>
            <a:srgbClr val="E82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20" name="Connector 919"/>
          <p:cNvCxnSpPr/>
          <p:nvPr/>
        </p:nvCxnSpPr>
        <p:spPr>
          <a:xfrm flipH="1">
            <a:off x="10902315" y="11238865"/>
            <a:ext cx="20002" cy="70485"/>
          </a:xfrm>
          <a:prstGeom prst="line">
            <a:avLst/>
          </a:prstGeom>
          <a:ln w="21907">
            <a:solidFill>
              <a:srgbClr val="E821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1" name="Connector 920"/>
          <p:cNvCxnSpPr/>
          <p:nvPr/>
        </p:nvCxnSpPr>
        <p:spPr>
          <a:xfrm>
            <a:off x="11023282" y="11238865"/>
            <a:ext cx="20003" cy="70485"/>
          </a:xfrm>
          <a:prstGeom prst="line">
            <a:avLst/>
          </a:prstGeom>
          <a:ln w="21907">
            <a:solidFill>
              <a:srgbClr val="E821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2" name="Rounded Rectangle 921"/>
          <p:cNvSpPr/>
          <p:nvPr/>
        </p:nvSpPr>
        <p:spPr>
          <a:xfrm>
            <a:off x="10934700" y="11309350"/>
            <a:ext cx="32384" cy="81914"/>
          </a:xfrm>
          <a:prstGeom prst="roundRect">
            <a:avLst>
              <a:gd name="adj" fmla="val 8000"/>
            </a:avLst>
          </a:prstGeom>
          <a:solidFill>
            <a:srgbClr val="E82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3" name="Rounded Rectangle 922"/>
          <p:cNvSpPr/>
          <p:nvPr/>
        </p:nvSpPr>
        <p:spPr>
          <a:xfrm>
            <a:off x="10978515" y="11309350"/>
            <a:ext cx="32384" cy="81914"/>
          </a:xfrm>
          <a:prstGeom prst="roundRect">
            <a:avLst>
              <a:gd name="adj" fmla="val 8000"/>
            </a:avLst>
          </a:prstGeom>
          <a:solidFill>
            <a:srgbClr val="E82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4" name="TextBox 923"/>
          <p:cNvSpPr txBox="1"/>
          <p:nvPr/>
        </p:nvSpPr>
        <p:spPr>
          <a:xfrm>
            <a:off x="11176000" y="11214100"/>
            <a:ext cx="1041400" cy="2286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l"/>
            <a:r>
              <a:rPr sz="1075" b="0" i="0">
                <a:solidFill>
                  <a:srgbClr val="111111"/>
                </a:solidFill>
                <a:latin typeface="Arial"/>
              </a:rPr>
              <a:t>Test subject</a:t>
            </a:r>
          </a:p>
        </p:txBody>
      </p:sp>
      <p:cxnSp>
        <p:nvCxnSpPr>
          <p:cNvPr id="925" name="Connector 924"/>
          <p:cNvCxnSpPr/>
          <p:nvPr/>
        </p:nvCxnSpPr>
        <p:spPr>
          <a:xfrm>
            <a:off x="12573000" y="11201400"/>
            <a:ext cx="0" cy="292100"/>
          </a:xfrm>
          <a:prstGeom prst="line">
            <a:avLst/>
          </a:prstGeom>
          <a:ln w="11430">
            <a:solidFill>
              <a:srgbClr val="C7CE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6" name="Oval 925"/>
          <p:cNvSpPr/>
          <p:nvPr/>
        </p:nvSpPr>
        <p:spPr>
          <a:xfrm>
            <a:off x="13042900" y="11150600"/>
            <a:ext cx="203200" cy="20320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1495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7" name="Freeform 926"/>
          <p:cNvSpPr/>
          <p:nvPr/>
        </p:nvSpPr>
        <p:spPr>
          <a:xfrm>
            <a:off x="13093700" y="11201400"/>
            <a:ext cx="114300" cy="88900"/>
          </a:xfrm>
          <a:custGeom>
            <a:avLst/>
            <a:gdLst/>
            <a:ahLst/>
            <a:cxnLst/>
            <a:rect l="l" t="t" r="r" b="b"/>
            <a:pathLst>
              <a:path w="9" h="7">
                <a:moveTo>
                  <a:pt x="0" y="4"/>
                </a:moveTo>
                <a:lnTo>
                  <a:pt x="3" y="7"/>
                </a:lnTo>
                <a:lnTo>
                  <a:pt x="9" y="0"/>
                </a:lnTo>
              </a:path>
            </a:pathLst>
          </a:custGeom>
          <a:noFill/>
          <a:ln w="20320">
            <a:solidFill>
              <a:srgbClr val="1495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8" name="TextBox 927"/>
          <p:cNvSpPr txBox="1"/>
          <p:nvPr/>
        </p:nvSpPr>
        <p:spPr>
          <a:xfrm>
            <a:off x="13335000" y="11214100"/>
            <a:ext cx="1155700" cy="2286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l"/>
            <a:r>
              <a:rPr sz="1075" b="0" i="0">
                <a:solidFill>
                  <a:srgbClr val="111111"/>
                </a:solidFill>
                <a:latin typeface="Arial"/>
              </a:rPr>
              <a:t>Pass / Include</a:t>
            </a:r>
          </a:p>
        </p:txBody>
      </p:sp>
      <p:sp>
        <p:nvSpPr>
          <p:cNvPr id="929" name="Oval 928"/>
          <p:cNvSpPr/>
          <p:nvPr/>
        </p:nvSpPr>
        <p:spPr>
          <a:xfrm>
            <a:off x="14859000" y="11150600"/>
            <a:ext cx="203200" cy="20320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E821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30" name="Connector 929"/>
          <p:cNvCxnSpPr/>
          <p:nvPr/>
        </p:nvCxnSpPr>
        <p:spPr>
          <a:xfrm>
            <a:off x="14922500" y="11214100"/>
            <a:ext cx="76200" cy="76200"/>
          </a:xfrm>
          <a:prstGeom prst="line">
            <a:avLst/>
          </a:prstGeom>
          <a:ln w="20320">
            <a:solidFill>
              <a:srgbClr val="E821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1" name="Connector 930"/>
          <p:cNvCxnSpPr/>
          <p:nvPr/>
        </p:nvCxnSpPr>
        <p:spPr>
          <a:xfrm flipH="1">
            <a:off x="14922500" y="11214100"/>
            <a:ext cx="76200" cy="76200"/>
          </a:xfrm>
          <a:prstGeom prst="line">
            <a:avLst/>
          </a:prstGeom>
          <a:ln w="20320">
            <a:solidFill>
              <a:srgbClr val="E821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2" name="TextBox 931"/>
          <p:cNvSpPr txBox="1"/>
          <p:nvPr/>
        </p:nvSpPr>
        <p:spPr>
          <a:xfrm>
            <a:off x="15151100" y="11214100"/>
            <a:ext cx="1155700" cy="2286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l"/>
            <a:r>
              <a:rPr sz="1075" b="0" i="0">
                <a:solidFill>
                  <a:srgbClr val="111111"/>
                </a:solidFill>
                <a:latin typeface="Arial"/>
              </a:rPr>
              <a:t>Fail / Exclude</a:t>
            </a:r>
          </a:p>
        </p:txBody>
      </p:sp>
      <p:sp>
        <p:nvSpPr>
          <p:cNvPr id="933" name="Rectangle 932"/>
          <p:cNvSpPr/>
          <p:nvPr/>
        </p:nvSpPr>
        <p:spPr>
          <a:xfrm>
            <a:off x="16573500" y="11150600"/>
            <a:ext cx="330200" cy="279400"/>
          </a:xfrm>
          <a:prstGeom prst="rect">
            <a:avLst/>
          </a:prstGeom>
          <a:noFill/>
          <a:ln w="12700">
            <a:solidFill>
              <a:srgbClr val="1D5EB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4" name="TextBox 933"/>
          <p:cNvSpPr txBox="1"/>
          <p:nvPr/>
        </p:nvSpPr>
        <p:spPr>
          <a:xfrm>
            <a:off x="17005300" y="11214100"/>
            <a:ext cx="1727200" cy="2286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l"/>
            <a:r>
              <a:rPr sz="1075" b="0" i="0">
                <a:solidFill>
                  <a:srgbClr val="111111"/>
                </a:solidFill>
                <a:latin typeface="Arial"/>
              </a:rPr>
              <a:t>Analysis / Evaluation</a:t>
            </a:r>
          </a:p>
        </p:txBody>
      </p:sp>
      <p:sp>
        <p:nvSpPr>
          <p:cNvPr id="935" name="Rectangle 934"/>
          <p:cNvSpPr/>
          <p:nvPr/>
        </p:nvSpPr>
        <p:spPr>
          <a:xfrm>
            <a:off x="19050000" y="11150600"/>
            <a:ext cx="330200" cy="279400"/>
          </a:xfrm>
          <a:prstGeom prst="rect">
            <a:avLst/>
          </a:prstGeom>
          <a:noFill/>
          <a:ln w="12700">
            <a:solidFill>
              <a:srgbClr val="E8212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6" name="TextBox 935"/>
          <p:cNvSpPr txBox="1"/>
          <p:nvPr/>
        </p:nvSpPr>
        <p:spPr>
          <a:xfrm>
            <a:off x="19481800" y="11214100"/>
            <a:ext cx="1270000" cy="228600"/>
          </a:xfrm>
          <a:prstGeom prst="rect">
            <a:avLst/>
          </a:prstGeom>
          <a:noFill/>
          <a:effectLst/>
        </p:spPr>
        <p:txBody>
          <a:bodyPr wrap="none" lIns="22860" rIns="22860" tIns="10160" bIns="10160" anchor="ctr">
            <a:spAutoFit/>
          </a:bodyPr>
          <a:lstStyle/>
          <a:p>
            <a:pPr algn="l"/>
            <a:r>
              <a:rPr sz="1075" b="0" i="0">
                <a:solidFill>
                  <a:srgbClr val="111111"/>
                </a:solidFill>
                <a:latin typeface="Arial"/>
              </a:rPr>
              <a:t>Quality Check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